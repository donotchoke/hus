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6"/>
  </p:notesMasterIdLst>
  <p:handoutMasterIdLst>
    <p:handoutMasterId r:id="rId27"/>
  </p:handoutMasterIdLst>
  <p:sldIdLst>
    <p:sldId id="257" r:id="rId2"/>
    <p:sldId id="265" r:id="rId3"/>
    <p:sldId id="286" r:id="rId4"/>
    <p:sldId id="277" r:id="rId5"/>
    <p:sldId id="278" r:id="rId6"/>
    <p:sldId id="287" r:id="rId7"/>
    <p:sldId id="279" r:id="rId8"/>
    <p:sldId id="288" r:id="rId9"/>
    <p:sldId id="289" r:id="rId10"/>
    <p:sldId id="280" r:id="rId11"/>
    <p:sldId id="281" r:id="rId12"/>
    <p:sldId id="282" r:id="rId13"/>
    <p:sldId id="283" r:id="rId14"/>
    <p:sldId id="284" r:id="rId15"/>
    <p:sldId id="285" r:id="rId16"/>
    <p:sldId id="261" r:id="rId17"/>
    <p:sldId id="266" r:id="rId18"/>
    <p:sldId id="270" r:id="rId19"/>
    <p:sldId id="267" r:id="rId20"/>
    <p:sldId id="271" r:id="rId21"/>
    <p:sldId id="272" r:id="rId22"/>
    <p:sldId id="273" r:id="rId23"/>
    <p:sldId id="274" r:id="rId24"/>
    <p:sldId id="26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11" d="100"/>
          <a:sy n="111" d="100"/>
        </p:scale>
        <p:origin x="159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10/4/2025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10/4/2025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10/4/2025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10/4/2025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10/4/2025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10/4/2025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10/4/2025</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10/4/2025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10/4/2025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10/4/2025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10/4/2025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10/4/2025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83" r:id="rId5"/>
    <p:sldLayoutId id="2147483676" r:id="rId6"/>
    <p:sldLayoutId id="2147483679" r:id="rId7"/>
    <p:sldLayoutId id="2147483680" r:id="rId8"/>
    <p:sldLayoutId id="2147483681" r:id="rId9"/>
    <p:sldLayoutId id="2147483682" r:id="rId10"/>
    <p:sldLayoutId id="214748367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421636"/>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Memory Efficient CL With Transformers</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676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2</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a:t>CL with PTMs</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p:txBody>
          <a:bodyPr/>
          <a:lstStyle/>
          <a:p>
            <a:r>
              <a:rPr lang="en-US" sz="2000" dirty="0">
                <a:latin typeface="Times New Roman" panose="02020603050405020304" pitchFamily="18" charset="0"/>
                <a:cs typeface="Times New Roman" panose="02020603050405020304" pitchFamily="18" charset="0"/>
              </a:rPr>
              <a:t>The real-world scenario often presents data in streaming format.</a:t>
            </a:r>
          </a:p>
          <a:p>
            <a:r>
              <a:rPr lang="en-US" sz="2000" dirty="0">
                <a:latin typeface="Times New Roman" panose="02020603050405020304" pitchFamily="18" charset="0"/>
                <a:cs typeface="Times New Roman" panose="02020603050405020304" pitchFamily="18" charset="0"/>
              </a:rPr>
              <a:t>Challenges such as privacy concern and storage limitation. </a:t>
            </a:r>
            <a:r>
              <a:rPr lang="en-US" sz="2000" dirty="0">
                <a:latin typeface="Times New Roman" panose="02020603050405020304" pitchFamily="18" charset="0"/>
                <a:cs typeface="Times New Roman" panose="02020603050405020304" pitchFamily="18" charset="0"/>
                <a:sym typeface="Wingdings" panose="05000000000000000000" pitchFamily="2" charset="2"/>
              </a:rPr>
              <a:t> A learning system that capable of continuous adaptation.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critical issue in CL is catastrophic forgetting.</a:t>
            </a:r>
          </a:p>
          <a:p>
            <a:r>
              <a:rPr lang="en-US" sz="2000" dirty="0">
                <a:latin typeface="Times New Roman" panose="02020603050405020304" pitchFamily="18" charset="0"/>
                <a:cs typeface="Times New Roman" panose="02020603050405020304" pitchFamily="18" charset="0"/>
              </a:rPr>
              <a:t>Traditionally, CL methods start with models that are “trained from scratch,” i.e., beginning with randomly initialized weights.</a:t>
            </a:r>
          </a:p>
          <a:p>
            <a:r>
              <a:rPr lang="en-US" sz="2000" dirty="0">
                <a:latin typeface="Times New Roman" panose="02020603050405020304" pitchFamily="18" charset="0"/>
                <a:cs typeface="Times New Roman" panose="02020603050405020304" pitchFamily="18" charset="0"/>
              </a:rPr>
              <a:t>Utilizing pre-trained models (PTMs), which are developed from extensive datasets and sophisticated techniques [Steiner et al., 2021], has shown great promise for CL.</a:t>
            </a:r>
          </a:p>
        </p:txBody>
      </p:sp>
      <p:pic>
        <p:nvPicPr>
          <p:cNvPr id="6" name="Picture 5">
            <a:extLst>
              <a:ext uri="{FF2B5EF4-FFF2-40B4-BE49-F238E27FC236}">
                <a16:creationId xmlns:a16="http://schemas.microsoft.com/office/drawing/2014/main" id="{81CBCFB2-ACB0-4EB7-72A9-056EC77864E9}"/>
              </a:ext>
            </a:extLst>
          </p:cNvPr>
          <p:cNvPicPr>
            <a:picLocks noChangeAspect="1"/>
          </p:cNvPicPr>
          <p:nvPr/>
        </p:nvPicPr>
        <p:blipFill>
          <a:blip r:embed="rId2"/>
          <a:stretch>
            <a:fillRect/>
          </a:stretch>
        </p:blipFill>
        <p:spPr>
          <a:xfrm>
            <a:off x="3237722" y="3595510"/>
            <a:ext cx="5328680" cy="2549130"/>
          </a:xfrm>
          <a:prstGeom prst="rect">
            <a:avLst/>
          </a:prstGeom>
        </p:spPr>
      </p:pic>
    </p:spTree>
    <p:extLst>
      <p:ext uri="{BB962C8B-B14F-4D97-AF65-F5344CB8AC3E}">
        <p14:creationId xmlns:p14="http://schemas.microsoft.com/office/powerpoint/2010/main" val="292364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B12AC-6CDB-AB15-0DB9-1565AFEBB15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268529-48F6-C818-AA62-6A65F3488F1F}"/>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840063CA-8506-536C-B21B-429113938AA1}"/>
              </a:ext>
            </a:extLst>
          </p:cNvPr>
          <p:cNvSpPr>
            <a:spLocks noGrp="1"/>
          </p:cNvSpPr>
          <p:nvPr>
            <p:ph type="title"/>
          </p:nvPr>
        </p:nvSpPr>
        <p:spPr/>
        <p:txBody>
          <a:bodyPr/>
          <a:lstStyle/>
          <a:p>
            <a:r>
              <a:rPr lang="en-US" dirty="0"/>
              <a:t>CL with PTMs</a:t>
            </a:r>
          </a:p>
        </p:txBody>
      </p:sp>
      <p:sp>
        <p:nvSpPr>
          <p:cNvPr id="4" name="Content Placeholder 3">
            <a:extLst>
              <a:ext uri="{FF2B5EF4-FFF2-40B4-BE49-F238E27FC236}">
                <a16:creationId xmlns:a16="http://schemas.microsoft.com/office/drawing/2014/main" id="{C4AB8C97-6409-B0C7-C220-D53B568AA0DF}"/>
              </a:ext>
            </a:extLst>
          </p:cNvPr>
          <p:cNvSpPr>
            <a:spLocks noGrp="1"/>
          </p:cNvSpPr>
          <p:nvPr>
            <p:ph sz="quarter" idx="13"/>
          </p:nvPr>
        </p:nvSpPr>
        <p:spPr/>
        <p:txBody>
          <a:bodyPr/>
          <a:lstStyle/>
          <a:p>
            <a:r>
              <a:rPr lang="en-US" sz="2000" dirty="0">
                <a:latin typeface="Times New Roman" panose="02020603050405020304" pitchFamily="18" charset="0"/>
                <a:cs typeface="Times New Roman" panose="02020603050405020304" pitchFamily="18" charset="0"/>
              </a:rPr>
              <a:t>Transformers show a great ability to learn complex concepts but when confronted with a sequence of different tasks they tend to “overwrite” the previously learnt concepts.</a:t>
            </a:r>
          </a:p>
          <a:p>
            <a:r>
              <a:rPr lang="en-US" sz="2000" dirty="0">
                <a:latin typeface="Times New Roman" panose="02020603050405020304" pitchFamily="18" charset="0"/>
                <a:cs typeface="Times New Roman" panose="02020603050405020304" pitchFamily="18" charset="0"/>
              </a:rPr>
              <a:t>While it has been shown that the number of additional model parameters per Adapter is significantly smaller than the number of parameters used in the pre-trained model.</a:t>
            </a:r>
          </a:p>
          <a:p>
            <a:r>
              <a:rPr lang="en-US" sz="2000" dirty="0">
                <a:latin typeface="Times New Roman" panose="02020603050405020304" pitchFamily="18" charset="0"/>
                <a:cs typeface="Times New Roman" panose="02020603050405020304" pitchFamily="18" charset="0"/>
              </a:rPr>
              <a:t>The memory consumption increases rapidly with the number of tasks.</a:t>
            </a:r>
          </a:p>
          <a:p>
            <a:pPr marL="0" indent="0">
              <a:buNone/>
            </a:pP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b="1" dirty="0">
                <a:latin typeface="Times New Roman" panose="02020603050405020304" pitchFamily="18" charset="0"/>
                <a:cs typeface="Times New Roman" panose="02020603050405020304" pitchFamily="18" charset="0"/>
                <a:sym typeface="Wingdings" panose="05000000000000000000" pitchFamily="2" charset="2"/>
              </a:rPr>
              <a:t>ADA</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1879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33306-6520-3EA4-8EB1-F357D5951EF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B019C0-40DE-28EB-98F0-0233A1F4DF25}"/>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53F8F3A7-909F-AD0B-FA6A-D3A3CE3DC534}"/>
              </a:ext>
            </a:extLst>
          </p:cNvPr>
          <p:cNvSpPr>
            <a:spLocks noGrp="1"/>
          </p:cNvSpPr>
          <p:nvPr>
            <p:ph type="title"/>
          </p:nvPr>
        </p:nvSpPr>
        <p:spPr/>
        <p:txBody>
          <a:bodyPr/>
          <a:lstStyle/>
          <a:p>
            <a:r>
              <a:rPr lang="en-US" dirty="0"/>
              <a:t>Problem Setup</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EEEF24E-C85C-8642-0862-06CD012A24FB}"/>
                  </a:ext>
                </a:extLst>
              </p:cNvPr>
              <p:cNvSpPr>
                <a:spLocks noGrp="1"/>
              </p:cNvSpPr>
              <p:nvPr>
                <p:ph sz="quarter" idx="13"/>
              </p:nvPr>
            </p:nvSpPr>
            <p:spPr/>
            <p:txBody>
              <a:bodyPr/>
              <a:lstStyle/>
              <a:p>
                <a:r>
                  <a:rPr lang="en-US" sz="2000" b="1" dirty="0">
                    <a:latin typeface="Times New Roman" panose="02020603050405020304" pitchFamily="18" charset="0"/>
                    <a:cs typeface="Times New Roman" panose="02020603050405020304" pitchFamily="18" charset="0"/>
                  </a:rPr>
                  <a:t>Problem Setup</a:t>
                </a:r>
              </a:p>
              <a:p>
                <a:pPr>
                  <a:buFontTx/>
                  <a:buChar char="-"/>
                </a:pPr>
                <a:r>
                  <a:rPr lang="en-US" sz="2000" dirty="0">
                    <a:latin typeface="Times New Roman" panose="02020603050405020304" pitchFamily="18" charset="0"/>
                    <a:cs typeface="Times New Roman" panose="02020603050405020304" pitchFamily="18" charset="0"/>
                  </a:rPr>
                  <a:t>A sequence of classification tasks {T1, … TN} are given where each task Ti contains a different set of data sample and contains c new classes with t samples for each new class.</a:t>
                </a:r>
              </a:p>
              <a:p>
                <a:pPr>
                  <a:buFontTx/>
                  <a:buChar char="-"/>
                </a:pPr>
                <a:r>
                  <a:rPr lang="en-US" sz="2000" dirty="0">
                    <a:latin typeface="Times New Roman" panose="02020603050405020304" pitchFamily="18" charset="0"/>
                    <a:cs typeface="Times New Roman" panose="02020603050405020304" pitchFamily="18" charset="0"/>
                  </a:rPr>
                  <a:t>Goal: Learn a set of parameters </a:t>
                </a:r>
                <a14:m>
                  <m:oMath xmlns:m="http://schemas.openxmlformats.org/officeDocument/2006/math">
                    <m:r>
                      <a:rPr lang="en-US" sz="2000" i="1" smtClean="0">
                        <a:latin typeface="Cambria Math" panose="02040503050406030204" pitchFamily="18" charset="0"/>
                        <a:ea typeface="Cambria Math" panose="02040503050406030204" pitchFamily="18" charset="0"/>
                        <a:cs typeface="Times New Roman" panose="02020603050405020304" pitchFamily="18" charset="0"/>
                      </a:rPr>
                      <m:t>𝜃</m:t>
                    </m:r>
                  </m:oMath>
                </a14:m>
                <a:r>
                  <a:rPr lang="en-US" sz="2000" dirty="0">
                    <a:latin typeface="Times New Roman" panose="02020603050405020304" pitchFamily="18" charset="0"/>
                    <a:cs typeface="Times New Roman" panose="02020603050405020304" pitchFamily="18" charset="0"/>
                  </a:rPr>
                  <a:t> such that </a:t>
                </a:r>
                <a14:m>
                  <m:oMath xmlns:m="http://schemas.openxmlformats.org/officeDocument/2006/math">
                    <m:f>
                      <m:fPr>
                        <m:ctrlPr>
                          <a:rPr lang="en-US" sz="2000" i="1" smtClean="0">
                            <a:latin typeface="Cambria Math" panose="02040503050406030204" pitchFamily="18" charset="0"/>
                            <a:cs typeface="Times New Roman" panose="02020603050405020304" pitchFamily="18" charset="0"/>
                          </a:rPr>
                        </m:ctrlPr>
                      </m:fPr>
                      <m:num>
                        <m:r>
                          <a:rPr lang="en-US" sz="2000" b="0" i="1" smtClean="0">
                            <a:latin typeface="Cambria Math" panose="02040503050406030204" pitchFamily="18" charset="0"/>
                            <a:cs typeface="Times New Roman" panose="02020603050405020304" pitchFamily="18" charset="0"/>
                          </a:rPr>
                          <m:t>1</m:t>
                        </m:r>
                      </m:num>
                      <m:den>
                        <m:r>
                          <a:rPr lang="en-US" sz="2000" b="0" i="1" smtClean="0">
                            <a:latin typeface="Cambria Math" panose="02040503050406030204" pitchFamily="18" charset="0"/>
                            <a:cs typeface="Times New Roman" panose="02020603050405020304" pitchFamily="18" charset="0"/>
                          </a:rPr>
                          <m:t>𝑁</m:t>
                        </m:r>
                      </m:den>
                    </m:f>
                    <m:nary>
                      <m:naryPr>
                        <m:chr m:val="∑"/>
                        <m:limLoc m:val="subSup"/>
                        <m:supHide m:val="on"/>
                        <m:ctrlPr>
                          <a:rPr lang="en-US" sz="2000" i="1" smtClean="0">
                            <a:latin typeface="Cambria Math" panose="02040503050406030204" pitchFamily="18" charset="0"/>
                            <a:cs typeface="Times New Roman" panose="02020603050405020304" pitchFamily="18" charset="0"/>
                          </a:rPr>
                        </m:ctrlPr>
                      </m:naryPr>
                      <m:sub>
                        <m:r>
                          <m:rPr>
                            <m:brk m:alnAt="9"/>
                          </m:rPr>
                          <a:rPr lang="en-US" sz="2000" b="0" i="1" smtClean="0">
                            <a:latin typeface="Cambria Math" panose="02040503050406030204" pitchFamily="18" charset="0"/>
                            <a:cs typeface="Times New Roman" panose="02020603050405020304" pitchFamily="18" charset="0"/>
                          </a:rPr>
                          <m:t>𝑖</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𝜖</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 {1,…</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𝑁</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m:t>
                        </m:r>
                      </m:sub>
                      <m:sup/>
                      <m:e>
                        <m:r>
                          <a:rPr lang="en-US" sz="2000" b="0" i="1" smtClean="0">
                            <a:latin typeface="Cambria Math" panose="02040503050406030204" pitchFamily="18" charset="0"/>
                            <a:cs typeface="Times New Roman" panose="02020603050405020304" pitchFamily="18" charset="0"/>
                          </a:rPr>
                          <m:t>𝑙𝑜𝑠𝑠</m:t>
                        </m:r>
                        <m:r>
                          <a:rPr lang="en-US" sz="2000" b="0" i="1" smtClean="0">
                            <a:latin typeface="Cambria Math" panose="02040503050406030204" pitchFamily="18" charset="0"/>
                            <a:cs typeface="Times New Roman" panose="02020603050405020304" pitchFamily="18" charset="0"/>
                          </a:rPr>
                          <m:t>(</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𝑇</m:t>
                            </m:r>
                          </m:e>
                          <m:sub>
                            <m:r>
                              <a:rPr lang="en-US" sz="2000" b="0" i="1" smtClean="0">
                                <a:latin typeface="Cambria Math" panose="02040503050406030204" pitchFamily="18" charset="0"/>
                                <a:cs typeface="Times New Roman" panose="02020603050405020304" pitchFamily="18" charset="0"/>
                              </a:rPr>
                              <m:t>𝑖</m:t>
                            </m:r>
                          </m:sub>
                        </m:sSub>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𝜃</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m:t>
                        </m:r>
                      </m:e>
                    </m:nary>
                    <m:r>
                      <a:rPr lang="en-US" sz="2000" b="0" i="1" smtClean="0">
                        <a:latin typeface="Cambria Math" panose="02040503050406030204" pitchFamily="18" charset="0"/>
                        <a:cs typeface="Times New Roman" panose="02020603050405020304" pitchFamily="18" charset="0"/>
                      </a:rPr>
                      <m:t> </m:t>
                    </m:r>
                  </m:oMath>
                </a14:m>
                <a:r>
                  <a:rPr lang="en-US" sz="2000" dirty="0">
                    <a:latin typeface="Times New Roman" panose="02020603050405020304" pitchFamily="18" charset="0"/>
                    <a:cs typeface="Times New Roman" panose="02020603050405020304" pitchFamily="18" charset="0"/>
                  </a:rPr>
                  <a:t>is minimized.</a:t>
                </a:r>
              </a:p>
              <a:p>
                <a:pPr>
                  <a:buFontTx/>
                  <a:buChar char="-"/>
                </a:pPr>
                <a:r>
                  <a:rPr lang="en-US" sz="2000" dirty="0">
                    <a:latin typeface="Times New Roman" panose="02020603050405020304" pitchFamily="18" charset="0"/>
                    <a:cs typeface="Times New Roman" panose="02020603050405020304" pitchFamily="18" charset="0"/>
                  </a:rPr>
                  <a:t>For the training of task Ti, the learner can only access the newly added examples and label names in this task.</a:t>
                </a:r>
              </a:p>
              <a:p>
                <a:pPr>
                  <a:buFontTx/>
                  <a:buChar char="-"/>
                </a:pPr>
                <a:r>
                  <a:rPr lang="en-US" sz="2000" dirty="0">
                    <a:latin typeface="Times New Roman" panose="02020603050405020304" pitchFamily="18" charset="0"/>
                    <a:cs typeface="Times New Roman" panose="02020603050405020304" pitchFamily="18" charset="0"/>
                  </a:rPr>
                  <a:t>To evaluate the learner, the test data consists of examples across all the previous tasks</a:t>
                </a:r>
              </a:p>
            </p:txBody>
          </p:sp>
        </mc:Choice>
        <mc:Fallback xmlns="">
          <p:sp>
            <p:nvSpPr>
              <p:cNvPr id="4" name="Content Placeholder 3">
                <a:extLst>
                  <a:ext uri="{FF2B5EF4-FFF2-40B4-BE49-F238E27FC236}">
                    <a16:creationId xmlns:a16="http://schemas.microsoft.com/office/drawing/2014/main" id="{0EEEF24E-C85C-8642-0862-06CD012A24FB}"/>
                  </a:ext>
                </a:extLst>
              </p:cNvPr>
              <p:cNvSpPr>
                <a:spLocks noGrp="1" noRot="1" noChangeAspect="1" noMove="1" noResize="1" noEditPoints="1" noAdjustHandles="1" noChangeArrowheads="1" noChangeShapeType="1" noTextEdit="1"/>
              </p:cNvSpPr>
              <p:nvPr>
                <p:ph sz="quarter" idx="13"/>
              </p:nvPr>
            </p:nvSpPr>
            <p:spPr>
              <a:blipFill>
                <a:blip r:embed="rId2"/>
                <a:stretch>
                  <a:fillRect l="-633" t="-1149" r="-703"/>
                </a:stretch>
              </a:blipFill>
            </p:spPr>
            <p:txBody>
              <a:bodyPr/>
              <a:lstStyle/>
              <a:p>
                <a:r>
                  <a:rPr lang="en-US">
                    <a:noFill/>
                  </a:rPr>
                  <a:t> </a:t>
                </a:r>
              </a:p>
            </p:txBody>
          </p:sp>
        </mc:Fallback>
      </mc:AlternateContent>
    </p:spTree>
    <p:extLst>
      <p:ext uri="{BB962C8B-B14F-4D97-AF65-F5344CB8AC3E}">
        <p14:creationId xmlns:p14="http://schemas.microsoft.com/office/powerpoint/2010/main" val="53315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219B3-6527-B366-6018-B66288A7FD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7E68BF-1BBD-14B4-BE6B-F46BDD4FF32D}"/>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E20C4100-21E8-5C78-660B-A2B77CCCFEE5}"/>
              </a:ext>
            </a:extLst>
          </p:cNvPr>
          <p:cNvSpPr>
            <a:spLocks noGrp="1"/>
          </p:cNvSpPr>
          <p:nvPr>
            <p:ph type="title"/>
          </p:nvPr>
        </p:nvSpPr>
        <p:spPr/>
        <p:txBody>
          <a:bodyPr/>
          <a:lstStyle/>
          <a:p>
            <a:r>
              <a:rPr lang="en-US" dirty="0"/>
              <a:t>ADA</a:t>
            </a:r>
          </a:p>
        </p:txBody>
      </p:sp>
      <p:sp>
        <p:nvSpPr>
          <p:cNvPr id="4" name="Content Placeholder 3">
            <a:extLst>
              <a:ext uri="{FF2B5EF4-FFF2-40B4-BE49-F238E27FC236}">
                <a16:creationId xmlns:a16="http://schemas.microsoft.com/office/drawing/2014/main" id="{F4C416BB-6081-0A2B-D880-F69AE2B47AE4}"/>
              </a:ext>
            </a:extLst>
          </p:cNvPr>
          <p:cNvSpPr>
            <a:spLocks noGrp="1"/>
          </p:cNvSpPr>
          <p:nvPr>
            <p:ph sz="quarter" idx="13"/>
          </p:nvPr>
        </p:nvSpPr>
        <p:spPr/>
        <p:txBody>
          <a:bodyPr/>
          <a:lstStyle/>
          <a:p>
            <a:r>
              <a:rPr lang="en-US" sz="2000" b="1" dirty="0">
                <a:latin typeface="Times New Roman" panose="02020603050405020304" pitchFamily="18" charset="0"/>
                <a:cs typeface="Times New Roman" panose="02020603050405020304" pitchFamily="18" charset="0"/>
              </a:rPr>
              <a:t>ADA</a:t>
            </a:r>
          </a:p>
          <a:p>
            <a:pPr>
              <a:buFontTx/>
              <a:buChar char="-"/>
            </a:pPr>
            <a:r>
              <a:rPr lang="en-US" sz="2000" dirty="0">
                <a:latin typeface="Times New Roman" panose="02020603050405020304" pitchFamily="18" charset="0"/>
                <a:cs typeface="Times New Roman" panose="02020603050405020304" pitchFamily="18" charset="0"/>
              </a:rPr>
              <a:t>ADA keeps a fixed amount of Adapters in memory and takes transferability of representations into account to effectively consolidate newly created Adapters with previously created ones.</a:t>
            </a:r>
          </a:p>
          <a:p>
            <a:pPr>
              <a:buFontTx/>
              <a:buChar char="-"/>
            </a:pPr>
            <a:r>
              <a:rPr lang="en-US" sz="2000" dirty="0">
                <a:latin typeface="Times New Roman" panose="02020603050405020304" pitchFamily="18" charset="0"/>
                <a:cs typeface="Times New Roman" panose="02020603050405020304" pitchFamily="18" charset="0"/>
              </a:rPr>
              <a:t>ADA works in two steps:</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It trains a new Adapter and classification head, which we refer á the new model, using the training dataset of the new task.</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It consolidates the old model with the new one.</a:t>
            </a:r>
          </a:p>
          <a:p>
            <a:pPr>
              <a:buFontTx/>
              <a:buChar char="-"/>
            </a:pPr>
            <a:r>
              <a:rPr lang="en-US" sz="2000" dirty="0">
                <a:latin typeface="Times New Roman" panose="02020603050405020304" pitchFamily="18" charset="0"/>
                <a:cs typeface="Times New Roman" panose="02020603050405020304" pitchFamily="18" charset="0"/>
              </a:rPr>
              <a:t>ADA has a fix budget for the number of Adapters K that are stored in a pool of old models.</a:t>
            </a:r>
          </a:p>
          <a:p>
            <a:pPr>
              <a:buFontTx/>
              <a:buChar char="-"/>
            </a:pPr>
            <a:r>
              <a:rPr lang="en-US" sz="2000" dirty="0">
                <a:latin typeface="Times New Roman" panose="02020603050405020304" pitchFamily="18" charset="0"/>
                <a:cs typeface="Times New Roman" panose="02020603050405020304" pitchFamily="18" charset="0"/>
              </a:rPr>
              <a:t>In the consolidation phase, the algorithm selects one of the models in the pool using scores that quantify the transferable information contained in the representations they provide.</a:t>
            </a:r>
          </a:p>
          <a:p>
            <a:pPr>
              <a:buFontTx/>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8373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12806-2F8C-3812-6B3D-70690A67C2D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E75F64-85C7-A4B4-60CC-2DD39F2D2A57}"/>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470AE349-9ECA-0753-E948-D4F2F3516FB0}"/>
              </a:ext>
            </a:extLst>
          </p:cNvPr>
          <p:cNvSpPr>
            <a:spLocks noGrp="1"/>
          </p:cNvSpPr>
          <p:nvPr>
            <p:ph type="title"/>
          </p:nvPr>
        </p:nvSpPr>
        <p:spPr/>
        <p:txBody>
          <a:bodyPr/>
          <a:lstStyle/>
          <a:p>
            <a:r>
              <a:rPr lang="en-US" dirty="0"/>
              <a:t>ADA</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FCD4E831-1A17-EC5A-1D55-9C19F7A4910D}"/>
                  </a:ext>
                </a:extLst>
              </p:cNvPr>
              <p:cNvSpPr>
                <a:spLocks noGrp="1"/>
              </p:cNvSpPr>
              <p:nvPr>
                <p:ph sz="quarter" idx="13"/>
              </p:nvPr>
            </p:nvSpPr>
            <p:spPr/>
            <p:txBody>
              <a:bodyPr/>
              <a:lstStyle/>
              <a:p>
                <a:r>
                  <a:rPr lang="en-US" sz="2000" b="1" dirty="0">
                    <a:latin typeface="Times New Roman" panose="02020603050405020304" pitchFamily="18" charset="0"/>
                    <a:cs typeface="Times New Roman" panose="02020603050405020304" pitchFamily="18" charset="0"/>
                  </a:rPr>
                  <a:t>Distillation of Adapters</a:t>
                </a:r>
              </a:p>
              <a:p>
                <a:pPr>
                  <a:buFontTx/>
                  <a:buChar char="-"/>
                </a:pPr>
                <a:r>
                  <a:rPr lang="en-US" sz="2000" dirty="0">
                    <a:latin typeface="Times New Roman" panose="02020603050405020304" pitchFamily="18" charset="0"/>
                    <a:cs typeface="Times New Roman" panose="02020603050405020304" pitchFamily="18" charset="0"/>
                  </a:rPr>
                  <a:t>For each new task, the Adapter parameters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US" sz="2000" b="0" i="1">
                            <a:latin typeface="Cambria Math" panose="02040503050406030204" pitchFamily="18" charset="0"/>
                            <a:ea typeface="Cambria Math" panose="02040503050406030204" pitchFamily="18" charset="0"/>
                            <a:cs typeface="Times New Roman" panose="02020603050405020304" pitchFamily="18" charset="0"/>
                          </a:rPr>
                          <m:t>𝛷</m:t>
                        </m:r>
                      </m:e>
                      <m:sub>
                        <m:r>
                          <a:rPr lang="en-US" sz="2000" b="0" i="1" smtClean="0">
                            <a:latin typeface="Cambria Math" panose="02040503050406030204" pitchFamily="18" charset="0"/>
                            <a:cs typeface="Times New Roman" panose="02020603050405020304" pitchFamily="18" charset="0"/>
                          </a:rPr>
                          <m:t>𝑛</m:t>
                        </m:r>
                      </m:sub>
                    </m:sSub>
                    <m:r>
                      <a:rPr lang="en-US" sz="2000" b="0" i="1" smtClean="0">
                        <a:latin typeface="Cambria Math" panose="02040503050406030204" pitchFamily="18" charset="0"/>
                        <a:cs typeface="Times New Roman" panose="02020603050405020304" pitchFamily="18" charset="0"/>
                      </a:rPr>
                      <m:t> </m:t>
                    </m:r>
                  </m:oMath>
                </a14:m>
                <a:r>
                  <a:rPr lang="en-US" sz="2000" dirty="0">
                    <a:latin typeface="Times New Roman" panose="02020603050405020304" pitchFamily="18" charset="0"/>
                    <a:cs typeface="Times New Roman" panose="02020603050405020304" pitchFamily="18" charset="0"/>
                  </a:rPr>
                  <a:t>are added to the model, while the pre-trained model parameters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Times New Roman" panose="02020603050405020304" pitchFamily="18" charset="0"/>
                      </a:rPr>
                      <m:t>𝜃</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sz="2000" dirty="0">
                    <a:latin typeface="Times New Roman" panose="02020603050405020304" pitchFamily="18" charset="0"/>
                    <a:cs typeface="Times New Roman" panose="02020603050405020304" pitchFamily="18" charset="0"/>
                  </a:rPr>
                  <a:t>are kept frozen.</a:t>
                </a:r>
              </a:p>
              <a:p>
                <a:pPr>
                  <a:buFontTx/>
                  <a:buChar char="-"/>
                </a:pPr>
                <a:r>
                  <a:rPr lang="en-US" sz="2000" dirty="0"/>
                  <a:t>Only the task-specific Adapter parameters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b="0" i="1">
                            <a:latin typeface="Cambria Math" panose="02040503050406030204" pitchFamily="18" charset="0"/>
                            <a:ea typeface="Cambria Math" panose="02040503050406030204" pitchFamily="18" charset="0"/>
                            <a:cs typeface="Times New Roman" panose="02020603050405020304" pitchFamily="18" charset="0"/>
                          </a:rPr>
                          <m:t>𝛷</m:t>
                        </m:r>
                      </m:e>
                      <m:sub>
                        <m:r>
                          <a:rPr lang="en-US" sz="2000" b="0" i="1">
                            <a:latin typeface="Cambria Math" panose="02040503050406030204" pitchFamily="18" charset="0"/>
                            <a:cs typeface="Times New Roman" panose="02020603050405020304" pitchFamily="18" charset="0"/>
                          </a:rPr>
                          <m:t>𝑛</m:t>
                        </m:r>
                      </m:sub>
                    </m:sSub>
                  </m:oMath>
                </a14:m>
                <a:r>
                  <a:rPr lang="en-US" sz="2000" dirty="0"/>
                  <a:t> and the head model parameters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 </m:t>
                    </m:r>
                  </m:oMath>
                </a14:m>
                <a:r>
                  <a:rPr lang="en-US" sz="2000" dirty="0"/>
                  <a:t>are trained for the current task.</a:t>
                </a:r>
              </a:p>
              <a:p>
                <a:pPr>
                  <a:buFontTx/>
                  <a:buChar char="-"/>
                </a:pPr>
                <a:r>
                  <a:rPr lang="en-US" sz="2000" dirty="0"/>
                  <a:t>When a prediction for a task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𝑖</m:t>
                        </m:r>
                      </m:sub>
                    </m:sSub>
                  </m:oMath>
                </a14:m>
                <a:r>
                  <a:rPr lang="en-US" sz="2000" dirty="0"/>
                  <a:t> is required, the corresponding Adapter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ea typeface="Cambria Math" panose="02040503050406030204" pitchFamily="18" charset="0"/>
                            <a:cs typeface="Times New Roman" panose="02020603050405020304" pitchFamily="18" charset="0"/>
                          </a:rPr>
                          <m:t>𝛷</m:t>
                        </m:r>
                      </m:e>
                      <m:sub>
                        <m:r>
                          <a:rPr lang="en-US" sz="2000" i="1" smtClean="0">
                            <a:latin typeface="Cambria Math" panose="02040503050406030204" pitchFamily="18" charset="0"/>
                            <a:ea typeface="Cambria Math" panose="02040503050406030204" pitchFamily="18" charset="0"/>
                            <a:cs typeface="Times New Roman" panose="02020603050405020304" pitchFamily="18" charset="0"/>
                          </a:rPr>
                          <m:t>𝛾</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m:t>
                        </m:r>
                      </m:sub>
                    </m:sSub>
                  </m:oMath>
                </a14:m>
                <a:r>
                  <a:rPr lang="en-US" sz="2000" dirty="0"/>
                  <a:t> and head model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𝑖</m:t>
                        </m:r>
                      </m:sub>
                    </m:sSub>
                  </m:oMath>
                </a14:m>
                <a:r>
                  <a:rPr lang="en-US" sz="2000" dirty="0"/>
                  <a:t> is called.</a:t>
                </a:r>
              </a:p>
              <a:p>
                <a:pPr>
                  <a:buFontTx/>
                  <a:buChar char="-"/>
                </a:pPr>
                <a:endParaRPr lang="en-US" sz="2000" b="1" dirty="0">
                  <a:latin typeface="Times New Roman" panose="02020603050405020304" pitchFamily="18" charset="0"/>
                  <a:cs typeface="Times New Roman" panose="02020603050405020304" pitchFamily="18" charset="0"/>
                </a:endParaRPr>
              </a:p>
            </p:txBody>
          </p:sp>
        </mc:Choice>
        <mc:Fallback>
          <p:sp>
            <p:nvSpPr>
              <p:cNvPr id="4" name="Content Placeholder 3">
                <a:extLst>
                  <a:ext uri="{FF2B5EF4-FFF2-40B4-BE49-F238E27FC236}">
                    <a16:creationId xmlns:a16="http://schemas.microsoft.com/office/drawing/2014/main" id="{FCD4E831-1A17-EC5A-1D55-9C19F7A4910D}"/>
                  </a:ext>
                </a:extLst>
              </p:cNvPr>
              <p:cNvSpPr>
                <a:spLocks noGrp="1" noRot="1" noChangeAspect="1" noMove="1" noResize="1" noEditPoints="1" noAdjustHandles="1" noChangeArrowheads="1" noChangeShapeType="1" noTextEdit="1"/>
              </p:cNvSpPr>
              <p:nvPr>
                <p:ph sz="quarter" idx="13"/>
              </p:nvPr>
            </p:nvSpPr>
            <p:spPr>
              <a:blipFill>
                <a:blip r:embed="rId2"/>
                <a:stretch>
                  <a:fillRect l="-774" t="-1149"/>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DFEF9778-A5CC-6865-226E-4DE27227B4A3}"/>
              </a:ext>
            </a:extLst>
          </p:cNvPr>
          <p:cNvPicPr>
            <a:picLocks noChangeAspect="1"/>
          </p:cNvPicPr>
          <p:nvPr/>
        </p:nvPicPr>
        <p:blipFill>
          <a:blip r:embed="rId3"/>
          <a:stretch>
            <a:fillRect/>
          </a:stretch>
        </p:blipFill>
        <p:spPr>
          <a:xfrm>
            <a:off x="970441" y="3492943"/>
            <a:ext cx="6925642" cy="466790"/>
          </a:xfrm>
          <a:prstGeom prst="rect">
            <a:avLst/>
          </a:prstGeom>
        </p:spPr>
      </p:pic>
    </p:spTree>
    <p:extLst>
      <p:ext uri="{BB962C8B-B14F-4D97-AF65-F5344CB8AC3E}">
        <p14:creationId xmlns:p14="http://schemas.microsoft.com/office/powerpoint/2010/main" val="922551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7C93F-4BD6-65FB-9E6E-FA390EBF85F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0E82DF-890C-776B-FF13-E2940BA9D3D7}"/>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2BDE1AC9-0AE8-AEC7-E254-774574A7E4B9}"/>
              </a:ext>
            </a:extLst>
          </p:cNvPr>
          <p:cNvSpPr>
            <a:spLocks noGrp="1"/>
          </p:cNvSpPr>
          <p:nvPr>
            <p:ph type="title"/>
          </p:nvPr>
        </p:nvSpPr>
        <p:spPr/>
        <p:txBody>
          <a:bodyPr/>
          <a:lstStyle/>
          <a:p>
            <a:r>
              <a:rPr lang="en-US" dirty="0"/>
              <a:t>ADA</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35EEB959-7824-3DA5-646D-3F3AEDCF4E89}"/>
                  </a:ext>
                </a:extLst>
              </p:cNvPr>
              <p:cNvSpPr>
                <a:spLocks noGrp="1"/>
              </p:cNvSpPr>
              <p:nvPr>
                <p:ph sz="quarter" idx="13"/>
              </p:nvPr>
            </p:nvSpPr>
            <p:spPr/>
            <p:txBody>
              <a:bodyPr/>
              <a:lstStyle/>
              <a:p>
                <a:r>
                  <a:rPr lang="en-US" sz="2000" b="1" dirty="0">
                    <a:latin typeface="Times New Roman" panose="02020603050405020304" pitchFamily="18" charset="0"/>
                    <a:cs typeface="Times New Roman" panose="02020603050405020304" pitchFamily="18" charset="0"/>
                  </a:rPr>
                  <a:t>Distillation of Adapters</a:t>
                </a:r>
              </a:p>
              <a:p>
                <a:pPr>
                  <a:buFontTx/>
                  <a:buChar char="-"/>
                </a:pPr>
                <a:r>
                  <a:rPr lang="en-US" sz="2000" dirty="0">
                    <a:latin typeface="Times New Roman" panose="02020603050405020304" pitchFamily="18" charset="0"/>
                    <a:cs typeface="Times New Roman" panose="02020603050405020304" pitchFamily="18" charset="0"/>
                  </a:rPr>
                  <a:t>Double distillation loss</a:t>
                </a:r>
              </a:p>
              <a:p>
                <a:pPr>
                  <a:buFontTx/>
                  <a:buChar char="-"/>
                </a:pPr>
                <a:r>
                  <a:rPr lang="en-US" sz="2000" dirty="0">
                    <a:latin typeface="Times New Roman" panose="02020603050405020304" pitchFamily="18" charset="0"/>
                    <a:cs typeface="Times New Roman" panose="02020603050405020304" pitchFamily="18" charset="0"/>
                  </a:rPr>
                  <a:t>The main idea is first training a separate model for the new class(es) using labeled data, and then combining the new and old models using unlabeled distillation data via a double distillation training objective.</a:t>
                </a: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𝐷</m:t>
                        </m:r>
                      </m:e>
                      <m:sub>
                        <m:r>
                          <a:rPr lang="en-US" sz="2000" b="0" i="1" dirty="0" smtClean="0">
                            <a:latin typeface="Cambria Math" panose="02040503050406030204" pitchFamily="18" charset="0"/>
                          </a:rPr>
                          <m:t>𝑑𝑖𝑠𝑡𝑖𝑙𝑙</m:t>
                        </m:r>
                      </m:sub>
                    </m:sSub>
                  </m:oMath>
                </a14:m>
                <a:r>
                  <a:rPr lang="en-US" sz="2000" dirty="0"/>
                  <a:t> denotes the unlabeled training data used for distillation, and the distillation loss is computed as the difference between the logits produced by the existing specialist models denoted by </a:t>
                </a:r>
                <a14:m>
                  <m:oMath xmlns:m="http://schemas.openxmlformats.org/officeDocument/2006/math">
                    <m:r>
                      <a:rPr lang="en-US" sz="2000" b="0" i="1" smtClean="0">
                        <a:latin typeface="Cambria Math" panose="02040503050406030204" pitchFamily="18" charset="0"/>
                      </a:rPr>
                      <m:t>𝑓</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r>
                      <m:rPr>
                        <m:sty m:val="p"/>
                      </m:rPr>
                      <a:rPr lang="el-GR" sz="2000" b="0" i="1" smtClean="0">
                        <a:latin typeface="Cambria Math" panose="02040503050406030204" pitchFamily="18" charset="0"/>
                        <a:ea typeface="Cambria Math" panose="02040503050406030204" pitchFamily="18" charset="0"/>
                      </a:rPr>
                      <m:t>Θ</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cs typeface="Times New Roman" panose="02020603050405020304" pitchFamily="18" charset="0"/>
                      </a:rPr>
                      <m:t>𝛷</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h</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2000" dirty="0">
                    <a:latin typeface="Times New Roman" panose="02020603050405020304" pitchFamily="18" charset="0"/>
                    <a:cs typeface="Times New Roman" panose="02020603050405020304" pitchFamily="18" charset="0"/>
                  </a:rPr>
                  <a:t> and the consolidated model denoted by </a:t>
                </a:r>
                <a14:m>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rPr>
                      <m:t>, </m:t>
                    </m:r>
                    <m:r>
                      <m:rPr>
                        <m:sty m:val="p"/>
                      </m:rPr>
                      <a:rPr lang="el-GR" sz="2000" i="1">
                        <a:latin typeface="Cambria Math" panose="02040503050406030204" pitchFamily="18" charset="0"/>
                        <a:ea typeface="Cambria Math" panose="02040503050406030204" pitchFamily="18" charset="0"/>
                      </a:rPr>
                      <m:t>Θ</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cs typeface="Times New Roman" panose="02020603050405020304" pitchFamily="18" charset="0"/>
                      </a:rPr>
                      <m:t>𝛷</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000" i="1">
                        <a:latin typeface="Cambria Math" panose="02040503050406030204" pitchFamily="18" charset="0"/>
                        <a:ea typeface="Cambria Math" panose="02040503050406030204" pitchFamily="18" charset="0"/>
                        <a:cs typeface="Times New Roman" panose="02020603050405020304" pitchFamily="18" charset="0"/>
                      </a:rPr>
                      <m:t>, </m:t>
                    </m:r>
                    <m:r>
                      <a:rPr lang="en-US" sz="2000" i="1">
                        <a:latin typeface="Cambria Math" panose="02040503050406030204" pitchFamily="18" charset="0"/>
                        <a:ea typeface="Cambria Math" panose="02040503050406030204" pitchFamily="18" charset="0"/>
                        <a:cs typeface="Times New Roman" panose="02020603050405020304" pitchFamily="18" charset="0"/>
                      </a:rPr>
                      <m:t>h</m:t>
                    </m:r>
                    <m:r>
                      <a:rPr lang="en-US" sz="20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000" dirty="0">
                    <a:latin typeface="Times New Roman" panose="02020603050405020304" pitchFamily="18" charset="0"/>
                    <a:cs typeface="Times New Roman" panose="02020603050405020304" pitchFamily="18" charset="0"/>
                  </a:rPr>
                  <a:t>  based on L2 Loss.</a:t>
                </a:r>
              </a:p>
              <a:p>
                <a:pPr>
                  <a:buFontTx/>
                  <a:buChar char="-"/>
                </a:pPr>
                <a:r>
                  <a:rPr lang="en-US" sz="2000" dirty="0">
                    <a:latin typeface="Times New Roman" panose="02020603050405020304" pitchFamily="18" charset="0"/>
                    <a:cs typeface="Times New Roman" panose="02020603050405020304" pitchFamily="18" charset="0"/>
                  </a:rPr>
                  <a:t>After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ea typeface="Cambria Math" panose="02040503050406030204" pitchFamily="18" charset="0"/>
                            <a:cs typeface="Times New Roman" panose="02020603050405020304" pitchFamily="18" charset="0"/>
                          </a:rPr>
                          <m:t>𝛷</m:t>
                        </m:r>
                      </m:e>
                      <m:sub>
                        <m:r>
                          <a:rPr lang="en-US" sz="2000" b="0" i="1" smtClean="0">
                            <a:latin typeface="Cambria Math" panose="02040503050406030204" pitchFamily="18" charset="0"/>
                            <a:cs typeface="Times New Roman" panose="02020603050405020304" pitchFamily="18" charset="0"/>
                          </a:rPr>
                          <m:t>𝑐</m:t>
                        </m:r>
                      </m:sub>
                    </m:sSub>
                  </m:oMath>
                </a14:m>
                <a:r>
                  <a:rPr lang="en-US" sz="2000" dirty="0">
                    <a:latin typeface="Times New Roman" panose="02020603050405020304" pitchFamily="18" charset="0"/>
                    <a:cs typeface="Times New Roman" panose="02020603050405020304" pitchFamily="18" charset="0"/>
                  </a:rPr>
                  <a:t> has been trained,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𝛷</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sz="2000" b="0" i="0" smtClean="0">
                        <a:latin typeface="Cambria Math" panose="02040503050406030204" pitchFamily="18" charset="0"/>
                        <a:ea typeface="Cambria Math" panose="02040503050406030204" pitchFamily="18" charset="0"/>
                        <a:cs typeface="Times New Roman" panose="02020603050405020304" pitchFamily="18" charset="0"/>
                      </a:rPr>
                      <m:t>is</m:t>
                    </m:r>
                  </m:oMath>
                </a14:m>
                <a:r>
                  <a:rPr lang="en-US" sz="2000" dirty="0">
                    <a:latin typeface="Times New Roman" panose="02020603050405020304" pitchFamily="18" charset="0"/>
                    <a:cs typeface="Times New Roman" panose="02020603050405020304" pitchFamily="18" charset="0"/>
                  </a:rPr>
                  <a:t> swapped with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𝛷</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sz="2000" dirty="0">
                  <a:latin typeface="Times New Roman" panose="02020603050405020304" pitchFamily="18" charset="0"/>
                  <a:cs typeface="Times New Roman" panose="02020603050405020304" pitchFamily="18" charset="0"/>
                </a:endParaRPr>
              </a:p>
            </p:txBody>
          </p:sp>
        </mc:Choice>
        <mc:Fallback>
          <p:sp>
            <p:nvSpPr>
              <p:cNvPr id="4" name="Content Placeholder 3">
                <a:extLst>
                  <a:ext uri="{FF2B5EF4-FFF2-40B4-BE49-F238E27FC236}">
                    <a16:creationId xmlns:a16="http://schemas.microsoft.com/office/drawing/2014/main" id="{35EEB959-7824-3DA5-646D-3F3AEDCF4E89}"/>
                  </a:ext>
                </a:extLst>
              </p:cNvPr>
              <p:cNvSpPr>
                <a:spLocks noGrp="1" noRot="1" noChangeAspect="1" noMove="1" noResize="1" noEditPoints="1" noAdjustHandles="1" noChangeArrowheads="1" noChangeShapeType="1" noTextEdit="1"/>
              </p:cNvSpPr>
              <p:nvPr>
                <p:ph sz="quarter" idx="13"/>
              </p:nvPr>
            </p:nvSpPr>
            <p:spPr>
              <a:blipFill>
                <a:blip r:embed="rId2"/>
                <a:stretch>
                  <a:fillRect l="-703" t="-1149" r="-133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2C5A5B3E-29F2-0F1F-CA9C-DC16421A7173}"/>
              </a:ext>
            </a:extLst>
          </p:cNvPr>
          <p:cNvPicPr>
            <a:picLocks noChangeAspect="1"/>
          </p:cNvPicPr>
          <p:nvPr/>
        </p:nvPicPr>
        <p:blipFill>
          <a:blip r:embed="rId3"/>
          <a:stretch>
            <a:fillRect/>
          </a:stretch>
        </p:blipFill>
        <p:spPr>
          <a:xfrm>
            <a:off x="1596214" y="2685054"/>
            <a:ext cx="5951572" cy="743946"/>
          </a:xfrm>
          <a:prstGeom prst="rect">
            <a:avLst/>
          </a:prstGeom>
        </p:spPr>
      </p:pic>
    </p:spTree>
    <p:extLst>
      <p:ext uri="{BB962C8B-B14F-4D97-AF65-F5344CB8AC3E}">
        <p14:creationId xmlns:p14="http://schemas.microsoft.com/office/powerpoint/2010/main" val="1717108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BF0A1-862A-3C8F-CA69-9919F081734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3147DC-A3D8-A914-C12B-88F82A18ADC1}"/>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D4B621C7-493A-AB16-F3AC-AB3C8BC1F6DB}"/>
              </a:ext>
            </a:extLst>
          </p:cNvPr>
          <p:cNvSpPr>
            <a:spLocks noGrp="1"/>
          </p:cNvSpPr>
          <p:nvPr>
            <p:ph type="title"/>
          </p:nvPr>
        </p:nvSpPr>
        <p:spPr/>
        <p:txBody>
          <a:bodyPr/>
          <a:lstStyle/>
          <a:p>
            <a:r>
              <a:rPr lang="en-US" dirty="0"/>
              <a:t>ADA</a:t>
            </a:r>
          </a:p>
        </p:txBody>
      </p:sp>
      <p:sp>
        <p:nvSpPr>
          <p:cNvPr id="4" name="Content Placeholder 3">
            <a:extLst>
              <a:ext uri="{FF2B5EF4-FFF2-40B4-BE49-F238E27FC236}">
                <a16:creationId xmlns:a16="http://schemas.microsoft.com/office/drawing/2014/main" id="{0F17FC7E-930C-0988-23FD-8F4CCD2FB28B}"/>
              </a:ext>
            </a:extLst>
          </p:cNvPr>
          <p:cNvSpPr>
            <a:spLocks noGrp="1"/>
          </p:cNvSpPr>
          <p:nvPr>
            <p:ph sz="quarter" idx="13"/>
          </p:nvPr>
        </p:nvSpPr>
        <p:spPr/>
        <p:txBody>
          <a:bodyPr/>
          <a:lstStyle/>
          <a:p>
            <a:r>
              <a:rPr lang="en-US" sz="2000" b="1" dirty="0">
                <a:latin typeface="Times New Roman" panose="02020603050405020304" pitchFamily="18" charset="0"/>
                <a:cs typeface="Times New Roman" panose="02020603050405020304" pitchFamily="18" charset="0"/>
              </a:rPr>
              <a:t>Adapter Selection for Distillation</a:t>
            </a:r>
          </a:p>
          <a:p>
            <a:pPr>
              <a:buFontTx/>
              <a:buChar char="-"/>
            </a:pPr>
            <a:r>
              <a:rPr lang="en-US" sz="2000" dirty="0">
                <a:latin typeface="Times New Roman" panose="02020603050405020304" pitchFamily="18" charset="0"/>
                <a:cs typeface="Times New Roman" panose="02020603050405020304" pitchFamily="18" charset="0"/>
              </a:rPr>
              <a:t>since a specialized head for every task is created, we can assume that when the features provided by the associated Adapter are highly informative, the updates (i.e., the gradients applied) will be small.</a:t>
            </a:r>
          </a:p>
          <a:p>
            <a:pPr>
              <a:buFontTx/>
              <a:buChar char="-"/>
            </a:pPr>
            <a:r>
              <a:rPr lang="en-US" sz="2000" dirty="0">
                <a:latin typeface="Times New Roman" panose="02020603050405020304" pitchFamily="18" charset="0"/>
                <a:cs typeface="Times New Roman" panose="02020603050405020304" pitchFamily="18" charset="0"/>
              </a:rPr>
              <a:t>At the same time, training a new head with every Adapter in the pool in order to observe which one is the most effective would increase the amount of computation required and significantly impact the usability of the method.</a:t>
            </a:r>
          </a:p>
          <a:p>
            <a:pPr>
              <a:buFont typeface="Wingdings" panose="05000000000000000000" pitchFamily="2" charset="2"/>
              <a:buChar char="à"/>
            </a:pPr>
            <a:r>
              <a:rPr lang="en-US" sz="2000" b="1" dirty="0" err="1">
                <a:latin typeface="Times New Roman" panose="02020603050405020304" pitchFamily="18" charset="0"/>
                <a:cs typeface="Times New Roman" panose="02020603050405020304" pitchFamily="18" charset="0"/>
                <a:sym typeface="Wingdings" panose="05000000000000000000" pitchFamily="2" charset="2"/>
              </a:rPr>
              <a:t>TransRate</a:t>
            </a:r>
            <a:r>
              <a:rPr lang="en-US" sz="2000" b="1" dirty="0">
                <a:latin typeface="Times New Roman" panose="02020603050405020304" pitchFamily="18" charset="0"/>
                <a:cs typeface="Times New Roman" panose="02020603050405020304" pitchFamily="18" charset="0"/>
                <a:sym typeface="Wingdings" panose="05000000000000000000" pitchFamily="2" charset="2"/>
              </a:rPr>
              <a:t> + LEEP</a:t>
            </a:r>
          </a:p>
          <a:p>
            <a:pPr>
              <a:buFontTx/>
              <a:buChar char="-"/>
            </a:pPr>
            <a:r>
              <a:rPr lang="en-US" sz="2000" dirty="0">
                <a:latin typeface="Times New Roman" panose="02020603050405020304" pitchFamily="18" charset="0"/>
                <a:cs typeface="Times New Roman" panose="02020603050405020304" pitchFamily="18" charset="0"/>
              </a:rPr>
              <a:t>employ the mutual information between the features provided by a pre-trained model and the target labels for the task at hand.</a:t>
            </a:r>
          </a:p>
          <a:p>
            <a:pPr>
              <a:buFontTx/>
              <a:buChar char="-"/>
            </a:pPr>
            <a:r>
              <a:rPr lang="en-US" sz="2000" dirty="0">
                <a:latin typeface="Times New Roman" panose="02020603050405020304" pitchFamily="18" charset="0"/>
                <a:cs typeface="Times New Roman" panose="02020603050405020304" pitchFamily="18" charset="0"/>
              </a:rPr>
              <a:t>When the mutual information is high, the transferability is high.</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0390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E20C7-3DEF-2A60-6F35-0E03EBAEE8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C9A75A-07B8-CC93-5BB0-48D34CE26330}"/>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4789B73E-EF43-1256-CF92-481BBC2C2A79}"/>
              </a:ext>
            </a:extLst>
          </p:cNvPr>
          <p:cNvSpPr>
            <a:spLocks noGrp="1"/>
          </p:cNvSpPr>
          <p:nvPr>
            <p:ph type="title"/>
          </p:nvPr>
        </p:nvSpPr>
        <p:spPr/>
        <p:txBody>
          <a:bodyPr/>
          <a:lstStyle/>
          <a:p>
            <a:r>
              <a:rPr lang="en-US" dirty="0"/>
              <a:t>ADA</a:t>
            </a:r>
          </a:p>
        </p:txBody>
      </p:sp>
      <p:sp>
        <p:nvSpPr>
          <p:cNvPr id="4" name="Content Placeholder 3">
            <a:extLst>
              <a:ext uri="{FF2B5EF4-FFF2-40B4-BE49-F238E27FC236}">
                <a16:creationId xmlns:a16="http://schemas.microsoft.com/office/drawing/2014/main" id="{4037BA08-7C8E-0C95-1311-A2577B1F63C9}"/>
              </a:ext>
            </a:extLst>
          </p:cNvPr>
          <p:cNvSpPr>
            <a:spLocks noGrp="1"/>
          </p:cNvSpPr>
          <p:nvPr>
            <p:ph sz="quarter" idx="13"/>
          </p:nvPr>
        </p:nvSpPr>
        <p:spPr/>
        <p:txBody>
          <a:bodyPr/>
          <a:lstStyle/>
          <a:p>
            <a:r>
              <a:rPr lang="en-US" sz="2000" b="1" dirty="0">
                <a:latin typeface="Times New Roman" panose="02020603050405020304" pitchFamily="18" charset="0"/>
                <a:cs typeface="Times New Roman" panose="02020603050405020304" pitchFamily="18" charset="0"/>
              </a:rPr>
              <a:t>Algorithm</a:t>
            </a:r>
          </a:p>
          <a:p>
            <a:pPr marL="0" indent="0">
              <a:buNone/>
            </a:pPr>
            <a:endParaRPr lang="en-US" sz="2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FE1235A-7B2E-F3AE-E30A-7FA75FB0B4A3}"/>
              </a:ext>
            </a:extLst>
          </p:cNvPr>
          <p:cNvPicPr>
            <a:picLocks noChangeAspect="1"/>
          </p:cNvPicPr>
          <p:nvPr/>
        </p:nvPicPr>
        <p:blipFill>
          <a:blip r:embed="rId2"/>
          <a:stretch>
            <a:fillRect/>
          </a:stretch>
        </p:blipFill>
        <p:spPr>
          <a:xfrm>
            <a:off x="2309343" y="1235203"/>
            <a:ext cx="4163006" cy="4515480"/>
          </a:xfrm>
          <a:prstGeom prst="rect">
            <a:avLst/>
          </a:prstGeom>
        </p:spPr>
      </p:pic>
    </p:spTree>
    <p:extLst>
      <p:ext uri="{BB962C8B-B14F-4D97-AF65-F5344CB8AC3E}">
        <p14:creationId xmlns:p14="http://schemas.microsoft.com/office/powerpoint/2010/main" val="1417880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D357B-B7A0-B486-30F2-7EA10531F6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625661-44CA-B139-3036-B256CCAF3DD7}"/>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F3E48E72-7EBA-CDF9-379C-5D1D97E8F17F}"/>
              </a:ext>
            </a:extLst>
          </p:cNvPr>
          <p:cNvSpPr>
            <a:spLocks noGrp="1"/>
          </p:cNvSpPr>
          <p:nvPr>
            <p:ph type="title"/>
          </p:nvPr>
        </p:nvSpPr>
        <p:spPr/>
        <p:txBody>
          <a:bodyPr/>
          <a:lstStyle/>
          <a:p>
            <a:r>
              <a:rPr lang="en-US" dirty="0"/>
              <a:t>CL with PTMs</a:t>
            </a:r>
          </a:p>
        </p:txBody>
      </p:sp>
      <p:sp>
        <p:nvSpPr>
          <p:cNvPr id="4" name="Content Placeholder 3">
            <a:extLst>
              <a:ext uri="{FF2B5EF4-FFF2-40B4-BE49-F238E27FC236}">
                <a16:creationId xmlns:a16="http://schemas.microsoft.com/office/drawing/2014/main" id="{A5E420F1-2CA3-93AE-9207-486A83FBDB7C}"/>
              </a:ext>
            </a:extLst>
          </p:cNvPr>
          <p:cNvSpPr>
            <a:spLocks noGrp="1"/>
          </p:cNvSpPr>
          <p:nvPr>
            <p:ph sz="quarter" idx="13"/>
          </p:nvPr>
        </p:nvSpPr>
        <p:spPr/>
        <p:txBody>
          <a:bodyPr/>
          <a:lstStyle/>
          <a:p>
            <a:r>
              <a:rPr lang="en-US" sz="2000" dirty="0">
                <a:latin typeface="Times New Roman" panose="02020603050405020304" pitchFamily="18" charset="0"/>
                <a:cs typeface="Times New Roman" panose="02020603050405020304" pitchFamily="18" charset="0"/>
              </a:rPr>
              <a:t>Representation-based method</a:t>
            </a:r>
          </a:p>
          <a:p>
            <a:r>
              <a:rPr lang="en-US" sz="1800" b="1" dirty="0">
                <a:latin typeface="Times New Roman" panose="02020603050405020304" pitchFamily="18" charset="0"/>
                <a:cs typeface="Times New Roman" panose="02020603050405020304" pitchFamily="18" charset="0"/>
              </a:rPr>
              <a:t>How to know if PTMs inherently poses an ability to achieve good result on downstream tasks?</a:t>
            </a:r>
          </a:p>
          <a:p>
            <a:pPr>
              <a:buFontTx/>
              <a:buChar char="-"/>
            </a:pPr>
            <a:r>
              <a:rPr lang="en-US" sz="2000" dirty="0"/>
              <a:t>it freezes the pre-trained weights and extracts the center c (i.e., prototype) of each class</a:t>
            </a:r>
            <a:endParaRPr lang="en-US" sz="2000" dirty="0">
              <a:latin typeface="Times New Roman" panose="02020603050405020304" pitchFamily="18" charset="0"/>
              <a:cs typeface="Times New Roman" panose="02020603050405020304" pitchFamily="18" charset="0"/>
            </a:endParaRP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r>
              <a:rPr lang="en-US" sz="2000" dirty="0"/>
              <a:t>the embeddings of the same class are averaged, leading to the most common pattern of the corresponding class.</a:t>
            </a:r>
          </a:p>
          <a:p>
            <a:pPr>
              <a:buFontTx/>
              <a:buChar char="-"/>
            </a:pPr>
            <a:r>
              <a:rPr lang="en-US" sz="2000" b="1" dirty="0" err="1"/>
              <a:t>SimpleCIL</a:t>
            </a:r>
            <a:r>
              <a:rPr lang="en-US" sz="2000" dirty="0"/>
              <a:t> directly replaces the classifier weight of the </a:t>
            </a:r>
            <a:r>
              <a:rPr lang="en-US" sz="2000" dirty="0" err="1"/>
              <a:t>i-th</a:t>
            </a:r>
            <a:r>
              <a:rPr lang="en-US" sz="2000" dirty="0"/>
              <a:t> class with prototype (</a:t>
            </a:r>
            <a:r>
              <a:rPr lang="en-US" sz="2000" dirty="0" err="1"/>
              <a:t>wi</a:t>
            </a:r>
            <a:r>
              <a:rPr lang="en-US" sz="2000" dirty="0"/>
              <a:t> = ci), and utilize a cosine classifier for classification</a:t>
            </a:r>
          </a:p>
          <a:p>
            <a:pPr>
              <a:buFont typeface="Wingdings" panose="05000000000000000000" pitchFamily="2" charset="2"/>
              <a:buChar char="à"/>
            </a:pPr>
            <a:r>
              <a:rPr lang="en-US" sz="2000" dirty="0"/>
              <a:t>It indicates that PTMs already possess generalizable representations, which can be directly utilized for downstream tasks</a:t>
            </a:r>
          </a:p>
          <a:p>
            <a:pPr marL="0" indent="0">
              <a:buNone/>
            </a:pPr>
            <a:endParaRPr lang="en-US" sz="2000" dirty="0"/>
          </a:p>
        </p:txBody>
      </p:sp>
      <p:pic>
        <p:nvPicPr>
          <p:cNvPr id="6" name="Picture 5">
            <a:extLst>
              <a:ext uri="{FF2B5EF4-FFF2-40B4-BE49-F238E27FC236}">
                <a16:creationId xmlns:a16="http://schemas.microsoft.com/office/drawing/2014/main" id="{3FC800E0-EADC-F33A-977C-D00D9B75440B}"/>
              </a:ext>
            </a:extLst>
          </p:cNvPr>
          <p:cNvPicPr>
            <a:picLocks noChangeAspect="1"/>
          </p:cNvPicPr>
          <p:nvPr/>
        </p:nvPicPr>
        <p:blipFill>
          <a:blip r:embed="rId2"/>
          <a:stretch>
            <a:fillRect/>
          </a:stretch>
        </p:blipFill>
        <p:spPr>
          <a:xfrm>
            <a:off x="388226" y="2514316"/>
            <a:ext cx="4711566" cy="818588"/>
          </a:xfrm>
          <a:prstGeom prst="rect">
            <a:avLst/>
          </a:prstGeom>
        </p:spPr>
      </p:pic>
    </p:spTree>
    <p:extLst>
      <p:ext uri="{BB962C8B-B14F-4D97-AF65-F5344CB8AC3E}">
        <p14:creationId xmlns:p14="http://schemas.microsoft.com/office/powerpoint/2010/main" val="3581845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5373-CC23-FE97-F903-B4B950BE36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0A6CDA-B597-3959-A84A-28CBEE5AB7B0}"/>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8757B38E-C969-BE5B-352C-FB3D4A72D624}"/>
              </a:ext>
            </a:extLst>
          </p:cNvPr>
          <p:cNvSpPr>
            <a:spLocks noGrp="1"/>
          </p:cNvSpPr>
          <p:nvPr>
            <p:ph type="title"/>
          </p:nvPr>
        </p:nvSpPr>
        <p:spPr/>
        <p:txBody>
          <a:bodyPr/>
          <a:lstStyle/>
          <a:p>
            <a:r>
              <a:rPr lang="en-US" dirty="0"/>
              <a:t>CL with PTMs</a:t>
            </a:r>
          </a:p>
        </p:txBody>
      </p:sp>
      <p:sp>
        <p:nvSpPr>
          <p:cNvPr id="4" name="Content Placeholder 3">
            <a:extLst>
              <a:ext uri="{FF2B5EF4-FFF2-40B4-BE49-F238E27FC236}">
                <a16:creationId xmlns:a16="http://schemas.microsoft.com/office/drawing/2014/main" id="{86F87FFF-21DF-8B66-44AF-3F9E068E654D}"/>
              </a:ext>
            </a:extLst>
          </p:cNvPr>
          <p:cNvSpPr>
            <a:spLocks noGrp="1"/>
          </p:cNvSpPr>
          <p:nvPr>
            <p:ph sz="quarter" idx="13"/>
          </p:nvPr>
        </p:nvSpPr>
        <p:spPr/>
        <p:txBody>
          <a:bodyPr/>
          <a:lstStyle/>
          <a:p>
            <a:r>
              <a:rPr lang="en-US" sz="2000" dirty="0">
                <a:latin typeface="Times New Roman" panose="02020603050405020304" pitchFamily="18" charset="0"/>
                <a:cs typeface="Times New Roman" panose="02020603050405020304" pitchFamily="18" charset="0"/>
              </a:rPr>
              <a:t>Representation-based method</a:t>
            </a:r>
          </a:p>
          <a:p>
            <a:r>
              <a:rPr lang="en-US" sz="2000" dirty="0">
                <a:latin typeface="Times New Roman" panose="02020603050405020304" pitchFamily="18" charset="0"/>
                <a:cs typeface="Times New Roman" panose="02020603050405020304" pitchFamily="18" charset="0"/>
              </a:rPr>
              <a:t>Concatenating Backbone</a:t>
            </a:r>
          </a:p>
          <a:p>
            <a:pPr>
              <a:buFontTx/>
              <a:buChar char="-"/>
            </a:pPr>
            <a:r>
              <a:rPr lang="en-US" sz="2000" dirty="0"/>
              <a:t>ADAM suggests finetuning the PTM with parameter-efficient modules and concatenating features of the pre-trained and adapted models</a:t>
            </a:r>
          </a:p>
          <a:p>
            <a:pPr marL="0" indent="0">
              <a:buNone/>
            </a:pPr>
            <a:endParaRPr lang="en-US" sz="2000" dirty="0">
              <a:latin typeface="Times New Roman" panose="02020603050405020304" pitchFamily="18" charset="0"/>
              <a:cs typeface="Times New Roman" panose="02020603050405020304" pitchFamily="18" charset="0"/>
            </a:endParaRP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r>
              <a:rPr lang="en-US" sz="2000" dirty="0">
                <a:latin typeface="Times New Roman" panose="02020603050405020304" pitchFamily="18" charset="0"/>
                <a:cs typeface="Times New Roman" panose="02020603050405020304" pitchFamily="18" charset="0"/>
              </a:rPr>
              <a:t>t</a:t>
            </a:r>
            <a:r>
              <a:rPr lang="en-US" sz="2000" dirty="0"/>
              <a:t>he adaptation process bridges the domain gap between pretrained and downstream datasets, and the concatenated features possess generalized.</a:t>
            </a:r>
          </a:p>
          <a:p>
            <a:pPr>
              <a:buFontTx/>
              <a:buChar char="-"/>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p>
        </p:txBody>
      </p:sp>
      <p:pic>
        <p:nvPicPr>
          <p:cNvPr id="7" name="Picture 6">
            <a:extLst>
              <a:ext uri="{FF2B5EF4-FFF2-40B4-BE49-F238E27FC236}">
                <a16:creationId xmlns:a16="http://schemas.microsoft.com/office/drawing/2014/main" id="{F0259A0B-799F-A872-2C30-E2A90C659B94}"/>
              </a:ext>
            </a:extLst>
          </p:cNvPr>
          <p:cNvPicPr>
            <a:picLocks noChangeAspect="1"/>
          </p:cNvPicPr>
          <p:nvPr/>
        </p:nvPicPr>
        <p:blipFill>
          <a:blip r:embed="rId2"/>
          <a:stretch>
            <a:fillRect/>
          </a:stretch>
        </p:blipFill>
        <p:spPr>
          <a:xfrm>
            <a:off x="402463" y="2427865"/>
            <a:ext cx="5492544" cy="582036"/>
          </a:xfrm>
          <a:prstGeom prst="rect">
            <a:avLst/>
          </a:prstGeom>
        </p:spPr>
      </p:pic>
    </p:spTree>
    <p:extLst>
      <p:ext uri="{BB962C8B-B14F-4D97-AF65-F5344CB8AC3E}">
        <p14:creationId xmlns:p14="http://schemas.microsoft.com/office/powerpoint/2010/main" val="1530840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7E342-461C-B6AC-8F2A-D2B9562F010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AB6A98-3B93-52AA-F772-AB596C05C51F}"/>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78A6A2DB-E4CA-9968-AE84-3F89D383E127}"/>
              </a:ext>
            </a:extLst>
          </p:cNvPr>
          <p:cNvSpPr>
            <a:spLocks noGrp="1"/>
          </p:cNvSpPr>
          <p:nvPr>
            <p:ph type="title"/>
          </p:nvPr>
        </p:nvSpPr>
        <p:spPr/>
        <p:txBody>
          <a:bodyPr/>
          <a:lstStyle/>
          <a:p>
            <a:r>
              <a:rPr lang="en-US" dirty="0"/>
              <a:t>CL with PTMs</a:t>
            </a:r>
          </a:p>
        </p:txBody>
      </p:sp>
      <p:sp>
        <p:nvSpPr>
          <p:cNvPr id="4" name="Content Placeholder 3">
            <a:extLst>
              <a:ext uri="{FF2B5EF4-FFF2-40B4-BE49-F238E27FC236}">
                <a16:creationId xmlns:a16="http://schemas.microsoft.com/office/drawing/2014/main" id="{B920446F-DF4D-0E9E-6D98-2965F56965BA}"/>
              </a:ext>
            </a:extLst>
          </p:cNvPr>
          <p:cNvSpPr>
            <a:spLocks noGrp="1"/>
          </p:cNvSpPr>
          <p:nvPr>
            <p:ph sz="quarter" idx="13"/>
          </p:nvPr>
        </p:nvSpPr>
        <p:spPr/>
        <p:txBody>
          <a:bodyPr/>
          <a:lstStyle/>
          <a:p>
            <a:r>
              <a:rPr lang="en-US" sz="2000" dirty="0">
                <a:latin typeface="Times New Roman" panose="02020603050405020304" pitchFamily="18" charset="0"/>
                <a:cs typeface="Times New Roman" panose="02020603050405020304" pitchFamily="18" charset="0"/>
              </a:rPr>
              <a:t>Representation-based method</a:t>
            </a:r>
          </a:p>
          <a:p>
            <a:r>
              <a:rPr lang="en-US" sz="2000" dirty="0">
                <a:latin typeface="Times New Roman" panose="02020603050405020304" pitchFamily="18" charset="0"/>
                <a:cs typeface="Times New Roman" panose="02020603050405020304" pitchFamily="18" charset="0"/>
              </a:rPr>
              <a:t>Concatenating Backbone</a:t>
            </a:r>
          </a:p>
          <a:p>
            <a:pPr>
              <a:buFontTx/>
              <a:buChar char="-"/>
            </a:pPr>
            <a:r>
              <a:rPr lang="en-US" sz="2000" dirty="0"/>
              <a:t>ADAM suggests finetuning the PTM with parameter-efficient modules and concatenating features of the pre-trained and adapted models</a:t>
            </a:r>
          </a:p>
          <a:p>
            <a:pPr marL="0" indent="0">
              <a:buNone/>
            </a:pPr>
            <a:endParaRPr lang="en-US" sz="2000" dirty="0">
              <a:latin typeface="Times New Roman" panose="02020603050405020304" pitchFamily="18" charset="0"/>
              <a:cs typeface="Times New Roman" panose="02020603050405020304" pitchFamily="18" charset="0"/>
            </a:endParaRP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r>
              <a:rPr lang="en-US" sz="2000" dirty="0">
                <a:latin typeface="Times New Roman" panose="02020603050405020304" pitchFamily="18" charset="0"/>
                <a:cs typeface="Times New Roman" panose="02020603050405020304" pitchFamily="18" charset="0"/>
              </a:rPr>
              <a:t>t</a:t>
            </a:r>
            <a:r>
              <a:rPr lang="en-US" sz="2000" dirty="0"/>
              <a:t>he adaptation process bridges the domain gap between pretrained and downstream datasets, and the concatenated features possess generalized.</a:t>
            </a:r>
          </a:p>
          <a:p>
            <a:pPr>
              <a:buFontTx/>
              <a:buChar char="-"/>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p>
        </p:txBody>
      </p:sp>
      <p:pic>
        <p:nvPicPr>
          <p:cNvPr id="7" name="Picture 6">
            <a:extLst>
              <a:ext uri="{FF2B5EF4-FFF2-40B4-BE49-F238E27FC236}">
                <a16:creationId xmlns:a16="http://schemas.microsoft.com/office/drawing/2014/main" id="{EF0A656D-B56C-E27A-33C4-9041E6D0C01B}"/>
              </a:ext>
            </a:extLst>
          </p:cNvPr>
          <p:cNvPicPr>
            <a:picLocks noChangeAspect="1"/>
          </p:cNvPicPr>
          <p:nvPr/>
        </p:nvPicPr>
        <p:blipFill>
          <a:blip r:embed="rId2"/>
          <a:stretch>
            <a:fillRect/>
          </a:stretch>
        </p:blipFill>
        <p:spPr>
          <a:xfrm>
            <a:off x="402463" y="2427865"/>
            <a:ext cx="5492544" cy="582036"/>
          </a:xfrm>
          <a:prstGeom prst="rect">
            <a:avLst/>
          </a:prstGeom>
        </p:spPr>
      </p:pic>
    </p:spTree>
    <p:extLst>
      <p:ext uri="{BB962C8B-B14F-4D97-AF65-F5344CB8AC3E}">
        <p14:creationId xmlns:p14="http://schemas.microsoft.com/office/powerpoint/2010/main" val="2656677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C205F-4F69-0AB7-3501-753F3CB6490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26942A-FF3A-164C-DFB6-2AEA21596879}"/>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itle 2">
            <a:extLst>
              <a:ext uri="{FF2B5EF4-FFF2-40B4-BE49-F238E27FC236}">
                <a16:creationId xmlns:a16="http://schemas.microsoft.com/office/drawing/2014/main" id="{E7CA8260-6A21-1641-7D42-5646D77E9F96}"/>
              </a:ext>
            </a:extLst>
          </p:cNvPr>
          <p:cNvSpPr>
            <a:spLocks noGrp="1"/>
          </p:cNvSpPr>
          <p:nvPr>
            <p:ph type="title"/>
          </p:nvPr>
        </p:nvSpPr>
        <p:spPr/>
        <p:txBody>
          <a:bodyPr/>
          <a:lstStyle/>
          <a:p>
            <a:r>
              <a:rPr lang="en-US" dirty="0"/>
              <a:t>CL with PTMs</a:t>
            </a:r>
          </a:p>
        </p:txBody>
      </p:sp>
      <p:sp>
        <p:nvSpPr>
          <p:cNvPr id="4" name="Content Placeholder 3">
            <a:extLst>
              <a:ext uri="{FF2B5EF4-FFF2-40B4-BE49-F238E27FC236}">
                <a16:creationId xmlns:a16="http://schemas.microsoft.com/office/drawing/2014/main" id="{EEABA9C2-EE06-3B37-60B4-204751E4A70F}"/>
              </a:ext>
            </a:extLst>
          </p:cNvPr>
          <p:cNvSpPr>
            <a:spLocks noGrp="1"/>
          </p:cNvSpPr>
          <p:nvPr>
            <p:ph sz="quarter" idx="13"/>
          </p:nvPr>
        </p:nvSpPr>
        <p:spPr/>
        <p:txBody>
          <a:bodyPr/>
          <a:lstStyle/>
          <a:p>
            <a:r>
              <a:rPr lang="en-US" sz="2000" dirty="0">
                <a:latin typeface="Times New Roman" panose="02020603050405020304" pitchFamily="18" charset="0"/>
                <a:cs typeface="Times New Roman" panose="02020603050405020304" pitchFamily="18" charset="0"/>
              </a:rPr>
              <a:t>Representation-based</a:t>
            </a:r>
          </a:p>
          <a:p>
            <a:r>
              <a:rPr lang="en-US" sz="2000" dirty="0">
                <a:latin typeface="Times New Roman" panose="02020603050405020304" pitchFamily="18" charset="0"/>
                <a:cs typeface="Times New Roman" panose="02020603050405020304" pitchFamily="18" charset="0"/>
              </a:rPr>
              <a:t>Utilizing Random Projection</a:t>
            </a:r>
          </a:p>
          <a:p>
            <a:pPr>
              <a:buFontTx/>
              <a:buChar char="-"/>
            </a:pPr>
            <a:r>
              <a:rPr lang="en-US" sz="1600" dirty="0">
                <a:latin typeface="Times New Roman" panose="02020603050405020304" pitchFamily="18" charset="0"/>
                <a:cs typeface="Times New Roman" panose="02020603050405020304" pitchFamily="18" charset="0"/>
              </a:rPr>
              <a:t>RANPAC suggests using an online LDA classifier to remove class wise correlations for better separability.</a:t>
            </a:r>
          </a:p>
          <a:p>
            <a:pPr>
              <a:buFontTx/>
              <a:buChar char="-"/>
            </a:pPr>
            <a:r>
              <a:rPr lang="en-US" sz="1600" dirty="0">
                <a:latin typeface="Times New Roman" panose="02020603050405020304" pitchFamily="18" charset="0"/>
                <a:cs typeface="Times New Roman" panose="02020603050405020304" pitchFamily="18" charset="0"/>
              </a:rPr>
              <a:t>Furthermore, to make the feature distribution for a Gaussian fit, it designs an ex </a:t>
            </a:r>
            <a:r>
              <a:rPr lang="en-US" sz="1600" dirty="0" err="1">
                <a:latin typeface="Times New Roman" panose="02020603050405020304" pitchFamily="18" charset="0"/>
                <a:cs typeface="Times New Roman" panose="02020603050405020304" pitchFamily="18" charset="0"/>
              </a:rPr>
              <a:t>tra</a:t>
            </a:r>
            <a:r>
              <a:rPr lang="en-US" sz="1600" dirty="0">
                <a:latin typeface="Times New Roman" panose="02020603050405020304" pitchFamily="18" charset="0"/>
                <a:cs typeface="Times New Roman" panose="02020603050405020304" pitchFamily="18" charset="0"/>
              </a:rPr>
              <a:t> random projection layer </a:t>
            </a:r>
            <a:r>
              <a:rPr lang="en-US" sz="1600" dirty="0" err="1">
                <a:latin typeface="Times New Roman" panose="02020603050405020304" pitchFamily="18" charset="0"/>
                <a:cs typeface="Times New Roman" panose="02020603050405020304" pitchFamily="18" charset="0"/>
              </a:rPr>
              <a:t>Proj</a:t>
            </a:r>
            <a:endParaRPr lang="en-US" sz="16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Slow Learner with Feature Replay</a:t>
            </a:r>
          </a:p>
          <a:p>
            <a:pPr>
              <a:buFontTx/>
              <a:buChar char="-"/>
            </a:pPr>
            <a:r>
              <a:rPr lang="en-US" sz="1600" dirty="0">
                <a:latin typeface="Times New Roman" panose="02020603050405020304" pitchFamily="18" charset="0"/>
                <a:cs typeface="Times New Roman" panose="02020603050405020304" pitchFamily="18" charset="0"/>
              </a:rPr>
              <a:t>there are also works aiming for the intersection between pre-trained and fully-adapted models</a:t>
            </a:r>
          </a:p>
          <a:p>
            <a:pPr>
              <a:buFontTx/>
              <a:buChar char="-"/>
            </a:pPr>
            <a:r>
              <a:rPr lang="en-US" sz="1600" dirty="0">
                <a:latin typeface="Times New Roman" panose="02020603050405020304" pitchFamily="18" charset="0"/>
                <a:cs typeface="Times New Roman" panose="02020603050405020304" pitchFamily="18" charset="0"/>
              </a:rPr>
              <a:t>SLCA [Zhang et al., 2023] suggests tuning the embedding function ϕ with a small learning rate while tuning the classifier W with a large learning rate.</a:t>
            </a:r>
          </a:p>
          <a:p>
            <a:pPr>
              <a:buFontTx/>
              <a:buChar char="-"/>
            </a:pPr>
            <a:r>
              <a:rPr lang="en-US" sz="1600" dirty="0">
                <a:latin typeface="Times New Roman" panose="02020603050405020304" pitchFamily="18" charset="0"/>
                <a:cs typeface="Times New Roman" panose="02020603050405020304" pitchFamily="18" charset="0"/>
              </a:rPr>
              <a:t>This enables a gradual fitting of the features and quick adaptation of the classifiers.</a:t>
            </a:r>
          </a:p>
          <a:p>
            <a:pPr>
              <a:buFontTx/>
              <a:buChar char="-"/>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9356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5E3DA-2BCA-409D-D7BF-449D5372FEE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4A86E2-D854-9B5A-61A0-EE68C2AC5E5A}"/>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tle 2">
            <a:extLst>
              <a:ext uri="{FF2B5EF4-FFF2-40B4-BE49-F238E27FC236}">
                <a16:creationId xmlns:a16="http://schemas.microsoft.com/office/drawing/2014/main" id="{5AB24F13-7949-8476-A184-39C75D2DB4C5}"/>
              </a:ext>
            </a:extLst>
          </p:cNvPr>
          <p:cNvSpPr>
            <a:spLocks noGrp="1"/>
          </p:cNvSpPr>
          <p:nvPr>
            <p:ph type="title"/>
          </p:nvPr>
        </p:nvSpPr>
        <p:spPr/>
        <p:txBody>
          <a:bodyPr/>
          <a:lstStyle/>
          <a:p>
            <a:r>
              <a:rPr lang="en-US" dirty="0"/>
              <a:t>CL with PTMs</a:t>
            </a:r>
          </a:p>
        </p:txBody>
      </p:sp>
      <p:sp>
        <p:nvSpPr>
          <p:cNvPr id="4" name="Content Placeholder 3">
            <a:extLst>
              <a:ext uri="{FF2B5EF4-FFF2-40B4-BE49-F238E27FC236}">
                <a16:creationId xmlns:a16="http://schemas.microsoft.com/office/drawing/2014/main" id="{8AEA5CB0-5994-643E-AAC8-10550B448E45}"/>
              </a:ext>
            </a:extLst>
          </p:cNvPr>
          <p:cNvSpPr>
            <a:spLocks noGrp="1"/>
          </p:cNvSpPr>
          <p:nvPr>
            <p:ph sz="quarter" idx="13"/>
          </p:nvPr>
        </p:nvSpPr>
        <p:spPr/>
        <p:txBody>
          <a:bodyPr/>
          <a:lstStyle/>
          <a:p>
            <a:r>
              <a:rPr lang="en-US" sz="2000" dirty="0">
                <a:latin typeface="Times New Roman" panose="02020603050405020304" pitchFamily="18" charset="0"/>
                <a:cs typeface="Times New Roman" panose="02020603050405020304" pitchFamily="18" charset="0"/>
              </a:rPr>
              <a:t>Representation-based method</a:t>
            </a:r>
          </a:p>
          <a:p>
            <a:r>
              <a:rPr lang="en-US" sz="2000" dirty="0">
                <a:latin typeface="Times New Roman" panose="02020603050405020304" pitchFamily="18" charset="0"/>
                <a:cs typeface="Times New Roman" panose="02020603050405020304" pitchFamily="18" charset="0"/>
              </a:rPr>
              <a:t>Utilizing Random Projection</a:t>
            </a:r>
          </a:p>
          <a:p>
            <a:pPr>
              <a:buFontTx/>
              <a:buChar char="-"/>
            </a:pPr>
            <a:r>
              <a:rPr lang="en-US" sz="1600" dirty="0">
                <a:latin typeface="Times New Roman" panose="02020603050405020304" pitchFamily="18" charset="0"/>
                <a:cs typeface="Times New Roman" panose="02020603050405020304" pitchFamily="18" charset="0"/>
              </a:rPr>
              <a:t>RANPAC suggests using an online LDA classifier to remove class wise correlations for better separability.</a:t>
            </a:r>
          </a:p>
          <a:p>
            <a:pPr>
              <a:buFontTx/>
              <a:buChar char="-"/>
            </a:pPr>
            <a:r>
              <a:rPr lang="en-US" sz="1600" dirty="0">
                <a:latin typeface="Times New Roman" panose="02020603050405020304" pitchFamily="18" charset="0"/>
                <a:cs typeface="Times New Roman" panose="02020603050405020304" pitchFamily="18" charset="0"/>
              </a:rPr>
              <a:t>Furthermore, to make the feature distribution for a Gaussian fit, it designs an ex </a:t>
            </a:r>
            <a:r>
              <a:rPr lang="en-US" sz="1600" dirty="0" err="1">
                <a:latin typeface="Times New Roman" panose="02020603050405020304" pitchFamily="18" charset="0"/>
                <a:cs typeface="Times New Roman" panose="02020603050405020304" pitchFamily="18" charset="0"/>
              </a:rPr>
              <a:t>tra</a:t>
            </a:r>
            <a:r>
              <a:rPr lang="en-US" sz="1600" dirty="0">
                <a:latin typeface="Times New Roman" panose="02020603050405020304" pitchFamily="18" charset="0"/>
                <a:cs typeface="Times New Roman" panose="02020603050405020304" pitchFamily="18" charset="0"/>
              </a:rPr>
              <a:t> random projection layer </a:t>
            </a:r>
            <a:r>
              <a:rPr lang="en-US" sz="1600" dirty="0" err="1">
                <a:latin typeface="Times New Roman" panose="02020603050405020304" pitchFamily="18" charset="0"/>
                <a:cs typeface="Times New Roman" panose="02020603050405020304" pitchFamily="18" charset="0"/>
              </a:rPr>
              <a:t>Proj</a:t>
            </a:r>
            <a:endParaRPr lang="en-US" sz="16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Slow Learner with Feature Replay</a:t>
            </a:r>
          </a:p>
          <a:p>
            <a:pPr>
              <a:buFontTx/>
              <a:buChar char="-"/>
            </a:pPr>
            <a:r>
              <a:rPr lang="en-US" sz="1600" dirty="0">
                <a:latin typeface="Times New Roman" panose="02020603050405020304" pitchFamily="18" charset="0"/>
                <a:cs typeface="Times New Roman" panose="02020603050405020304" pitchFamily="18" charset="0"/>
              </a:rPr>
              <a:t>there are also works aiming for the intersection between pre-trained and fully-adapted models</a:t>
            </a:r>
          </a:p>
          <a:p>
            <a:pPr>
              <a:buFontTx/>
              <a:buChar char="-"/>
            </a:pPr>
            <a:r>
              <a:rPr lang="en-US" sz="1600" dirty="0">
                <a:latin typeface="Times New Roman" panose="02020603050405020304" pitchFamily="18" charset="0"/>
                <a:cs typeface="Times New Roman" panose="02020603050405020304" pitchFamily="18" charset="0"/>
              </a:rPr>
              <a:t>SLCA [Zhang et al., 2023] suggests tuning the embedding function ϕ with a small learning rate while tuning the classifier W with a large learning rate.</a:t>
            </a:r>
          </a:p>
          <a:p>
            <a:pPr>
              <a:buFontTx/>
              <a:buChar char="-"/>
            </a:pPr>
            <a:r>
              <a:rPr lang="en-US" sz="1600" dirty="0">
                <a:latin typeface="Times New Roman" panose="02020603050405020304" pitchFamily="18" charset="0"/>
                <a:cs typeface="Times New Roman" panose="02020603050405020304" pitchFamily="18" charset="0"/>
              </a:rPr>
              <a:t>This enables a gradual fitting of the features and quick adaptation of the classifiers.</a:t>
            </a:r>
          </a:p>
          <a:p>
            <a:pPr>
              <a:buFontTx/>
              <a:buChar char="-"/>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1397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66351-DA69-C5CC-DF3B-F28B84C06E5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5A5746-833C-9EFD-9F4C-4449FF86FC2F}"/>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Title 2">
            <a:extLst>
              <a:ext uri="{FF2B5EF4-FFF2-40B4-BE49-F238E27FC236}">
                <a16:creationId xmlns:a16="http://schemas.microsoft.com/office/drawing/2014/main" id="{0740FD0F-DA46-E804-5342-7FEB1F9379A2}"/>
              </a:ext>
            </a:extLst>
          </p:cNvPr>
          <p:cNvSpPr>
            <a:spLocks noGrp="1"/>
          </p:cNvSpPr>
          <p:nvPr>
            <p:ph type="title"/>
          </p:nvPr>
        </p:nvSpPr>
        <p:spPr/>
        <p:txBody>
          <a:bodyPr/>
          <a:lstStyle/>
          <a:p>
            <a:r>
              <a:rPr lang="en-US" dirty="0"/>
              <a:t>CL with PTMs</a:t>
            </a:r>
          </a:p>
        </p:txBody>
      </p:sp>
      <p:sp>
        <p:nvSpPr>
          <p:cNvPr id="4" name="Content Placeholder 3">
            <a:extLst>
              <a:ext uri="{FF2B5EF4-FFF2-40B4-BE49-F238E27FC236}">
                <a16:creationId xmlns:a16="http://schemas.microsoft.com/office/drawing/2014/main" id="{57A447E0-2B16-2682-3985-4A2CC076F692}"/>
              </a:ext>
            </a:extLst>
          </p:cNvPr>
          <p:cNvSpPr>
            <a:spLocks noGrp="1"/>
          </p:cNvSpPr>
          <p:nvPr>
            <p:ph sz="quarter" idx="13"/>
          </p:nvPr>
        </p:nvSpPr>
        <p:spPr/>
        <p:txBody>
          <a:bodyPr/>
          <a:lstStyle/>
          <a:p>
            <a:r>
              <a:rPr lang="en-US" sz="2000" dirty="0">
                <a:latin typeface="Times New Roman" panose="02020603050405020304" pitchFamily="18" charset="0"/>
                <a:cs typeface="Times New Roman" panose="02020603050405020304" pitchFamily="18" charset="0"/>
              </a:rPr>
              <a:t>Model Mixture-based Methods</a:t>
            </a:r>
          </a:p>
          <a:p>
            <a:r>
              <a:rPr lang="en-US" sz="1600" dirty="0">
                <a:latin typeface="Times New Roman" panose="02020603050405020304" pitchFamily="18" charset="0"/>
                <a:cs typeface="Times New Roman" panose="02020603050405020304" pitchFamily="18" charset="0"/>
              </a:rPr>
              <a:t>model mixture-based methods aim to create a set of models during the continual learning process and conduct model ensemble or model merge during inference.</a:t>
            </a:r>
          </a:p>
          <a:p>
            <a:r>
              <a:rPr lang="en-US" sz="1600" dirty="0">
                <a:latin typeface="Times New Roman" panose="02020603050405020304" pitchFamily="18" charset="0"/>
                <a:cs typeface="Times New Roman" panose="02020603050405020304" pitchFamily="18" charset="0"/>
              </a:rPr>
              <a:t>Information from multiple stages is mixed for the final prediction </a:t>
            </a:r>
            <a:r>
              <a:rPr lang="en-US" sz="1600" dirty="0">
                <a:latin typeface="Times New Roman" panose="02020603050405020304" pitchFamily="18" charset="0"/>
                <a:cs typeface="Times New Roman" panose="02020603050405020304" pitchFamily="18" charset="0"/>
                <a:sym typeface="Wingdings" panose="05000000000000000000" pitchFamily="2" charset="2"/>
              </a:rPr>
              <a:t> catastrophic forgetting can thus be alleviated.</a:t>
            </a:r>
          </a:p>
          <a:p>
            <a:r>
              <a:rPr lang="en-US" sz="1600" b="1" dirty="0">
                <a:latin typeface="Times New Roman" panose="02020603050405020304" pitchFamily="18" charset="0"/>
                <a:cs typeface="Times New Roman" panose="02020603050405020304" pitchFamily="18" charset="0"/>
                <a:sym typeface="Wingdings" panose="05000000000000000000" pitchFamily="2" charset="2"/>
              </a:rPr>
              <a:t>Model Ensemble:</a:t>
            </a:r>
          </a:p>
          <a:p>
            <a:pPr>
              <a:buFontTx/>
              <a:buChar char="-"/>
            </a:pPr>
            <a:r>
              <a:rPr lang="en-US" sz="1600" dirty="0">
                <a:latin typeface="Times New Roman" panose="02020603050405020304" pitchFamily="18" charset="0"/>
                <a:cs typeface="Times New Roman" panose="02020603050405020304" pitchFamily="18" charset="0"/>
                <a:sym typeface="Wingdings" panose="05000000000000000000" pitchFamily="2" charset="2"/>
              </a:rPr>
              <a:t>ESN creates a set of classifiers individually based on the same PTM during the learning process, it initialized and trains a new classifier when facing a new task.</a:t>
            </a:r>
          </a:p>
          <a:p>
            <a:pPr>
              <a:buFontTx/>
              <a:buChar char="-"/>
            </a:pPr>
            <a:r>
              <a:rPr lang="en-US" sz="1600" dirty="0">
                <a:latin typeface="Times New Roman" panose="02020603050405020304" pitchFamily="18" charset="0"/>
                <a:cs typeface="Times New Roman" panose="02020603050405020304" pitchFamily="18" charset="0"/>
              </a:rPr>
              <a:t>During inference, it designs a voting strategy for these classifier heads by adopting a set of temperatures</a:t>
            </a:r>
          </a:p>
          <a:p>
            <a:r>
              <a:rPr lang="en-US" sz="1600" b="1" dirty="0">
                <a:latin typeface="Times New Roman" panose="02020603050405020304" pitchFamily="18" charset="0"/>
                <a:cs typeface="Times New Roman" panose="02020603050405020304" pitchFamily="18" charset="0"/>
              </a:rPr>
              <a:t>Model Merge</a:t>
            </a:r>
            <a:r>
              <a:rPr lang="en-US" sz="1600" dirty="0">
                <a:latin typeface="Times New Roman" panose="02020603050405020304" pitchFamily="18" charset="0"/>
                <a:cs typeface="Times New Roman" panose="02020603050405020304" pitchFamily="18" charset="0"/>
              </a:rPr>
              <a:t>:</a:t>
            </a:r>
          </a:p>
          <a:p>
            <a:pPr>
              <a:buFontTx/>
              <a:buChar char="-"/>
            </a:pPr>
            <a:r>
              <a:rPr lang="en-US" sz="1600" dirty="0">
                <a:latin typeface="Times New Roman" panose="02020603050405020304" pitchFamily="18" charset="0"/>
                <a:cs typeface="Times New Roman" panose="02020603050405020304" pitchFamily="18" charset="0"/>
              </a:rPr>
              <a:t>Another line of work considers model merge, which combines multiple distinct models into a single unified model without requiring additional training</a:t>
            </a:r>
          </a:p>
          <a:p>
            <a:pPr>
              <a:buFontTx/>
              <a:buChar char="-"/>
            </a:pPr>
            <a:r>
              <a:rPr lang="en-US" sz="1600" dirty="0">
                <a:latin typeface="Times New Roman" panose="02020603050405020304" pitchFamily="18" charset="0"/>
                <a:cs typeface="Times New Roman" panose="02020603050405020304" pitchFamily="18" charset="0"/>
              </a:rPr>
              <a:t>LAE defines the online and offline learning protocol, where the online model is updated with cross-entropy loss, aiming to acquire new knowledge in new tasks. By contrast, the offline model is updated via model merge, e.g., Exponential Moving Average (EMA): (alpha is </a:t>
            </a:r>
            <a:r>
              <a:rPr lang="en-US" sz="1600">
                <a:latin typeface="Times New Roman" panose="02020603050405020304" pitchFamily="18" charset="0"/>
                <a:cs typeface="Times New Roman" panose="02020603050405020304" pitchFamily="18" charset="0"/>
              </a:rPr>
              <a:t>the trade-off param)</a:t>
            </a:r>
            <a:endParaRPr 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2929F6B-C882-EC88-F7CF-7D05121A3DBC}"/>
              </a:ext>
            </a:extLst>
          </p:cNvPr>
          <p:cNvPicPr>
            <a:picLocks noChangeAspect="1"/>
          </p:cNvPicPr>
          <p:nvPr/>
        </p:nvPicPr>
        <p:blipFill>
          <a:blip r:embed="rId2"/>
          <a:stretch>
            <a:fillRect/>
          </a:stretch>
        </p:blipFill>
        <p:spPr>
          <a:xfrm>
            <a:off x="1854189" y="5530281"/>
            <a:ext cx="5249008" cy="724001"/>
          </a:xfrm>
          <a:prstGeom prst="rect">
            <a:avLst/>
          </a:prstGeom>
        </p:spPr>
      </p:pic>
    </p:spTree>
    <p:extLst>
      <p:ext uri="{BB962C8B-B14F-4D97-AF65-F5344CB8AC3E}">
        <p14:creationId xmlns:p14="http://schemas.microsoft.com/office/powerpoint/2010/main" val="3119713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16</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endParaRPr lang="en-US" dirty="0"/>
          </a:p>
        </p:txBody>
      </p:sp>
      <p:sp>
        <p:nvSpPr>
          <p:cNvPr id="3" name="Chart Placeholder 2">
            <a:extLst>
              <a:ext uri="{FF2B5EF4-FFF2-40B4-BE49-F238E27FC236}">
                <a16:creationId xmlns:a16="http://schemas.microsoft.com/office/drawing/2014/main" id="{C8196C5E-7B93-4E81-B617-CD97C06D6032}"/>
              </a:ext>
            </a:extLst>
          </p:cNvPr>
          <p:cNvSpPr>
            <a:spLocks noGrp="1"/>
          </p:cNvSpPr>
          <p:nvPr>
            <p:ph type="chart" sz="quarter" idx="4294967295"/>
          </p:nvPr>
        </p:nvSpPr>
        <p:spPr>
          <a:xfrm>
            <a:off x="247651" y="1406769"/>
            <a:ext cx="4324350" cy="4655894"/>
          </a:xfrm>
          <a:prstGeom prst="rect">
            <a:avLst/>
          </a:prstGeom>
        </p:spPr>
        <p:txBody>
          <a:bodyPr/>
          <a:lstStyle/>
          <a:p>
            <a:endParaRPr lang="en-US"/>
          </a:p>
        </p:txBody>
      </p:sp>
      <p:sp>
        <p:nvSpPr>
          <p:cNvPr id="4" name="Picture Placeholder 3">
            <a:extLst>
              <a:ext uri="{FF2B5EF4-FFF2-40B4-BE49-F238E27FC236}">
                <a16:creationId xmlns:a16="http://schemas.microsoft.com/office/drawing/2014/main" id="{377CB842-AD15-4F5A-8EF5-EBD6CE5F54A3}"/>
              </a:ext>
            </a:extLst>
          </p:cNvPr>
          <p:cNvSpPr>
            <a:spLocks noGrp="1"/>
          </p:cNvSpPr>
          <p:nvPr>
            <p:ph type="pic" sz="quarter" idx="4294967295"/>
          </p:nvPr>
        </p:nvSpPr>
        <p:spPr>
          <a:xfrm>
            <a:off x="4660869" y="1406769"/>
            <a:ext cx="4083844" cy="4656137"/>
          </a:xfrm>
          <a:prstGeom prst="rect">
            <a:avLst/>
          </a:prstGeom>
        </p:spPr>
        <p:txBody>
          <a:bodyPr/>
          <a:lstStyle/>
          <a:p>
            <a:endParaRPr lang="en-US"/>
          </a:p>
        </p:txBody>
      </p:sp>
    </p:spTree>
    <p:extLst>
      <p:ext uri="{BB962C8B-B14F-4D97-AF65-F5344CB8AC3E}">
        <p14:creationId xmlns:p14="http://schemas.microsoft.com/office/powerpoint/2010/main" val="64084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751358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Content Placeholder 2">
            <a:extLst>
              <a:ext uri="{FF2B5EF4-FFF2-40B4-BE49-F238E27FC236}">
                <a16:creationId xmlns:a16="http://schemas.microsoft.com/office/drawing/2014/main" id="{A39BBC82-5CC8-86B3-6CF8-6714E6B82E38}"/>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E62E6E8B-CA6C-55F9-B624-AB2BC25AF2A3}"/>
              </a:ext>
            </a:extLst>
          </p:cNvPr>
          <p:cNvSpPr>
            <a:spLocks noGrp="1"/>
          </p:cNvSpPr>
          <p:nvPr>
            <p:ph sz="half" idx="2"/>
          </p:nvPr>
        </p:nvSpPr>
        <p:spPr/>
        <p:txBody>
          <a:bodyPr/>
          <a:lstStyle/>
          <a:p>
            <a:endParaRPr lang="en-US"/>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341840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7ECF-1792-4255-AF79-1338056A166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Tree>
    <p:extLst>
      <p:ext uri="{BB962C8B-B14F-4D97-AF65-F5344CB8AC3E}">
        <p14:creationId xmlns:p14="http://schemas.microsoft.com/office/powerpoint/2010/main" val="3194012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1994D1-B0B9-97CB-A9B2-4F2D31319A30}"/>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7508968A-F2A2-8005-6E03-B78E65864C76}"/>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Tree>
    <p:extLst>
      <p:ext uri="{BB962C8B-B14F-4D97-AF65-F5344CB8AC3E}">
        <p14:creationId xmlns:p14="http://schemas.microsoft.com/office/powerpoint/2010/main" val="3651498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D7A5E0C5-7F9C-BDE6-162B-F94E54DA8B0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644728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CD60EA-6653-3AE7-7289-DD8479DAF267}"/>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8F3E6E5C-9744-5884-9CF6-BA4CC119CD42}"/>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Tree>
    <p:extLst>
      <p:ext uri="{BB962C8B-B14F-4D97-AF65-F5344CB8AC3E}">
        <p14:creationId xmlns:p14="http://schemas.microsoft.com/office/powerpoint/2010/main" val="2581069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331FF-7367-F4F4-10DC-9F4CB4892036}"/>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3" name="Title 2">
            <a:extLst>
              <a:ext uri="{FF2B5EF4-FFF2-40B4-BE49-F238E27FC236}">
                <a16:creationId xmlns:a16="http://schemas.microsoft.com/office/drawing/2014/main" id="{CA942A98-C171-982E-551D-E59FBFEFF92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C2E5BA0D-33C2-2FFC-BFBC-D1CF3837647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130957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610</TotalTime>
  <Words>1316</Words>
  <Application>Microsoft Office PowerPoint</Application>
  <PresentationFormat>On-screen Show (4:3)</PresentationFormat>
  <Paragraphs>126</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Cambria Math</vt:lpstr>
      <vt:lpstr>Lato</vt:lpstr>
      <vt:lpstr>Times New Roman</vt:lpstr>
      <vt:lpstr>Wingdings</vt:lpstr>
      <vt:lpstr>Office Theme</vt:lpstr>
      <vt:lpstr>PowerPoint Presentation</vt:lpstr>
      <vt:lpstr>CL with PTMs</vt:lpstr>
      <vt:lpstr>CL with PTMs</vt:lpstr>
      <vt:lpstr>Problem Setup</vt:lpstr>
      <vt:lpstr>ADA</vt:lpstr>
      <vt:lpstr>ADA</vt:lpstr>
      <vt:lpstr>ADA</vt:lpstr>
      <vt:lpstr>ADA</vt:lpstr>
      <vt:lpstr>ADA</vt:lpstr>
      <vt:lpstr>CL with PTMs</vt:lpstr>
      <vt:lpstr>CL with PTMs</vt:lpstr>
      <vt:lpstr>CL with PTMs</vt:lpstr>
      <vt:lpstr>CL with PTMs</vt:lpstr>
      <vt:lpstr>CL with PTMs</vt:lpstr>
      <vt:lpstr>CL with PTMs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Chu Tuan Nghia 20225056</cp:lastModifiedBy>
  <cp:revision>23</cp:revision>
  <dcterms:created xsi:type="dcterms:W3CDTF">2021-05-28T04:32:29Z</dcterms:created>
  <dcterms:modified xsi:type="dcterms:W3CDTF">2025-10-03T22:01:18Z</dcterms:modified>
</cp:coreProperties>
</file>