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6" r:id="rId5"/>
    <p:sldId id="261" r:id="rId6"/>
    <p:sldId id="259" r:id="rId7"/>
    <p:sldId id="269" r:id="rId8"/>
    <p:sldId id="274" r:id="rId9"/>
    <p:sldId id="275" r:id="rId10"/>
    <p:sldId id="277" r:id="rId11"/>
    <p:sldId id="262" r:id="rId12"/>
    <p:sldId id="273" r:id="rId13"/>
    <p:sldId id="263" r:id="rId14"/>
    <p:sldId id="278" r:id="rId15"/>
    <p:sldId id="264" r:id="rId16"/>
    <p:sldId id="265" r:id="rId17"/>
    <p:sldId id="266" r:id="rId18"/>
    <p:sldId id="279" r:id="rId19"/>
    <p:sldId id="268" r:id="rId20"/>
  </p:sldIdLst>
  <p:sldSz cx="18288000" cy="10287000"/>
  <p:notesSz cx="6858000" cy="9144000"/>
  <p:embeddedFontLst>
    <p:embeddedFont>
      <p:font typeface="Sarabun" panose="020B0604020202020204" charset="-34"/>
      <p:regular r:id="rId22"/>
    </p:embeddedFont>
    <p:embeddedFont>
      <p:font typeface="Sarabun Bold" panose="020B0604020202020204" charset="-3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46AC-C855-24BB-D400-F897B730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EE1559-6472-43A1-E451-884CE59BA3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B5E32-3353-03C6-9E59-B479038E26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8E69E1-157A-6190-8D0C-3F3DC100D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586542-FC00-6E82-9618-A474921ED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D5B83-A72E-0F7D-6C9D-A084A9B6E5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18378-B5EE-01BE-177D-6A63DB748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9012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1981-A96D-F79C-3E43-7B29BCBD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8BCAE3-C14C-B29C-A9E7-C083E3BE9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47E4B-B6AD-3787-016F-0C1DB0D3F2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3556199-CBD9-5A8A-0D50-4DA128F8E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7F7AB7D-CDEA-EAD1-99B5-10AB30488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37DE2-85CE-59DD-1781-FCB093F992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C4EC8-220E-8D28-3710-0E5FE8958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3627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1682-8CFA-7D18-1371-8EED03E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ECC87A-57E4-1B6D-8A6E-988AA2CA66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2B3E5-2485-4A40-4CFA-C5AA3E02D0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DFA11B3-F68D-FAC1-C56F-211782EEF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8A27DD-DF04-C9E3-4F59-23BE05B2F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1C17F-05C3-BEBD-C97A-D0E06F97CE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90AAD-11AC-7A54-55C3-8ADAA1F30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02633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A5F0-303F-74B2-9E70-1BB9C41E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169E61-1C78-85EC-D8EA-DEAC48AB7D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16417-5A7C-0218-AD7D-80A60B4825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DB03D73-DF08-EE75-0717-AE1245316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1AAC9E-A572-F5FD-F839-724984EDA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7E1A4-10A9-5814-8419-9C838C5C3B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4C3B8-8389-0AC1-F98E-75E071CC3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74605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F1AF-059F-BE4D-8CD4-11CDF35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76464-DC6E-52FD-2011-32FC9A4AC8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83D2A-EAE4-5221-CC6D-8A0EDBBA82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C04BD6-E15E-D0C5-E20A-491AD4C30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9C777E-3517-D81F-C6AF-7DF76936E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E2977-0EF0-B553-4512-9BD4239847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8E02A-B511-796C-80A4-55689CB25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89236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FE2B-C6A4-5BCD-98AB-EEAF23CE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69A794-19C2-6BA4-FFA2-CB3B017B34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B070E-C11D-DE2C-7710-26267C8177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1EDECA2-4D02-2ECE-9F02-467AFCED4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2C245E-7291-0172-0A74-12E5F3FA3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8E728-5D7E-33E4-ABC0-E4F7194130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1E0E1-3976-440C-1FD8-646C381CE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9351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3463-5CEE-91E7-D6D5-159B525E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869403-983E-EEBD-72EB-3EA661D3E5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1A381-B6EF-3786-A926-A7C08AE8145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0267E9-9FB4-7C7D-D4D4-B2D3AE044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6090268-8A81-06A2-0A94-621DF9CCE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AE282-5ED5-7084-D347-7283C8B46E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1AE20-C9D9-2F23-4D9E-EE2167B4A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17369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85BA-B90A-3272-0F52-157B3459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6AC2E0-372C-C778-BFBE-4E1124F7E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679EE-061C-ED6A-23D9-820BD71675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E8E013-BF80-1598-BB5B-906A101C1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FDA71BF-233C-5F16-1AC0-2853DE3A7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E32F8-AE8E-CCC4-0BE9-514B69FE52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E3B0B-ED35-E2C7-A98E-762F473DC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4607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9050" y="0"/>
            <a:ext cx="18324238" cy="10287000"/>
            <a:chOff x="0" y="0"/>
            <a:chExt cx="2443231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261" cy="13716000"/>
            </a:xfrm>
            <a:custGeom>
              <a:avLst/>
              <a:gdLst/>
              <a:ahLst/>
              <a:cxnLst/>
              <a:rect l="l" t="t" r="r" b="b"/>
              <a:pathLst>
                <a:path w="24432261" h="13716000">
                  <a:moveTo>
                    <a:pt x="0" y="0"/>
                  </a:moveTo>
                  <a:lnTo>
                    <a:pt x="24432261" y="0"/>
                  </a:lnTo>
                  <a:lnTo>
                    <a:pt x="2443226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1" t="-2185" r="-139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400300" y="6858000"/>
            <a:ext cx="342900" cy="342900"/>
            <a:chOff x="0" y="0"/>
            <a:chExt cx="4572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525" y="0"/>
            <a:ext cx="18324238" cy="10287000"/>
            <a:chOff x="0" y="0"/>
            <a:chExt cx="24432318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32261" cy="13716000"/>
            </a:xfrm>
            <a:custGeom>
              <a:avLst/>
              <a:gdLst/>
              <a:ahLst/>
              <a:cxnLst/>
              <a:rect l="l" t="t" r="r" b="b"/>
              <a:pathLst>
                <a:path w="24432261" h="13716000">
                  <a:moveTo>
                    <a:pt x="0" y="0"/>
                  </a:moveTo>
                  <a:lnTo>
                    <a:pt x="24432261" y="0"/>
                  </a:lnTo>
                  <a:lnTo>
                    <a:pt x="24432261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EFEFE">
                    <a:alpha val="0"/>
                  </a:srgbClr>
                </a:gs>
                <a:gs pos="40000">
                  <a:srgbClr val="DE8792">
                    <a:alpha val="53000"/>
                  </a:srgbClr>
                </a:gs>
                <a:gs pos="67000">
                  <a:srgbClr val="FF0000">
                    <a:alpha val="91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5100000"/>
            </a:gra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43807" y="9662896"/>
            <a:ext cx="169545" cy="27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2">
                <a:solidFill>
                  <a:srgbClr val="888A96"/>
                </a:solidFill>
                <a:latin typeface="Sarabun"/>
                <a:ea typeface="Sarabun"/>
                <a:cs typeface="Sarabun"/>
                <a:sym typeface="Sarabun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202120" y="0"/>
            <a:ext cx="15980472" cy="1431278"/>
            <a:chOff x="0" y="0"/>
            <a:chExt cx="22707600" cy="2033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07600" cy="2033788"/>
            </a:xfrm>
            <a:custGeom>
              <a:avLst/>
              <a:gdLst/>
              <a:ahLst/>
              <a:cxnLst/>
              <a:rect l="l" t="t" r="r" b="b"/>
              <a:pathLst>
                <a:path w="22707600" h="2033788">
                  <a:moveTo>
                    <a:pt x="0" y="0"/>
                  </a:moveTo>
                  <a:lnTo>
                    <a:pt x="22707600" y="0"/>
                  </a:lnTo>
                  <a:lnTo>
                    <a:pt x="22707600" y="2033788"/>
                  </a:lnTo>
                  <a:lnTo>
                    <a:pt x="0" y="2033788"/>
                  </a:lnTo>
                  <a:close/>
                </a:path>
              </a:pathLst>
            </a:custGeom>
            <a:solidFill>
              <a:srgbClr val="76717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6542" y="186632"/>
            <a:ext cx="16496810" cy="1183862"/>
            <a:chOff x="0" y="0"/>
            <a:chExt cx="13933168" cy="9998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33168" cy="999887"/>
            </a:xfrm>
            <a:custGeom>
              <a:avLst/>
              <a:gdLst/>
              <a:ahLst/>
              <a:cxnLst/>
              <a:rect l="l" t="t" r="r" b="b"/>
              <a:pathLst>
                <a:path w="13933168" h="999887">
                  <a:moveTo>
                    <a:pt x="0" y="0"/>
                  </a:moveTo>
                  <a:lnTo>
                    <a:pt x="13933168" y="0"/>
                  </a:lnTo>
                  <a:lnTo>
                    <a:pt x="13933168" y="999887"/>
                  </a:lnTo>
                  <a:lnTo>
                    <a:pt x="0" y="999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3933168" cy="990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99"/>
                </a:lnSpc>
              </a:pP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Trung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tâm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Nền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tảng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công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nghệ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&amp;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Chuyển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đổi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</a:t>
              </a:r>
              <a:r>
                <a:rPr lang="en-US" sz="3999" b="1" spc="-91" dirty="0" err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số</a:t>
              </a:r>
              <a:r>
                <a:rPr lang="en-US" sz="3999" b="1" spc="-9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 - Viettel Networks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48287" y="3546143"/>
            <a:ext cx="13530065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Đề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tài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:</a:t>
            </a:r>
          </a:p>
          <a:p>
            <a:pPr algn="ctr">
              <a:lnSpc>
                <a:spcPts val="7200"/>
              </a:lnSpc>
            </a:pP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Mã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hóa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đầu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cuối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trong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hệ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thống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nhắn</a:t>
            </a: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 tin </a:t>
            </a:r>
            <a:r>
              <a:rPr lang="en-US" sz="6000" spc="-25" dirty="0" err="1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NetChat</a:t>
            </a:r>
            <a:endParaRPr lang="en-US" sz="6000" spc="-25" dirty="0">
              <a:solidFill>
                <a:srgbClr val="FFFFFF"/>
              </a:solidFill>
              <a:latin typeface="Sarabun Bold" panose="020B0604020202020204" charset="-34"/>
              <a:ea typeface="Sarabun"/>
              <a:cs typeface="Sarabun Bold" panose="020B0604020202020204" charset="-34"/>
              <a:sym typeface="Sarabun"/>
            </a:endParaRPr>
          </a:p>
          <a:p>
            <a:pPr algn="ctr">
              <a:lnSpc>
                <a:spcPts val="7200"/>
              </a:lnSpc>
            </a:pPr>
            <a:r>
              <a:rPr lang="en-US" sz="6000" spc="-25" dirty="0">
                <a:solidFill>
                  <a:srgbClr val="FFFFFF"/>
                </a:solidFill>
                <a:latin typeface="Sarabun Bold" panose="020B0604020202020204" charset="-34"/>
                <a:ea typeface="Sarabun"/>
                <a:cs typeface="Sarabun Bold" panose="020B0604020202020204" charset="-34"/>
                <a:sym typeface="Sarabun"/>
              </a:rPr>
              <a:t>Viettel Digital Talent 2025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555509" y="8439150"/>
            <a:ext cx="3829807" cy="1738400"/>
            <a:chOff x="0" y="0"/>
            <a:chExt cx="3135876" cy="1423416"/>
          </a:xfrm>
        </p:grpSpPr>
        <p:sp>
          <p:nvSpPr>
            <p:cNvPr id="16" name="Freeform 16" descr="Graphical user interface  Description automatically generated with low confidence"/>
            <p:cNvSpPr/>
            <p:nvPr/>
          </p:nvSpPr>
          <p:spPr>
            <a:xfrm>
              <a:off x="0" y="0"/>
              <a:ext cx="3135884" cy="1423416"/>
            </a:xfrm>
            <a:custGeom>
              <a:avLst/>
              <a:gdLst/>
              <a:ahLst/>
              <a:cxnLst/>
              <a:rect l="l" t="t" r="r" b="b"/>
              <a:pathLst>
                <a:path w="3135884" h="1423416">
                  <a:moveTo>
                    <a:pt x="0" y="0"/>
                  </a:moveTo>
                  <a:lnTo>
                    <a:pt x="3135884" y="0"/>
                  </a:lnTo>
                  <a:lnTo>
                    <a:pt x="3135884" y="1423416"/>
                  </a:lnTo>
                  <a:lnTo>
                    <a:pt x="0" y="1423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F0C18B-7EA0-89EA-1BC8-F97C4777B567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8636" y="2019300"/>
            <a:ext cx="9317901" cy="1380250"/>
            <a:chOff x="0" y="0"/>
            <a:chExt cx="12423868" cy="18403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23902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4875438" y="2365327"/>
            <a:ext cx="680669" cy="680672"/>
            <a:chOff x="0" y="0"/>
            <a:chExt cx="907558" cy="9075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7542" cy="907542"/>
            </a:xfrm>
            <a:custGeom>
              <a:avLst/>
              <a:gdLst/>
              <a:ahLst/>
              <a:cxnLst/>
              <a:rect l="l" t="t" r="r" b="b"/>
              <a:pathLst>
                <a:path w="907542" h="907542">
                  <a:moveTo>
                    <a:pt x="0" y="0"/>
                  </a:moveTo>
                  <a:lnTo>
                    <a:pt x="907542" y="0"/>
                  </a:lnTo>
                  <a:lnTo>
                    <a:pt x="907542" y="907542"/>
                  </a:lnTo>
                  <a:lnTo>
                    <a:pt x="0" y="90754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35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4202079" y="2187961"/>
            <a:ext cx="1035399" cy="1035401"/>
            <a:chOff x="0" y="0"/>
            <a:chExt cx="1380532" cy="1380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810000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03040" y="341107"/>
            <a:ext cx="1185377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NỘI DUNG CHÍNH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49118" y="2289924"/>
            <a:ext cx="48608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688636" y="3831066"/>
            <a:ext cx="9317901" cy="1380250"/>
            <a:chOff x="0" y="0"/>
            <a:chExt cx="12423868" cy="18403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23902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4875437" y="4177093"/>
            <a:ext cx="680668" cy="680672"/>
            <a:chOff x="0" y="0"/>
            <a:chExt cx="907558" cy="9075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7542" cy="907542"/>
            </a:xfrm>
            <a:custGeom>
              <a:avLst/>
              <a:gdLst/>
              <a:ahLst/>
              <a:cxnLst/>
              <a:rect l="l" t="t" r="r" b="b"/>
              <a:pathLst>
                <a:path w="907542" h="907542">
                  <a:moveTo>
                    <a:pt x="0" y="0"/>
                  </a:moveTo>
                  <a:lnTo>
                    <a:pt x="907542" y="0"/>
                  </a:lnTo>
                  <a:lnTo>
                    <a:pt x="907542" y="907542"/>
                  </a:lnTo>
                  <a:lnTo>
                    <a:pt x="0" y="90754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35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4202078" y="3999727"/>
            <a:ext cx="1035399" cy="1035401"/>
            <a:chOff x="0" y="0"/>
            <a:chExt cx="1380532" cy="13805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449116" y="4101690"/>
            <a:ext cx="48608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4287" y="2427383"/>
            <a:ext cx="7581270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ĐẶT VẤN ĐỀ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13395" y="4263045"/>
            <a:ext cx="7177808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ĐỀ XUẤT GIẢI PHÁP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065100" y="1161662"/>
            <a:ext cx="1623526" cy="68579"/>
            <a:chOff x="0" y="0"/>
            <a:chExt cx="2164702" cy="914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 rot="-23405">
            <a:off x="571182" y="433639"/>
            <a:ext cx="1867610" cy="826392"/>
            <a:chOff x="0" y="0"/>
            <a:chExt cx="2490146" cy="11018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90089" cy="1101852"/>
            </a:xfrm>
            <a:custGeom>
              <a:avLst/>
              <a:gdLst/>
              <a:ahLst/>
              <a:cxnLst/>
              <a:rect l="l" t="t" r="r" b="b"/>
              <a:pathLst>
                <a:path w="2490089" h="1101852">
                  <a:moveTo>
                    <a:pt x="0" y="0"/>
                  </a:moveTo>
                  <a:lnTo>
                    <a:pt x="2490089" y="0"/>
                  </a:lnTo>
                  <a:lnTo>
                    <a:pt x="2490089" y="1101852"/>
                  </a:lnTo>
                  <a:lnTo>
                    <a:pt x="0" y="110185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90146" cy="1101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</a:t>
              </a: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88634" y="5635953"/>
            <a:ext cx="9317901" cy="1380250"/>
            <a:chOff x="0" y="0"/>
            <a:chExt cx="12423868" cy="18403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423902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 rot="-2700000">
            <a:off x="4875435" y="5981980"/>
            <a:ext cx="680669" cy="680672"/>
            <a:chOff x="0" y="0"/>
            <a:chExt cx="907558" cy="90756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07542" cy="907542"/>
            </a:xfrm>
            <a:custGeom>
              <a:avLst/>
              <a:gdLst/>
              <a:ahLst/>
              <a:cxnLst/>
              <a:rect l="l" t="t" r="r" b="b"/>
              <a:pathLst>
                <a:path w="907542" h="907542">
                  <a:moveTo>
                    <a:pt x="0" y="0"/>
                  </a:moveTo>
                  <a:lnTo>
                    <a:pt x="907542" y="0"/>
                  </a:lnTo>
                  <a:lnTo>
                    <a:pt x="907542" y="907542"/>
                  </a:lnTo>
                  <a:lnTo>
                    <a:pt x="0" y="90754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35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2700000">
            <a:off x="4202076" y="5804615"/>
            <a:ext cx="1035399" cy="1035401"/>
            <a:chOff x="0" y="0"/>
            <a:chExt cx="1380532" cy="138053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4449114" y="5906576"/>
            <a:ext cx="48608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13394" y="6067931"/>
            <a:ext cx="7177808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KẾT QUẢ ĐÃ LÀM ĐƯỢC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4609654" y="7514139"/>
            <a:ext cx="9317927" cy="1380267"/>
            <a:chOff x="-105308" y="-61035"/>
            <a:chExt cx="12423903" cy="1840357"/>
          </a:xfrm>
        </p:grpSpPr>
        <p:sp>
          <p:nvSpPr>
            <p:cNvPr id="37" name="Freeform 37"/>
            <p:cNvSpPr/>
            <p:nvPr/>
          </p:nvSpPr>
          <p:spPr>
            <a:xfrm>
              <a:off x="-105308" y="-61035"/>
              <a:ext cx="12423903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 rot="2700000">
            <a:off x="4202076" y="7728577"/>
            <a:ext cx="1035399" cy="1035401"/>
            <a:chOff x="0" y="0"/>
            <a:chExt cx="1380532" cy="138053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4449114" y="7830539"/>
            <a:ext cx="48608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13394" y="7991894"/>
            <a:ext cx="7177808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ĐÁNH GIÁ KẾT QUẢ</a:t>
            </a:r>
          </a:p>
        </p:txBody>
      </p:sp>
      <p:sp>
        <p:nvSpPr>
          <p:cNvPr id="46" name="TextBox 40">
            <a:extLst>
              <a:ext uri="{FF2B5EF4-FFF2-40B4-BE49-F238E27FC236}">
                <a16:creationId xmlns:a16="http://schemas.microsoft.com/office/drawing/2014/main" id="{DEF07250-173E-B81E-52ED-C2D9BC9CFF17}"/>
              </a:ext>
            </a:extLst>
          </p:cNvPr>
          <p:cNvSpPr txBox="1"/>
          <p:nvPr/>
        </p:nvSpPr>
        <p:spPr>
          <a:xfrm>
            <a:off x="4561103" y="8771148"/>
            <a:ext cx="48608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5</a:t>
            </a:r>
          </a:p>
        </p:txBody>
      </p:sp>
      <p:sp>
        <p:nvSpPr>
          <p:cNvPr id="55" name="TextBox 40">
            <a:extLst>
              <a:ext uri="{FF2B5EF4-FFF2-40B4-BE49-F238E27FC236}">
                <a16:creationId xmlns:a16="http://schemas.microsoft.com/office/drawing/2014/main" id="{577DF97E-D005-1A97-2FAF-CAA59948540C}"/>
              </a:ext>
            </a:extLst>
          </p:cNvPr>
          <p:cNvSpPr txBox="1"/>
          <p:nvPr/>
        </p:nvSpPr>
        <p:spPr>
          <a:xfrm>
            <a:off x="4561078" y="8882026"/>
            <a:ext cx="48608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B1A9F0-981E-0A56-4D0A-DFB357812FE9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67600" y="4592067"/>
            <a:ext cx="8048775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ĐẶT VẤN ĐỀ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8"/>
            <a:ext cx="2648361" cy="2229096"/>
            <a:chOff x="0" y="0"/>
            <a:chExt cx="3531148" cy="2972128"/>
          </a:xfrm>
        </p:grpSpPr>
        <p:sp>
          <p:nvSpPr>
            <p:cNvPr id="10" name="Freeform 10"/>
            <p:cNvSpPr/>
            <p:nvPr/>
          </p:nvSpPr>
          <p:spPr>
            <a:xfrm>
              <a:off x="25400" y="25400"/>
              <a:ext cx="3480308" cy="2921381"/>
            </a:xfrm>
            <a:custGeom>
              <a:avLst/>
              <a:gdLst/>
              <a:ahLst/>
              <a:cxnLst/>
              <a:rect l="l" t="t" r="r" b="b"/>
              <a:pathLst>
                <a:path w="3480308" h="2921381">
                  <a:moveTo>
                    <a:pt x="0" y="0"/>
                  </a:moveTo>
                  <a:lnTo>
                    <a:pt x="3480308" y="0"/>
                  </a:lnTo>
                  <a:lnTo>
                    <a:pt x="3480308" y="2921381"/>
                  </a:lnTo>
                  <a:lnTo>
                    <a:pt x="0" y="2921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2972181"/>
            </a:xfrm>
            <a:custGeom>
              <a:avLst/>
              <a:gdLst/>
              <a:ahLst/>
              <a:cxnLst/>
              <a:rect l="l" t="t" r="r" b="b"/>
              <a:pathLst>
                <a:path w="3531108" h="2972181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1430"/>
                    <a:pt x="3531108" y="25400"/>
                  </a:cubicBezTo>
                  <a:lnTo>
                    <a:pt x="3531108" y="2946781"/>
                  </a:lnTo>
                  <a:cubicBezTo>
                    <a:pt x="3531108" y="2960751"/>
                    <a:pt x="3519678" y="2972181"/>
                    <a:pt x="3505708" y="2972181"/>
                  </a:cubicBezTo>
                  <a:lnTo>
                    <a:pt x="25400" y="2972181"/>
                  </a:lnTo>
                  <a:cubicBezTo>
                    <a:pt x="11430" y="2972181"/>
                    <a:pt x="0" y="2960751"/>
                    <a:pt x="0" y="294678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46781"/>
                  </a:lnTo>
                  <a:lnTo>
                    <a:pt x="25400" y="2946781"/>
                  </a:lnTo>
                  <a:lnTo>
                    <a:pt x="25400" y="2921381"/>
                  </a:lnTo>
                  <a:lnTo>
                    <a:pt x="3505708" y="2921381"/>
                  </a:lnTo>
                  <a:lnTo>
                    <a:pt x="3505708" y="2946781"/>
                  </a:lnTo>
                  <a:lnTo>
                    <a:pt x="3480308" y="2946781"/>
                  </a:lnTo>
                  <a:lnTo>
                    <a:pt x="3480308" y="25400"/>
                  </a:lnTo>
                  <a:lnTo>
                    <a:pt x="3505708" y="25400"/>
                  </a:lnTo>
                  <a:lnTo>
                    <a:pt x="35057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2972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01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9688042-4FDE-C8E9-1A30-929840D7344C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5821-95EE-47C2-3C72-E46CD521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C648C7D-E849-9BB4-1308-32AA117AF247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 err="1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Đặt</a:t>
            </a: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4200" b="1" dirty="0" err="1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vấn</a:t>
            </a: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4200" b="1" dirty="0" err="1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đề</a:t>
            </a:r>
            <a:endParaRPr lang="en-US" sz="4200" b="1" dirty="0">
              <a:solidFill>
                <a:srgbClr val="3F3F3F"/>
              </a:solidFill>
              <a:latin typeface="Sarabun Bold"/>
              <a:ea typeface="Sarabun Bold"/>
              <a:cs typeface="Sarabun Bold"/>
              <a:sym typeface="Sarabun Bol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539223A-7438-83B2-9F1A-0A7EB9E31654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5823388-56B7-6987-EE05-75A3366F14D5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A78C41C-B4F1-3B48-8F04-2A77340137CC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1D7062-228D-DF44-A4FC-369345AD3D9D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DBAF904-886D-637C-47D9-CA6955B9D39A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AC0F7F1-4516-2FDC-A183-BB5F6B6F9A54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0EB6492-A214-0B14-95D8-FFD01C0CFE62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DE1348-B3F8-9F66-7A42-DB78FF418565}"/>
              </a:ext>
            </a:extLst>
          </p:cNvPr>
          <p:cNvSpPr txBox="1"/>
          <p:nvPr/>
        </p:nvSpPr>
        <p:spPr>
          <a:xfrm>
            <a:off x="568390" y="1943100"/>
            <a:ext cx="1695761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NetChat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sản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phầm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xây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dựng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trên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cơ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sở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nguồn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mở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Mattermost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.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Đây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nền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tảng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chat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nguồn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mở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tự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triển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khai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vốn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mạnh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về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tuỳ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biến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tích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hợp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quy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trình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làm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việc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doanh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nghiệp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Nền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tảng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này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đóng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vai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trò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môi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trường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dành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nhiệm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vụ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quan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trọng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tích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hợp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chat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kệnh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gọi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thoại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tự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động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quy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trình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tích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hợp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Devops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Sarabun" panose="020B0604020202020204" charset="-34"/>
              <a:cs typeface="Sarabun" panose="020B0604020202020204" charset="-3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Tuy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nhiên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kênh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trao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đổi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ngày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càng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chứa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dữ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liệu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nhạy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cảm</a:t>
            </a:r>
            <a:r>
              <a:rPr lang="en-US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vi-VN" sz="2800" dirty="0">
                <a:solidFill>
                  <a:srgbClr val="FF0000"/>
                </a:solidFill>
                <a:latin typeface="Sarabun" panose="020B0604020202020204" charset="-34"/>
                <a:cs typeface="Sarabun" panose="020B0604020202020204" charset="-34"/>
              </a:rPr>
              <a:t>yêu cầu bảo mật nâng lên mức “người gửi-người nhận” trở thành trọng tâm.</a:t>
            </a:r>
            <a:endParaRPr lang="en-US" sz="2800" dirty="0">
              <a:solidFill>
                <a:srgbClr val="FF0000"/>
              </a:solidFill>
              <a:latin typeface="Sarabun" panose="020B0604020202020204" charset="-34"/>
              <a:cs typeface="Sarabun" panose="020B0604020202020204" charset="-34"/>
            </a:endParaRPr>
          </a:p>
          <a:p>
            <a:endParaRPr lang="en-US" sz="2800" dirty="0">
              <a:latin typeface="Sarabun" panose="020B0604020202020204" charset="-34"/>
              <a:cs typeface="Sarabun" panose="020B0604020202020204" charset="-3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Vậy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nên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cơ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chế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an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toàn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truyền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bên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cạnh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đường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truyền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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Sử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dụng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đầu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cuối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trong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nền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tảng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chat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Mattermost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</a:t>
            </a:r>
          </a:p>
          <a:p>
            <a:endParaRPr lang="en-US" sz="2800" dirty="0">
              <a:latin typeface="Sarabun" panose="020B0604020202020204" charset="-34"/>
              <a:cs typeface="Sarabun" panose="020B0604020202020204" charset="-34"/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Chúng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ta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đưa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ra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câu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1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số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câu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hỏi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Sử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dụng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thuật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toán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giao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thức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như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nào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thiết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lập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cuối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chỉ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những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trong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cuộc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mới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đọc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?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Làm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thế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nào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tìm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kiếm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lưu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trên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server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hoặc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server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chỉ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lưu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bản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?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Làm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sao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giải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mà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vẫn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tốc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độ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ảnh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hưởng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đến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trải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nghiệm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?</a:t>
            </a:r>
          </a:p>
          <a:p>
            <a:endParaRPr lang="en-US" sz="2800" dirty="0">
              <a:latin typeface="Sarabun" panose="020B0604020202020204" charset="-34"/>
              <a:cs typeface="Sarabun" panose="020B0604020202020204" charset="-3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721BE9-DCED-F797-E131-9D226818E49C}"/>
              </a:ext>
            </a:extLst>
          </p:cNvPr>
          <p:cNvGrpSpPr>
            <a:grpSpLocks noChangeAspect="1"/>
          </p:cNvGrpSpPr>
          <p:nvPr/>
        </p:nvGrpSpPr>
        <p:grpSpPr>
          <a:xfrm>
            <a:off x="15971869" y="9588023"/>
            <a:ext cx="1875758" cy="398622"/>
            <a:chOff x="0" y="0"/>
            <a:chExt cx="2501011" cy="531495"/>
          </a:xfrm>
        </p:grpSpPr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F2574059-F3C7-7A8C-07BE-968B0CB52FD5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D355E61-49B5-23C0-95DA-4549897937D7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243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1118" y="4879209"/>
            <a:ext cx="9465281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ĐỀ XUẤT GIẢI PHÁP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9"/>
            <a:ext cx="2648361" cy="2653627"/>
            <a:chOff x="0" y="0"/>
            <a:chExt cx="3531148" cy="3538169"/>
          </a:xfrm>
        </p:grpSpPr>
        <p:sp>
          <p:nvSpPr>
            <p:cNvPr id="10" name="Freeform 10"/>
            <p:cNvSpPr/>
            <p:nvPr/>
          </p:nvSpPr>
          <p:spPr>
            <a:xfrm>
              <a:off x="25400" y="30237"/>
              <a:ext cx="3480308" cy="3477757"/>
            </a:xfrm>
            <a:custGeom>
              <a:avLst/>
              <a:gdLst/>
              <a:ahLst/>
              <a:cxnLst/>
              <a:rect l="l" t="t" r="r" b="b"/>
              <a:pathLst>
                <a:path w="3480308" h="3477757">
                  <a:moveTo>
                    <a:pt x="0" y="0"/>
                  </a:moveTo>
                  <a:lnTo>
                    <a:pt x="3480308" y="0"/>
                  </a:lnTo>
                  <a:lnTo>
                    <a:pt x="3480308" y="3477758"/>
                  </a:lnTo>
                  <a:lnTo>
                    <a:pt x="0" y="3477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3538222"/>
            </a:xfrm>
            <a:custGeom>
              <a:avLst/>
              <a:gdLst/>
              <a:ahLst/>
              <a:cxnLst/>
              <a:rect l="l" t="t" r="r" b="b"/>
              <a:pathLst>
                <a:path w="3531108" h="3538222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3607"/>
                    <a:pt x="3531108" y="30237"/>
                  </a:cubicBezTo>
                  <a:lnTo>
                    <a:pt x="3531108" y="3507995"/>
                  </a:lnTo>
                  <a:cubicBezTo>
                    <a:pt x="3531108" y="3524626"/>
                    <a:pt x="3519678" y="3538222"/>
                    <a:pt x="3505708" y="3538222"/>
                  </a:cubicBezTo>
                  <a:lnTo>
                    <a:pt x="25400" y="3538222"/>
                  </a:lnTo>
                  <a:cubicBezTo>
                    <a:pt x="11430" y="3538222"/>
                    <a:pt x="0" y="3524626"/>
                    <a:pt x="0" y="3507995"/>
                  </a:cubicBezTo>
                  <a:lnTo>
                    <a:pt x="0" y="30237"/>
                  </a:lnTo>
                  <a:cubicBezTo>
                    <a:pt x="0" y="13607"/>
                    <a:pt x="11430" y="0"/>
                    <a:pt x="25400" y="0"/>
                  </a:cubicBezTo>
                  <a:moveTo>
                    <a:pt x="25400" y="60475"/>
                  </a:moveTo>
                  <a:lnTo>
                    <a:pt x="25400" y="30237"/>
                  </a:lnTo>
                  <a:lnTo>
                    <a:pt x="50800" y="30237"/>
                  </a:lnTo>
                  <a:lnTo>
                    <a:pt x="50800" y="3507995"/>
                  </a:lnTo>
                  <a:lnTo>
                    <a:pt x="25400" y="3507995"/>
                  </a:lnTo>
                  <a:lnTo>
                    <a:pt x="25400" y="3477757"/>
                  </a:lnTo>
                  <a:lnTo>
                    <a:pt x="3505708" y="3477757"/>
                  </a:lnTo>
                  <a:lnTo>
                    <a:pt x="3505708" y="3507995"/>
                  </a:lnTo>
                  <a:lnTo>
                    <a:pt x="3480308" y="3507995"/>
                  </a:lnTo>
                  <a:lnTo>
                    <a:pt x="3480308" y="30237"/>
                  </a:lnTo>
                  <a:lnTo>
                    <a:pt x="3505708" y="30237"/>
                  </a:lnTo>
                  <a:lnTo>
                    <a:pt x="3505708" y="60475"/>
                  </a:lnTo>
                  <a:lnTo>
                    <a:pt x="25400" y="60475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353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0EE24F-EC6F-FFCF-877E-D878F61E8B19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GIỚI THIỆU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AD9207-9253-BA65-69BC-F4F1C9755344}"/>
              </a:ext>
            </a:extLst>
          </p:cNvPr>
          <p:cNvSpPr txBox="1"/>
          <p:nvPr/>
        </p:nvSpPr>
        <p:spPr>
          <a:xfrm>
            <a:off x="568390" y="1943100"/>
            <a:ext cx="1735031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cuối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trong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hệ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thống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chat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bài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toán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quan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trọng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trong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việc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tính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bí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mật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</a:t>
            </a:r>
          </a:p>
          <a:p>
            <a:pPr marL="285750" indent="-285750">
              <a:buFontTx/>
              <a:buChar char="-"/>
            </a:pP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Đây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quá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trình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trước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ở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dạng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trong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suốt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quá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trình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truyền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nhận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sẽ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giải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.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Điều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này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chỉ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có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những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ở 2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có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thể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đọc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Về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cơ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bản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cuối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3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yếu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tố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Tính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bí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mật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: E2EE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có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thứ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3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có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thể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đọc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Tính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toàn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vẹn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: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thể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bị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thay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đổi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bị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phát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Tính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xác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: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xác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chính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xác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do A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chứ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phải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B.</a:t>
            </a:r>
          </a:p>
        </p:txBody>
      </p:sp>
      <p:pic>
        <p:nvPicPr>
          <p:cNvPr id="17" name="Picture 1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91BB8EB3-8995-66F7-6073-AA8FBF768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84" y="5143500"/>
            <a:ext cx="5595085" cy="4745693"/>
          </a:xfrm>
          <a:prstGeom prst="rect">
            <a:avLst/>
          </a:prstGeom>
        </p:spPr>
      </p:pic>
      <p:pic>
        <p:nvPicPr>
          <p:cNvPr id="1026" name="Picture 2" descr="Qtox End To End Encryption Hoolicanvas - vrogue.co">
            <a:extLst>
              <a:ext uri="{FF2B5EF4-FFF2-40B4-BE49-F238E27FC236}">
                <a16:creationId xmlns:a16="http://schemas.microsoft.com/office/drawing/2014/main" id="{3438357F-DB95-0401-7410-3D24778AF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085138"/>
            <a:ext cx="8794827" cy="494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97D602-CA4E-1CD4-94AA-D8E89CDA29A7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886C-947D-8A76-3136-111F7E86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86E877D-8D34-5566-D882-F83BDEE0DB56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87A18DD-C36A-DAC2-A2B2-E6CB2507FD8E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7ADDA54-2F4D-39F3-0F01-9CA4C0E33BB8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978B74D-A067-1E27-B509-A49416D89B0A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B891768-856D-654D-D6EA-C5F320AD3BED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6217F55-AFC8-10C2-425A-66FDBC6EACFA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D3D152-5496-DEF5-90D9-11FD40D9432D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339BCAC-B2A0-11E7-A5C2-5EC9F7625339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E399ED5-925B-B5A0-8A57-A372302746CF}"/>
              </a:ext>
            </a:extLst>
          </p:cNvPr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Cách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WhatsApp, Messenger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triển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khai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E2EE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1B777-90CF-748B-FDB0-0F3DFFA906F4}"/>
              </a:ext>
            </a:extLst>
          </p:cNvPr>
          <p:cNvSpPr txBox="1"/>
          <p:nvPr/>
        </p:nvSpPr>
        <p:spPr>
          <a:xfrm>
            <a:off x="736983" y="1714500"/>
            <a:ext cx="171817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arabun" panose="020B0604020202020204" charset="-34"/>
                <a:cs typeface="Sarabun" panose="020B0604020202020204" charset="-34"/>
              </a:rPr>
              <a:t>Signal Protocol</a:t>
            </a:r>
          </a:p>
          <a:p>
            <a:pPr marL="457200" indent="-457200">
              <a:buFontTx/>
              <a:buChar char="-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Giao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thức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Signal Protocol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sử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dụng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số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khái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niệm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phục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vụ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việc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xây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dựng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giao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tiếp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Curve25519: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đường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cong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Elliptic,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phục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vụ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số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thuật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toán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như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X25519, Ed25519.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Prekeys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Mỗi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đăng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ký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loại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Identity Keys (IK):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dài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hạn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.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này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sẽ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duy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trì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thiết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bị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Signed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Prekeys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trung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hạn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thay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đổi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khoảng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gian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định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kỳ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One Time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Prekeys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1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lần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sẽ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xóa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yêu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cầu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tạo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. (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bắt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buộc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Diffie Hellman Key Agreement: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Cơ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chế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trao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đổi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bất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đối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xứng</a:t>
            </a:r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Extended Triple Diffie Hellman Key Agreement: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Mở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rộng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DH,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bổ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sung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cơ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chế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bắt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tay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trong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hai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không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online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HMAC SHA256: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Thuật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toán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băm</a:t>
            </a:r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Double Ratchet: “ratchet”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thuật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ngữ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chỉ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thiết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bị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cơ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học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chỉ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có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thể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di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chuyển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theo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1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hướng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, Double Ratchet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sử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dụng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2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thuật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toán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ratchet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 symmetric-key ratchet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Diffie-Hellman ratchet.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Symmetric-key ratchet: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backward secrecy.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Diffie-Hellman ratchet: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Đảm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bảo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forward secrecy.</a:t>
            </a:r>
          </a:p>
        </p:txBody>
      </p:sp>
      <p:pic>
        <p:nvPicPr>
          <p:cNvPr id="2050" name="Picture 2" descr="text">
            <a:extLst>
              <a:ext uri="{FF2B5EF4-FFF2-40B4-BE49-F238E27FC236}">
                <a16:creationId xmlns:a16="http://schemas.microsoft.com/office/drawing/2014/main" id="{F687C738-0776-F338-1B06-5F4590D35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6263268"/>
            <a:ext cx="6019800" cy="443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ext">
            <a:extLst>
              <a:ext uri="{FF2B5EF4-FFF2-40B4-BE49-F238E27FC236}">
                <a16:creationId xmlns:a16="http://schemas.microsoft.com/office/drawing/2014/main" id="{D969C40B-88C5-6393-C012-84B0217C6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062" y="6299093"/>
            <a:ext cx="4825617" cy="413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E8C1D09-042C-3B52-3094-2E4B2CC0494F}"/>
              </a:ext>
            </a:extLst>
          </p:cNvPr>
          <p:cNvGrpSpPr>
            <a:grpSpLocks noChangeAspect="1"/>
          </p:cNvGrpSpPr>
          <p:nvPr/>
        </p:nvGrpSpPr>
        <p:grpSpPr>
          <a:xfrm>
            <a:off x="16306800" y="9715500"/>
            <a:ext cx="1875758" cy="398622"/>
            <a:chOff x="0" y="0"/>
            <a:chExt cx="2501011" cy="531495"/>
          </a:xfrm>
        </p:grpSpPr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6E45821B-0A3B-4FBA-B7BD-E151B302CE32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12933CC-9B2D-7BC8-31C8-D66E2002D14C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5056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4839-D47B-1DD4-B615-C70A1E5F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CF89679-4088-2D4E-448F-3E35B4B04FE7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E88F425-2903-9A10-3410-6ECB5055DFA7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138CD4-7A56-B524-A6F6-285EA30DAEF9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0B104B2-78D6-83D9-2372-DFC453D6ABF0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385FEE7-19C2-D522-1CBA-704277E71EEA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D997797-EEE2-6113-8C71-74498D0279E0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EEA4C1C-C263-A391-2BF5-147A312B5F41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E22C6C1-53A1-39AD-3E44-CEF1E6A36F75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38FDAB9-6891-4345-4AFF-32F415A7979C}"/>
              </a:ext>
            </a:extLst>
          </p:cNvPr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Cách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WhatsApp, Messenger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triển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khai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E2EE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781A8-115B-69F0-92BD-ECA29E1EDC02}"/>
              </a:ext>
            </a:extLst>
          </p:cNvPr>
          <p:cNvSpPr txBox="1"/>
          <p:nvPr/>
        </p:nvSpPr>
        <p:spPr>
          <a:xfrm>
            <a:off x="736983" y="1714500"/>
            <a:ext cx="17181726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arabun" panose="020B0604020202020204" charset="-34"/>
                <a:cs typeface="Sarabun" panose="020B0604020202020204" charset="-34"/>
              </a:rPr>
              <a:t>Signal Protocol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Các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bước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hoạt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động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Signal Protocol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như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Publishing Keys</a:t>
            </a:r>
            <a:r>
              <a:rPr lang="en-US" sz="2400" b="1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Mỗi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đăng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ký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cặp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IK, SPK, OPKs,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công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khai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IK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chỉ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server 1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lần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(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hoặc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tới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thiết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bị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tải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lại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hoặc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làm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mới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SPK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Sign(Encode(SPK), IK) (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chữ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ký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ký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bởi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IK)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thay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đổi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định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kỳ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OPKs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upload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mỗi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số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lượng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thấp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457200" indent="-457200">
              <a:buAutoNum type="arabicPeriod" startAt="2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tiến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hành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X3DH,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lấy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kia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thông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qua server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đó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sinh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bằng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mình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đối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phương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chứa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bản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thân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cũng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như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bí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sinh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ra.</a:t>
            </a:r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pPr marL="457200" indent="-457200">
              <a:buAutoNum type="arabicPeriod" startAt="3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Nhận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Phía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nhận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giải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chứa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lưu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lại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tiến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hành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giải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dựa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vào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phiên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thiết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lập</a:t>
            </a:r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Sarabun" panose="020B0604020202020204" charset="-34"/>
              <a:cs typeface="Sarabun" panose="020B060402020202020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33859-8909-D323-8C1B-E0346E17D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1817" y="5630688"/>
            <a:ext cx="5029200" cy="247371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4D1C367-ECCA-4CF9-5B87-38B833FC38FE}"/>
              </a:ext>
            </a:extLst>
          </p:cNvPr>
          <p:cNvGrpSpPr>
            <a:grpSpLocks noChangeAspect="1"/>
          </p:cNvGrpSpPr>
          <p:nvPr/>
        </p:nvGrpSpPr>
        <p:grpSpPr>
          <a:xfrm>
            <a:off x="16083894" y="9732823"/>
            <a:ext cx="1875758" cy="398622"/>
            <a:chOff x="0" y="0"/>
            <a:chExt cx="2501011" cy="531495"/>
          </a:xfrm>
        </p:grpSpPr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3D9D74DE-AFF7-9A80-ABA7-83DFDFEFE2BA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95EF830-C59B-2CB8-B137-AE1BC532BBD8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5546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1835-4FA7-35CA-46DA-88F7FD16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FC5CDDC-67A8-897F-355A-C273DD4E73E7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165D1DF-D881-2CB3-CCA5-CD3D6C2D7055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178A8B-0865-6929-E305-BD5D2D11A8D7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0111937-29F0-69CD-6694-B83FC6E0EEF0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A29A1B-B7F8-9B7A-7DBB-ADCAA15D7213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D72B7F3-28ED-FADA-71B6-DA70A55E5DD4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1D74713-F47C-E654-2C0B-D079F3A64986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D13E2BE-EF3E-C915-AE2F-44C0F8CC44E1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5353289-F840-936B-0977-37C8D75D0873}"/>
              </a:ext>
            </a:extLst>
          </p:cNvPr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Double Ratchet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E970E3-EC52-5096-5199-9DB3BB831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1621437"/>
            <a:ext cx="5640669" cy="77585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78370C-C9EA-1D0C-2E71-4ED7B4CA98DD}"/>
              </a:ext>
            </a:extLst>
          </p:cNvPr>
          <p:cNvSpPr txBox="1"/>
          <p:nvPr/>
        </p:nvSpPr>
        <p:spPr>
          <a:xfrm>
            <a:off x="568390" y="1943100"/>
            <a:ext cx="872801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Adam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muốn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Bud: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Adam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lấy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Public Key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Bud,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qua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hàm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Diffie Hellman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sinh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ra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Sending Chain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Ở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phía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Bud,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sau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nhận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tiên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giải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lấy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Public Key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Adam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cùng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với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Private Key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mình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qua DH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sinh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Receiving Chain (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bằng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với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Sending Chain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Adam).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Lần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tơi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nếu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Bud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thì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lấy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sinh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ra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cặp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Public, Private Key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mới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kết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hợp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với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Public Key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từ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Adam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sinh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ra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Sending Chain</a:t>
            </a:r>
          </a:p>
          <a:p>
            <a:pPr marL="342900" indent="-342900">
              <a:buFont typeface="+mj-lt"/>
              <a:buAutoNum type="arabicPeriod"/>
            </a:pPr>
            <a:endParaRPr lang="en-US" sz="2600" dirty="0">
              <a:latin typeface="Sarabun" panose="020B0604020202020204" charset="-34"/>
              <a:cs typeface="Sarabun" panose="020B0604020202020204" charset="-34"/>
            </a:endParaRPr>
          </a:p>
          <a:p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Các Sending, Receiving Chain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này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sẽ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qua Symmetric-key Ratchet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sinh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Message Key,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phục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vụ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giải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ACD157-2D32-2CD9-70EE-2DC2F5AF6E29}"/>
              </a:ext>
            </a:extLst>
          </p:cNvPr>
          <p:cNvGrpSpPr>
            <a:grpSpLocks noChangeAspect="1"/>
          </p:cNvGrpSpPr>
          <p:nvPr/>
        </p:nvGrpSpPr>
        <p:grpSpPr>
          <a:xfrm>
            <a:off x="16230600" y="9749557"/>
            <a:ext cx="1875758" cy="398622"/>
            <a:chOff x="0" y="0"/>
            <a:chExt cx="2501011" cy="531495"/>
          </a:xfrm>
        </p:grpSpPr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2A0926F9-563F-D427-22D8-3C4C66333347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F1F0FBD-4411-839A-BDF7-84CDEE85C864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180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40DB-A854-E700-A3B1-209567A7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D3E4CE8-5464-5B65-C332-E519D57FB703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HƯỚNG TRIỂN KHAI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1F66147-95B1-2CAF-0567-040D36AE453C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292F9D-380E-A633-345F-22AAD6468978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E98190C-B96F-DFAA-8341-2DBFF91B3177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19255DE-01B1-E201-A10A-9598C1475792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20EF5F2-B3C5-7F21-F4CD-23349F83ACEF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5DD3C44-54CB-5103-6C5B-3BA48B57DAB6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95337EB-FFEF-A5AC-981E-EC162FE6EBA0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78ED339-74A2-9A98-7882-1040FDADFFCC}"/>
              </a:ext>
            </a:extLst>
          </p:cNvPr>
          <p:cNvSpPr txBox="1"/>
          <p:nvPr/>
        </p:nvSpPr>
        <p:spPr>
          <a:xfrm>
            <a:off x="568390" y="1943100"/>
            <a:ext cx="1695761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Đăng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ký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b="1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600" b="1" dirty="0">
                <a:latin typeface="Sarabun" panose="020B0604020202020204" charset="-34"/>
                <a:cs typeface="Sarabun" panose="020B0604020202020204" charset="-34"/>
              </a:rPr>
              <a:t> + Upload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Mỗi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đăng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nhập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dùng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kiểm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thiết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bị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đã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đăng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ký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chưa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(Lưu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trên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IndexedDB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),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nếu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chưa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đăng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ký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và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upload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lên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server.</a:t>
            </a:r>
          </a:p>
          <a:p>
            <a:pPr marL="342900" indent="-342900">
              <a:buFontTx/>
              <a:buChar char="-"/>
            </a:pP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Lần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tiên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một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đối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tượng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gọi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API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lấy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đối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phương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tạo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khóa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bí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mật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thiết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,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cho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họ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theo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hình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thức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đầu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600" dirty="0" err="1">
                <a:latin typeface="Sarabun" panose="020B0604020202020204" charset="-34"/>
                <a:cs typeface="Sarabun" panose="020B0604020202020204" charset="-34"/>
              </a:rPr>
              <a:t>tiên</a:t>
            </a:r>
            <a:r>
              <a:rPr lang="en-US" sz="26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F0F8D9B-301A-8A5F-0A5D-A37C0E67A5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9B523A-77B5-6CB3-B201-77C248A13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4" y="4573227"/>
            <a:ext cx="5420126" cy="4488915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9ACF5D-2D2D-35B0-0D28-7B6516161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5520008"/>
            <a:ext cx="10256869" cy="259535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A0C7A07-6023-AFA7-A5C5-9CA703B75ADA}"/>
              </a:ext>
            </a:extLst>
          </p:cNvPr>
          <p:cNvGrpSpPr>
            <a:grpSpLocks noChangeAspect="1"/>
          </p:cNvGrpSpPr>
          <p:nvPr/>
        </p:nvGrpSpPr>
        <p:grpSpPr>
          <a:xfrm>
            <a:off x="16230600" y="9715500"/>
            <a:ext cx="1875758" cy="398622"/>
            <a:chOff x="0" y="0"/>
            <a:chExt cx="2501011" cy="531495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F7D49B04-B5CA-D61B-F12A-EABA72EB02ED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E8A3C81-AA35-B16E-6527-5FB67B437AB5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36629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HƯỚNG TRIỂN KHAI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21F38DA-749B-58C2-C057-6FF7F74CB0EC}"/>
              </a:ext>
            </a:extLst>
          </p:cNvPr>
          <p:cNvSpPr txBox="1"/>
          <p:nvPr/>
        </p:nvSpPr>
        <p:spPr>
          <a:xfrm>
            <a:off x="568390" y="1403441"/>
            <a:ext cx="1726241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400" b="1" dirty="0">
                <a:latin typeface="Sarabun" panose="020B0604020202020204" charset="-34"/>
                <a:cs typeface="Sarabun" panose="020B0604020202020204" charset="-34"/>
              </a:rPr>
              <a:t> tin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Mattermost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đang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triển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khai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dưới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dạng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</a:rPr>
              <a:t> channel 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 Coi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mỗi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Channel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1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tiến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hành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trước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  Sender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nhóm</a:t>
            </a:r>
            <a:endParaRPr lang="en-US" sz="2400" dirty="0">
              <a:latin typeface="Sarabun" panose="020B0604020202020204" charset="-34"/>
              <a:cs typeface="Sarabun" panose="020B0604020202020204" charset="-34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Tạo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kế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thừa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từ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1-1. Khi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muốn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message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1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, Sender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được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sinh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ra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phân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phối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tới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mọi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khác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trong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một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cách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bí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thông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qua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1-1.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Quá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trình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diễn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ra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như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sau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Sinh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sinh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ngẫu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Chain Key 32 Bytes.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sinh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ngẫu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cặp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Signature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thông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qua Curve25519.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Kết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hợp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32 bytes Chain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và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Public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của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cặp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Signature Key  Sender Key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Sender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từng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thông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qua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như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1-1.</a:t>
            </a:r>
          </a:p>
          <a:p>
            <a:pPr marL="514350" indent="-514350">
              <a:buAutoNum type="arabicPeriod" startAt="2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lấy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Message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từ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Chain Key,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cập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Chain Key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mới</a:t>
            </a:r>
            <a:endParaRPr lang="en-US" sz="2400" dirty="0">
              <a:latin typeface="Sarabun" panose="020B0604020202020204" charset="-34"/>
              <a:cs typeface="Sarabun" panose="020B0604020202020204" charset="-34"/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sử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dụng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thuật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toán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AES-256.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Ký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sử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dụng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Signature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lên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server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để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server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thực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hiện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fan-out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đến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mọi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dùng</a:t>
            </a:r>
            <a:r>
              <a:rPr lang="en-US" sz="24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Sarabun" panose="020B0604020202020204" charset="-34"/>
              <a:cs typeface="Sarabun" panose="020B0604020202020204" charset="-34"/>
              <a:sym typeface="Wingdings" panose="05000000000000000000" pitchFamily="2" charset="2"/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4C157EF2-78FE-6550-E6CA-6254FE938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600" y="3003731"/>
            <a:ext cx="4607700" cy="3532261"/>
          </a:xfrm>
          <a:prstGeom prst="rect">
            <a:avLst/>
          </a:prstGeom>
        </p:spPr>
      </p:pic>
      <p:pic>
        <p:nvPicPr>
          <p:cNvPr id="17" name="Picture 16" descr="A diagram of a server&#10;&#10;AI-generated content may be incorrect.">
            <a:extLst>
              <a:ext uri="{FF2B5EF4-FFF2-40B4-BE49-F238E27FC236}">
                <a16:creationId xmlns:a16="http://schemas.microsoft.com/office/drawing/2014/main" id="{F91EC0BC-9EAC-86E0-C0A5-4C51DE6CC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121" y="6535992"/>
            <a:ext cx="6400800" cy="372825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ECCAF24-B77D-EA1B-9109-2AF25BFAACDC}"/>
              </a:ext>
            </a:extLst>
          </p:cNvPr>
          <p:cNvGrpSpPr>
            <a:grpSpLocks noChangeAspect="1"/>
          </p:cNvGrpSpPr>
          <p:nvPr/>
        </p:nvGrpSpPr>
        <p:grpSpPr>
          <a:xfrm>
            <a:off x="16230600" y="9794837"/>
            <a:ext cx="1875758" cy="398622"/>
            <a:chOff x="0" y="0"/>
            <a:chExt cx="2501011" cy="531495"/>
          </a:xfrm>
        </p:grpSpPr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06A03D2B-0934-4B7A-839B-45AD82F95B45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F09237-F872-1D79-4E9A-CE926676A9F8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2071-BCAF-7348-870D-8D1281FA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C81189-29E6-CDED-28B4-42CB4B0185F4}"/>
              </a:ext>
            </a:extLst>
          </p:cNvPr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40FAFF-1CE6-A74F-E9AB-659D96ADE749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5872C12-A888-B855-F8FF-B1C3961B3091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HƯỚNG TRIỂN KHAI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8A10E5C-1603-AD56-C78A-EEF398BC4935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288ECF-BBD5-2A5E-14B4-A0E3F1B2E21C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891D2B7-5A32-9ED9-85AB-4F58314F4192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8F9171-6A0B-9944-3ADA-7FEC3E854B95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979BCB7-8AA2-4DCD-3E02-BF0FD51AD6F3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1FB7820-4D2C-FAF0-AC29-BB7522AD4ACC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24FF415-287A-5F0B-1D57-7B0A85D52777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156A1E-D241-86D1-836E-42A19F84D81A}"/>
              </a:ext>
            </a:extLst>
          </p:cNvPr>
          <p:cNvSpPr txBox="1"/>
          <p:nvPr/>
        </p:nvSpPr>
        <p:spPr>
          <a:xfrm>
            <a:off x="550193" y="1943100"/>
            <a:ext cx="172624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Lưu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trữ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+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tìm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kiếm</a:t>
            </a:r>
            <a:endParaRPr lang="en-US" sz="2800" b="1" dirty="0">
              <a:latin typeface="Sarabun" panose="020B0604020202020204" charset="-34"/>
              <a:cs typeface="Sarabun" panose="020B0604020202020204" charset="-34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giải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+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lưu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vào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IndexedDB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phía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dùng</a:t>
            </a:r>
            <a:endParaRPr lang="en-US" sz="2800" dirty="0">
              <a:latin typeface="Sarabun" panose="020B0604020202020204" charset="-34"/>
              <a:cs typeface="Sarabun" panose="020B0604020202020204" charset="-34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Các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truy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cập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sau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sẽ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lấy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về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+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giải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(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tế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cũng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giải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được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).</a:t>
            </a:r>
          </a:p>
          <a:p>
            <a:pPr marL="285750" indent="-285750"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Việc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lưu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sẽ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phép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tìm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kiếm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phía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18" name="Picture 1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30084A1-AC07-BE9B-782D-FCEC8B1FB7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760" y="4054278"/>
            <a:ext cx="12023799" cy="57806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235D54-57A8-EADC-6296-2A0E612459EB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6804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1118" y="4879209"/>
            <a:ext cx="9770081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KẾT QUẢ ĐÃ LÀM ĐƯỢC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9"/>
            <a:ext cx="2648361" cy="2653627"/>
            <a:chOff x="0" y="0"/>
            <a:chExt cx="3531148" cy="3538169"/>
          </a:xfrm>
        </p:grpSpPr>
        <p:sp>
          <p:nvSpPr>
            <p:cNvPr id="10" name="Freeform 10"/>
            <p:cNvSpPr/>
            <p:nvPr/>
          </p:nvSpPr>
          <p:spPr>
            <a:xfrm>
              <a:off x="25400" y="30237"/>
              <a:ext cx="3480308" cy="3477757"/>
            </a:xfrm>
            <a:custGeom>
              <a:avLst/>
              <a:gdLst/>
              <a:ahLst/>
              <a:cxnLst/>
              <a:rect l="l" t="t" r="r" b="b"/>
              <a:pathLst>
                <a:path w="3480308" h="3477757">
                  <a:moveTo>
                    <a:pt x="0" y="0"/>
                  </a:moveTo>
                  <a:lnTo>
                    <a:pt x="3480308" y="0"/>
                  </a:lnTo>
                  <a:lnTo>
                    <a:pt x="3480308" y="3477758"/>
                  </a:lnTo>
                  <a:lnTo>
                    <a:pt x="0" y="3477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3538222"/>
            </a:xfrm>
            <a:custGeom>
              <a:avLst/>
              <a:gdLst/>
              <a:ahLst/>
              <a:cxnLst/>
              <a:rect l="l" t="t" r="r" b="b"/>
              <a:pathLst>
                <a:path w="3531108" h="3538222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3607"/>
                    <a:pt x="3531108" y="30237"/>
                  </a:cubicBezTo>
                  <a:lnTo>
                    <a:pt x="3531108" y="3507995"/>
                  </a:lnTo>
                  <a:cubicBezTo>
                    <a:pt x="3531108" y="3524626"/>
                    <a:pt x="3519678" y="3538222"/>
                    <a:pt x="3505708" y="3538222"/>
                  </a:cubicBezTo>
                  <a:lnTo>
                    <a:pt x="25400" y="3538222"/>
                  </a:lnTo>
                  <a:cubicBezTo>
                    <a:pt x="11430" y="3538222"/>
                    <a:pt x="0" y="3524626"/>
                    <a:pt x="0" y="3507995"/>
                  </a:cubicBezTo>
                  <a:lnTo>
                    <a:pt x="0" y="30237"/>
                  </a:lnTo>
                  <a:cubicBezTo>
                    <a:pt x="0" y="13607"/>
                    <a:pt x="11430" y="0"/>
                    <a:pt x="25400" y="0"/>
                  </a:cubicBezTo>
                  <a:moveTo>
                    <a:pt x="25400" y="60475"/>
                  </a:moveTo>
                  <a:lnTo>
                    <a:pt x="25400" y="30237"/>
                  </a:lnTo>
                  <a:lnTo>
                    <a:pt x="50800" y="30237"/>
                  </a:lnTo>
                  <a:lnTo>
                    <a:pt x="50800" y="3507995"/>
                  </a:lnTo>
                  <a:lnTo>
                    <a:pt x="25400" y="3507995"/>
                  </a:lnTo>
                  <a:lnTo>
                    <a:pt x="25400" y="3477757"/>
                  </a:lnTo>
                  <a:lnTo>
                    <a:pt x="3505708" y="3477757"/>
                  </a:lnTo>
                  <a:lnTo>
                    <a:pt x="3505708" y="3507995"/>
                  </a:lnTo>
                  <a:lnTo>
                    <a:pt x="3480308" y="3507995"/>
                  </a:lnTo>
                  <a:lnTo>
                    <a:pt x="3480308" y="30237"/>
                  </a:lnTo>
                  <a:lnTo>
                    <a:pt x="3505708" y="30237"/>
                  </a:lnTo>
                  <a:lnTo>
                    <a:pt x="3505708" y="60475"/>
                  </a:lnTo>
                  <a:lnTo>
                    <a:pt x="25400" y="60475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353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03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8193A88-5B8B-7412-0372-F4FC7914262E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4E14-B1B5-137C-7EE0-4DE60B56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31A226-4ADC-F8F3-5AD3-BD06683BF977}"/>
              </a:ext>
            </a:extLst>
          </p:cNvPr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122F10A-EB76-293C-F18B-8D66C16A989D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BD42E94-840B-0BC2-A1AE-FD41509D8D73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KẾT QUẢ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D37E7FB-54CD-2472-D38E-7F2B32A2B3F6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3B216D-4AAF-A57A-35BE-CCABD3FDFE50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248F5C3-5BCE-4220-FC60-9D17A037EE85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D2EBBD-014F-94D5-9535-3E4D121A968A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22318FF-4EE2-64B2-1F4D-49B75C334B0A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13EDD9D-B12C-B0B1-9FF2-AC4A60883D1F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3BFAAAC-1334-BFF6-B456-83519E75F0C8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3</a:t>
              </a: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B74FECF-9ADA-4833-AB08-44F305BBF980}"/>
              </a:ext>
            </a:extLst>
          </p:cNvPr>
          <p:cNvSpPr txBox="1"/>
          <p:nvPr/>
        </p:nvSpPr>
        <p:spPr>
          <a:xfrm>
            <a:off x="152400" y="1660557"/>
            <a:ext cx="17754600" cy="8077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7071" lvl="1" indent="-438536" algn="l">
              <a:lnSpc>
                <a:spcPts val="4874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Triển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khai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sinh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khóa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người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dùng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upload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các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khóa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công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khai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lên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phía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server: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Đăng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ký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3 API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phục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vụ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xoay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quanh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việc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upload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+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người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dùng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khác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về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phục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vụ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việc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tạo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session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Mỗi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đăng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nhập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kiểm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đăng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ký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upload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lên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server (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nếu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).</a:t>
            </a:r>
          </a:p>
          <a:p>
            <a:pPr marL="438535" lvl="1" algn="l">
              <a:lnSpc>
                <a:spcPts val="4874"/>
              </a:lnSpc>
            </a:pPr>
            <a:endParaRPr lang="en-US" sz="2400" dirty="0">
              <a:solidFill>
                <a:srgbClr val="000000"/>
              </a:solidFill>
              <a:latin typeface="Sarabun" panose="020B0604020202020204" charset="-34"/>
              <a:ea typeface="Sarabun"/>
              <a:cs typeface="Sarabun" panose="020B0604020202020204" charset="-34"/>
              <a:sym typeface="Sarabun"/>
            </a:endParaRPr>
          </a:p>
          <a:p>
            <a:pPr marL="895735" lvl="1" indent="-457200" algn="l">
              <a:lnSpc>
                <a:spcPts val="4874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Tạo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phiên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giải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mã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mã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hóa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: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Khi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gửi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đầu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tiên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thực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người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dùng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kia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về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tạo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thiết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Sử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Sender Key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bản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thân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hóa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truyền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Với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nhận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đang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online (qua WebSocket),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thực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giải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trực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tiếp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indexedDB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render UI.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Với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chưa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đọc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thông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qua API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hoặc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trong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một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trường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hợp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scroll up/down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thì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sẽ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giải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lần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lượt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indexedDB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đảm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bảo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giải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1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lần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duy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nhất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(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có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thể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tính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đến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việc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xóa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khỏi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DB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phía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server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tránh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xét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2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lần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).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endParaRPr lang="en-US" sz="2400" dirty="0">
              <a:solidFill>
                <a:srgbClr val="000000"/>
              </a:solidFill>
              <a:latin typeface="Sarabun" panose="020B0604020202020204" charset="-34"/>
              <a:ea typeface="Sarabun"/>
              <a:cs typeface="Sarabun" panose="020B0604020202020204" charset="-34"/>
              <a:sym typeface="Sarabun"/>
            </a:endParaRPr>
          </a:p>
          <a:p>
            <a:pPr marL="781435" lvl="1" indent="-342900" algn="l">
              <a:lnSpc>
                <a:spcPts val="4874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Lưu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trữ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+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Tìm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kiếm</a:t>
            </a:r>
            <a:r>
              <a:rPr lang="en-US" sz="2400" b="1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:</a:t>
            </a:r>
          </a:p>
          <a:p>
            <a:pPr marL="781435" lvl="1" indent="-3429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Sử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thư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viện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Dexie + Mini search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phục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vụ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trữ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trên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indexedDB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đánh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mục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kiếm</a:t>
            </a:r>
            <a:r>
              <a:rPr lang="en-US" sz="2400" dirty="0">
                <a:solidFill>
                  <a:srgbClr val="000000"/>
                </a:solidFill>
                <a:latin typeface="Sarabun" panose="020B0604020202020204" charset="-34"/>
                <a:ea typeface="Sarabun"/>
                <a:cs typeface="Sarabun" panose="020B0604020202020204" charset="-34"/>
                <a:sym typeface="Sarabun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EA701D-5339-71C5-56A2-3458531B254F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7537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KẾT QUẢ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3</a:t>
              </a:r>
            </a:p>
          </p:txBody>
        </p:sp>
      </p:grpSp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95302432-79F1-F532-4A45-CCB5EB259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03" y="3565634"/>
            <a:ext cx="6473145" cy="22750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AA409C-E7A3-72CC-E246-F94770517092}"/>
              </a:ext>
            </a:extLst>
          </p:cNvPr>
          <p:cNvSpPr txBox="1"/>
          <p:nvPr/>
        </p:nvSpPr>
        <p:spPr>
          <a:xfrm>
            <a:off x="2743200" y="7689857"/>
            <a:ext cx="1575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DCFB1-3294-FEBA-706E-1894B8522C0B}"/>
              </a:ext>
            </a:extLst>
          </p:cNvPr>
          <p:cNvSpPr txBox="1"/>
          <p:nvPr/>
        </p:nvSpPr>
        <p:spPr>
          <a:xfrm>
            <a:off x="10439400" y="7518341"/>
            <a:ext cx="7058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B59B5CF-AB41-384F-9CE0-B4503C1DCDB1}"/>
              </a:ext>
            </a:extLst>
          </p:cNvPr>
          <p:cNvSpPr/>
          <p:nvPr/>
        </p:nvSpPr>
        <p:spPr>
          <a:xfrm>
            <a:off x="7777731" y="4468092"/>
            <a:ext cx="1905000" cy="4701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9567A8-FEB5-FD49-1695-14F88E90F1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42" y="2699661"/>
            <a:ext cx="7367692" cy="48186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2C651F-922A-6F8E-9741-938FE6627A09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1118" y="4879209"/>
            <a:ext cx="7941281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ĐÁNH GIÁ KẾT QUẢ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9"/>
            <a:ext cx="2648361" cy="2653627"/>
            <a:chOff x="0" y="0"/>
            <a:chExt cx="3531148" cy="3538169"/>
          </a:xfrm>
        </p:grpSpPr>
        <p:sp>
          <p:nvSpPr>
            <p:cNvPr id="10" name="Freeform 10"/>
            <p:cNvSpPr/>
            <p:nvPr/>
          </p:nvSpPr>
          <p:spPr>
            <a:xfrm>
              <a:off x="25400" y="30237"/>
              <a:ext cx="3480308" cy="3477757"/>
            </a:xfrm>
            <a:custGeom>
              <a:avLst/>
              <a:gdLst/>
              <a:ahLst/>
              <a:cxnLst/>
              <a:rect l="l" t="t" r="r" b="b"/>
              <a:pathLst>
                <a:path w="3480308" h="3477757">
                  <a:moveTo>
                    <a:pt x="0" y="0"/>
                  </a:moveTo>
                  <a:lnTo>
                    <a:pt x="3480308" y="0"/>
                  </a:lnTo>
                  <a:lnTo>
                    <a:pt x="3480308" y="3477758"/>
                  </a:lnTo>
                  <a:lnTo>
                    <a:pt x="0" y="3477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3538222"/>
            </a:xfrm>
            <a:custGeom>
              <a:avLst/>
              <a:gdLst/>
              <a:ahLst/>
              <a:cxnLst/>
              <a:rect l="l" t="t" r="r" b="b"/>
              <a:pathLst>
                <a:path w="3531108" h="3538222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3607"/>
                    <a:pt x="3531108" y="30237"/>
                  </a:cubicBezTo>
                  <a:lnTo>
                    <a:pt x="3531108" y="3507995"/>
                  </a:lnTo>
                  <a:cubicBezTo>
                    <a:pt x="3531108" y="3524626"/>
                    <a:pt x="3519678" y="3538222"/>
                    <a:pt x="3505708" y="3538222"/>
                  </a:cubicBezTo>
                  <a:lnTo>
                    <a:pt x="25400" y="3538222"/>
                  </a:lnTo>
                  <a:cubicBezTo>
                    <a:pt x="11430" y="3538222"/>
                    <a:pt x="0" y="3524626"/>
                    <a:pt x="0" y="3507995"/>
                  </a:cubicBezTo>
                  <a:lnTo>
                    <a:pt x="0" y="30237"/>
                  </a:lnTo>
                  <a:cubicBezTo>
                    <a:pt x="0" y="13607"/>
                    <a:pt x="11430" y="0"/>
                    <a:pt x="25400" y="0"/>
                  </a:cubicBezTo>
                  <a:moveTo>
                    <a:pt x="25400" y="60475"/>
                  </a:moveTo>
                  <a:lnTo>
                    <a:pt x="25400" y="30237"/>
                  </a:lnTo>
                  <a:lnTo>
                    <a:pt x="50800" y="30237"/>
                  </a:lnTo>
                  <a:lnTo>
                    <a:pt x="50800" y="3507995"/>
                  </a:lnTo>
                  <a:lnTo>
                    <a:pt x="25400" y="3507995"/>
                  </a:lnTo>
                  <a:lnTo>
                    <a:pt x="25400" y="3477757"/>
                  </a:lnTo>
                  <a:lnTo>
                    <a:pt x="3505708" y="3477757"/>
                  </a:lnTo>
                  <a:lnTo>
                    <a:pt x="3505708" y="3507995"/>
                  </a:lnTo>
                  <a:lnTo>
                    <a:pt x="3480308" y="3507995"/>
                  </a:lnTo>
                  <a:lnTo>
                    <a:pt x="3480308" y="30237"/>
                  </a:lnTo>
                  <a:lnTo>
                    <a:pt x="3505708" y="30237"/>
                  </a:lnTo>
                  <a:lnTo>
                    <a:pt x="3505708" y="60475"/>
                  </a:lnTo>
                  <a:lnTo>
                    <a:pt x="25400" y="60475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353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 dirty="0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04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F8773F7-F1F7-5B49-79C7-00861EA1B458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ĐÁNH GIÁ KẾT QUẢ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4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27039" y="2455584"/>
            <a:ext cx="18135600" cy="5344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2678" lvl="1" indent="-457200" algn="l">
              <a:lnSpc>
                <a:spcPts val="5285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Khó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khăn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vượt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</a:rPr>
              <a:t> qua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Tránh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ảnh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hưởng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quá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nhiều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đến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codebase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lớn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của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mattermost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Lưu “skipped message keys”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xử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lý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các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trường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hợp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out-of-order messages.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Các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tính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năng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như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tìm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kiếm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, load message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đều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thực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chủ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yếu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phía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</a:rPr>
              <a:t>người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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đảm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bảo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các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tác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vụ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bị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quá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nặng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tốc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độ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đảm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bảo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Trải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nghiệm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&amp;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thiết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bị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: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thiết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bị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mới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vào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đang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phép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đọc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cũ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và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chỉ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có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đọc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các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trong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tương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lai 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đồng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bộ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các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tệp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định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kèm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: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ảnh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, video, file,…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9BC998-9034-278E-0DE5-06591BF20C89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1894C-0333-B584-09C0-8D8D11E0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41E147-90E7-FCAB-7053-F2DBB71649F7}"/>
              </a:ext>
            </a:extLst>
          </p:cNvPr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8D0670-7678-C710-CE41-C803B8D49065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CF19C433-9F80-CAFC-043C-DBBC6E0EB518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ĐÁNH GIÁ KẾT QUẢ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9D6023C-0F9A-AB51-1B78-E58D3B290CA1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3631782-74F6-BDDB-C77A-B230F63F1EC6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96431E3-260F-97BA-68D8-947030B4D5E7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9906D1-4C09-1A8D-3D8C-CD3D1483057F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20D68ED-2842-F0FE-B4DD-CA209E2A3EF0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7A70BD-B810-0D56-BADC-722E8A5EA29F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6E30381-1BC1-3F2B-C1B0-54D0285C50AC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4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B90CAD1-4AA1-DD4E-D0C0-C3A8310EC22D}"/>
              </a:ext>
            </a:extLst>
          </p:cNvPr>
          <p:cNvSpPr txBox="1"/>
          <p:nvPr/>
        </p:nvSpPr>
        <p:spPr>
          <a:xfrm>
            <a:off x="-27039" y="2455584"/>
            <a:ext cx="18135600" cy="3985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2678" lvl="1" indent="-457200" algn="l">
              <a:lnSpc>
                <a:spcPts val="5285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Kết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quả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hiện</a:t>
            </a:r>
            <a:r>
              <a:rPr lang="en-US" sz="2800" b="1" dirty="0">
                <a:latin typeface="Sarabun" panose="020B0604020202020204" charset="-34"/>
                <a:cs typeface="Sarabun" panose="020B0604020202020204" charset="-34"/>
              </a:rPr>
              <a:t> </a:t>
            </a:r>
            <a:r>
              <a:rPr lang="en-US" sz="2800" b="1" dirty="0" err="1">
                <a:latin typeface="Sarabun" panose="020B0604020202020204" charset="-34"/>
                <a:cs typeface="Sarabun" panose="020B0604020202020204" charset="-34"/>
              </a:rPr>
              <a:t>tại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</a:rPr>
              <a:t>: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Nhìn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chung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đầu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cuối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tại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đang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triển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khai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mattermost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đang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đảm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bảo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tính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đúng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tốc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độ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ổn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 Tuy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nhiên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có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cân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thêm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một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số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chức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năng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như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:</a:t>
            </a:r>
          </a:p>
          <a:p>
            <a:pPr marL="932678" lvl="2">
              <a:lnSpc>
                <a:spcPts val="5285"/>
              </a:lnSpc>
            </a:pP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+ 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Xóa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phía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server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ngay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mọi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đọc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tránh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xét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nhiều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hơn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1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lần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</a:t>
            </a:r>
          </a:p>
          <a:p>
            <a:pPr marL="932678" lvl="2">
              <a:lnSpc>
                <a:spcPts val="5285"/>
              </a:lnSpc>
            </a:pP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+  Lưu tin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trên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indexedDB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dưới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dạng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bản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(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sử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dụng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thuật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toán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khác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để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)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rồi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đánh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chỉ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mục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ngược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phục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vụ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tìm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kiếm</a:t>
            </a:r>
            <a:r>
              <a:rPr lang="en-US" sz="2800" dirty="0">
                <a:latin typeface="Sarabun" panose="020B0604020202020204" charset="-34"/>
                <a:cs typeface="Sarabun" panose="020B0604020202020204" charset="-34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4B419-9E86-F99B-D176-32CEC688EDE4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44048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3083655" y="2501730"/>
            <a:ext cx="6060420" cy="5655420"/>
            <a:chOff x="0" y="0"/>
            <a:chExt cx="8080560" cy="7540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80502" cy="7540498"/>
            </a:xfrm>
            <a:custGeom>
              <a:avLst/>
              <a:gdLst/>
              <a:ahLst/>
              <a:cxnLst/>
              <a:rect l="l" t="t" r="r" b="b"/>
              <a:pathLst>
                <a:path w="8080502" h="7540498">
                  <a:moveTo>
                    <a:pt x="0" y="0"/>
                  </a:moveTo>
                  <a:lnTo>
                    <a:pt x="8080502" y="0"/>
                  </a:lnTo>
                  <a:lnTo>
                    <a:pt x="8080502" y="7540498"/>
                  </a:lnTo>
                  <a:lnTo>
                    <a:pt x="0" y="7540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7" b="-10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34415" y="3839145"/>
            <a:ext cx="4243140" cy="134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spc="-1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TỔNG CÔNG TY MẠNG LƯỚI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34075" y="5068737"/>
            <a:ext cx="5880420" cy="70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-1" dirty="0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TRÂN TRỌNG CẢM ƠN!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582DD-D4B4-C962-59DF-7303499393B1}"/>
              </a:ext>
            </a:extLst>
          </p:cNvPr>
          <p:cNvSpPr txBox="1"/>
          <p:nvPr/>
        </p:nvSpPr>
        <p:spPr>
          <a:xfrm>
            <a:off x="416542" y="9662896"/>
            <a:ext cx="270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Sarabun" panose="020B0604020202020204" charset="-34"/>
                <a:cs typeface="Sarabun" panose="020B0604020202020204" charset="-34"/>
              </a:rPr>
              <a:t>19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Sarabun" panose="020B0604020202020204" charset="-34"/>
              <a:cs typeface="Sarabun" panose="020B060402020202020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1950</Words>
  <Application>Microsoft Office PowerPoint</Application>
  <PresentationFormat>Custom</PresentationFormat>
  <Paragraphs>215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Sarabun</vt:lpstr>
      <vt:lpstr>Times New Roman</vt:lpstr>
      <vt:lpstr>Arial</vt:lpstr>
      <vt:lpstr>Sarabun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đề tài.pptx</dc:title>
  <cp:lastModifiedBy>Chu Tuan Nghia 20225056</cp:lastModifiedBy>
  <cp:revision>22</cp:revision>
  <dcterms:created xsi:type="dcterms:W3CDTF">2006-08-16T00:00:00Z</dcterms:created>
  <dcterms:modified xsi:type="dcterms:W3CDTF">2025-10-12T23:43:04Z</dcterms:modified>
  <dc:identifier>DAGwCRMnVjQ</dc:identifier>
</cp:coreProperties>
</file>