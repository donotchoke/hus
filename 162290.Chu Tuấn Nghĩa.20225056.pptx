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19"/>
  </p:notesMasterIdLst>
  <p:handoutMasterIdLst>
    <p:handoutMasterId r:id="rId20"/>
  </p:handoutMasterIdLst>
  <p:sldIdLst>
    <p:sldId id="275" r:id="rId2"/>
    <p:sldId id="257" r:id="rId3"/>
    <p:sldId id="276" r:id="rId4"/>
    <p:sldId id="277" r:id="rId5"/>
    <p:sldId id="278" r:id="rId6"/>
    <p:sldId id="279" r:id="rId7"/>
    <p:sldId id="280" r:id="rId8"/>
    <p:sldId id="281" r:id="rId9"/>
    <p:sldId id="283" r:id="rId10"/>
    <p:sldId id="284" r:id="rId11"/>
    <p:sldId id="285" r:id="rId12"/>
    <p:sldId id="286" r:id="rId13"/>
    <p:sldId id="287" r:id="rId14"/>
    <p:sldId id="288" r:id="rId15"/>
    <p:sldId id="289" r:id="rId16"/>
    <p:sldId id="290" r:id="rId17"/>
    <p:sldId id="291"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40" autoAdjust="0"/>
    <p:restoredTop sz="94673" autoAdjust="0"/>
  </p:normalViewPr>
  <p:slideViewPr>
    <p:cSldViewPr snapToGrid="0">
      <p:cViewPr varScale="1">
        <p:scale>
          <a:sx n="78" d="100"/>
          <a:sy n="78" d="100"/>
        </p:scale>
        <p:origin x="1574"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12/17/2025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12/17/2025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67880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12/17/2025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12/17/2025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12/17/2025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12/17/2025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12/17/2025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12/17/2025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12/17/2025</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5" r:id="rId4"/>
    <p:sldLayoutId id="2147483683" r:id="rId5"/>
    <p:sldLayoutId id="2147483679" r:id="rId6"/>
    <p:sldLayoutId id="2147483680" r:id="rId7"/>
    <p:sldLayoutId id="2147483681" r:id="rId8"/>
    <p:sldLayoutId id="2147483682" r:id="rId9"/>
    <p:sldLayoutId id="214748367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1864421"/>
            <a:ext cx="5590973"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a:t>Quản </a:t>
            </a:r>
            <a:r>
              <a:rPr lang="en-US" dirty="0" err="1"/>
              <a:t>lý</a:t>
            </a:r>
            <a:r>
              <a:rPr lang="en-US" dirty="0"/>
              <a:t> </a:t>
            </a:r>
            <a:r>
              <a:rPr lang="en-US" dirty="0" err="1"/>
              <a:t>thời</a:t>
            </a:r>
            <a:r>
              <a:rPr lang="en-US" dirty="0"/>
              <a:t> </a:t>
            </a:r>
            <a:r>
              <a:rPr lang="en-US" dirty="0" err="1"/>
              <a:t>gian</a:t>
            </a:r>
            <a:r>
              <a:rPr lang="en-US" dirty="0"/>
              <a:t> </a:t>
            </a:r>
            <a:r>
              <a:rPr lang="en-US" dirty="0" err="1"/>
              <a:t>dự</a:t>
            </a:r>
            <a:r>
              <a:rPr lang="en-US" dirty="0"/>
              <a:t> </a:t>
            </a:r>
            <a:r>
              <a:rPr lang="en-US" dirty="0" err="1"/>
              <a:t>án</a:t>
            </a:r>
            <a:r>
              <a:rPr lang="en-US" dirty="0"/>
              <a:t> CNTT</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852294"/>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b="0" dirty="0"/>
              <a:t>Chu Tuấn Nghĩa - 20225056</a:t>
            </a:r>
          </a:p>
          <a:p>
            <a:endParaRPr lang="en-US" sz="2800" b="0" dirty="0"/>
          </a:p>
          <a:p>
            <a:endParaRPr lang="en-US" sz="2800" b="0" dirty="0"/>
          </a:p>
          <a:p>
            <a:endParaRPr lang="en-US" sz="2800" b="0" dirty="0"/>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3716-1A4C-0838-86B6-64CAAF77DF5B}"/>
              </a:ext>
            </a:extLst>
          </p:cNvPr>
          <p:cNvSpPr>
            <a:spLocks noGrp="1"/>
          </p:cNvSpPr>
          <p:nvPr>
            <p:ph type="title"/>
          </p:nvPr>
        </p:nvSpPr>
        <p:spPr/>
        <p:txBody>
          <a:bodyPr/>
          <a:lstStyle/>
          <a:p>
            <a:r>
              <a:rPr lang="en-US" dirty="0"/>
              <a:t>1</a:t>
            </a:r>
            <a:br>
              <a:rPr lang="en-US" dirty="0"/>
            </a:br>
            <a:r>
              <a:rPr lang="en-US" dirty="0"/>
              <a:t>Quản </a:t>
            </a:r>
            <a:r>
              <a:rPr lang="en-US" dirty="0" err="1"/>
              <a:t>lý</a:t>
            </a:r>
            <a:r>
              <a:rPr lang="en-US" dirty="0"/>
              <a:t> </a:t>
            </a:r>
            <a:r>
              <a:rPr lang="en-US" dirty="0" err="1"/>
              <a:t>thời</a:t>
            </a:r>
            <a:r>
              <a:rPr lang="en-US" dirty="0"/>
              <a:t> </a:t>
            </a:r>
            <a:r>
              <a:rPr lang="en-US" dirty="0" err="1"/>
              <a:t>gian</a:t>
            </a:r>
            <a:r>
              <a:rPr lang="en-US" dirty="0"/>
              <a:t> </a:t>
            </a:r>
            <a:r>
              <a:rPr lang="en-US" dirty="0" err="1"/>
              <a:t>là</a:t>
            </a:r>
            <a:r>
              <a:rPr lang="en-US" dirty="0"/>
              <a:t> </a:t>
            </a:r>
            <a:r>
              <a:rPr lang="en-US" dirty="0" err="1"/>
              <a:t>gì</a:t>
            </a:r>
            <a:r>
              <a:rPr lang="en-US" dirty="0"/>
              <a:t>?</a:t>
            </a:r>
          </a:p>
        </p:txBody>
      </p:sp>
    </p:spTree>
    <p:extLst>
      <p:ext uri="{BB962C8B-B14F-4D97-AF65-F5344CB8AC3E}">
        <p14:creationId xmlns:p14="http://schemas.microsoft.com/office/powerpoint/2010/main" val="945003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773FD-3372-F101-0CFD-D1ED4E5149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5A4FFF-7A92-1222-CE6A-788BC52BB8A4}"/>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95F6AEB4-9E38-9C57-4AA0-DF30080B8A03}"/>
              </a:ext>
            </a:extLst>
          </p:cNvPr>
          <p:cNvSpPr>
            <a:spLocks noGrp="1"/>
          </p:cNvSpPr>
          <p:nvPr>
            <p:ph type="title"/>
          </p:nvPr>
        </p:nvSpPr>
        <p:spPr/>
        <p:txBody>
          <a:bodyPr/>
          <a:lstStyle/>
          <a:p>
            <a:r>
              <a:rPr lang="en-US" dirty="0" err="1"/>
              <a:t>Khái</a:t>
            </a:r>
            <a:r>
              <a:rPr lang="en-US" dirty="0"/>
              <a:t> </a:t>
            </a:r>
            <a:r>
              <a:rPr lang="en-US" dirty="0" err="1"/>
              <a:t>niệm</a:t>
            </a:r>
            <a:endParaRPr lang="en-US" dirty="0"/>
          </a:p>
        </p:txBody>
      </p:sp>
      <p:sp>
        <p:nvSpPr>
          <p:cNvPr id="4" name="Text Placeholder 3">
            <a:extLst>
              <a:ext uri="{FF2B5EF4-FFF2-40B4-BE49-F238E27FC236}">
                <a16:creationId xmlns:a16="http://schemas.microsoft.com/office/drawing/2014/main" id="{A828AE64-3FCE-C76C-0AB0-D3BFFA622FC9}"/>
              </a:ext>
            </a:extLst>
          </p:cNvPr>
          <p:cNvSpPr>
            <a:spLocks noGrp="1"/>
          </p:cNvSpPr>
          <p:nvPr>
            <p:ph type="body" sz="quarter" idx="13"/>
          </p:nvPr>
        </p:nvSpPr>
        <p:spPr>
          <a:xfrm>
            <a:off x="234950" y="963168"/>
            <a:ext cx="4860925" cy="5393244"/>
          </a:xfrm>
        </p:spPr>
        <p:txBody>
          <a:bodyPr/>
          <a:lstStyle/>
          <a:p>
            <a:r>
              <a:rPr lang="en-US" sz="1800" b="1" dirty="0">
                <a:latin typeface="Times New Roman" panose="02020603050405020304" pitchFamily="18" charset="0"/>
                <a:cs typeface="Times New Roman" panose="02020603050405020304" pitchFamily="18" charset="0"/>
              </a:rPr>
              <a:t>Quản </a:t>
            </a:r>
            <a:r>
              <a:rPr lang="en-US" sz="1800" b="1" dirty="0" err="1">
                <a:latin typeface="Times New Roman" panose="02020603050405020304" pitchFamily="18" charset="0"/>
                <a:cs typeface="Times New Roman" panose="02020603050405020304" pitchFamily="18" charset="0"/>
              </a:rPr>
              <a:t>lý</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thời</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gian</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trong</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dự</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án</a:t>
            </a:r>
            <a:r>
              <a:rPr lang="en-US" sz="1800" b="1" dirty="0">
                <a:latin typeface="Times New Roman" panose="02020603050405020304" pitchFamily="18" charset="0"/>
                <a:cs typeface="Times New Roman" panose="02020603050405020304" pitchFamily="18" charset="0"/>
              </a:rPr>
              <a:t> CNTT </a:t>
            </a:r>
            <a:r>
              <a:rPr lang="en-US" sz="1800" dirty="0" err="1">
                <a:latin typeface="Times New Roman" panose="02020603050405020304" pitchFamily="18" charset="0"/>
                <a:cs typeface="Times New Roman" panose="02020603050405020304" pitchFamily="18" charset="0"/>
              </a:rPr>
              <a:t>là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quá</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trình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lập</a:t>
            </a:r>
            <a:r>
              <a:rPr lang="en-US" sz="1800" dirty="0">
                <a:latin typeface="Times New Roman" panose="02020603050405020304" pitchFamily="18" charset="0"/>
                <a:cs typeface="Times New Roman" panose="02020603050405020304" pitchFamily="18" charset="0"/>
              </a:rPr>
              <a:t> Project time Plan </a:t>
            </a:r>
            <a:r>
              <a:rPr lang="en-US" sz="1800" dirty="0" err="1">
                <a:latin typeface="Times New Roman" panose="02020603050405020304" pitchFamily="18" charset="0"/>
                <a:cs typeface="Times New Roman" panose="02020603050405020304" pitchFamily="18" charset="0"/>
              </a:rPr>
              <a:t>để</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đảm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bảo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động</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tác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vụ</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của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dự</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án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diễn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ra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theo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đúng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trình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tự</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thời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hạn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đề</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ra.</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Quy </a:t>
            </a:r>
            <a:r>
              <a:rPr lang="en-US" sz="1800" dirty="0" err="1">
                <a:latin typeface="Times New Roman" panose="02020603050405020304" pitchFamily="18" charset="0"/>
                <a:cs typeface="Times New Roman" panose="02020603050405020304" pitchFamily="18" charset="0"/>
              </a:rPr>
              <a:t>trình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của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quản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lý</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thời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gian</a:t>
            </a:r>
            <a:r>
              <a:rPr lang="en-US" sz="1800" dirty="0">
                <a:latin typeface="Times New Roman" panose="02020603050405020304" pitchFamily="18" charset="0"/>
                <a:cs typeface="Times New Roman" panose="02020603050405020304" pitchFamily="18" charset="0"/>
              </a:rPr>
              <a:t> bao </a:t>
            </a:r>
            <a:r>
              <a:rPr lang="en-US" sz="1800" dirty="0" err="1">
                <a:latin typeface="Times New Roman" panose="02020603050405020304" pitchFamily="18" charset="0"/>
                <a:cs typeface="Times New Roman" panose="02020603050405020304" pitchFamily="18" charset="0"/>
              </a:rPr>
              <a:t>gồm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xác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định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được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động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thứ</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tự</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ước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lượng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nguồn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lực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thời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động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xây</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dựng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được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thời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biểu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phù</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hợp</a:t>
            </a:r>
            <a:r>
              <a:rPr lang="en-US" sz="1800" dirty="0">
                <a:latin typeface="Times New Roman" panose="02020603050405020304" pitchFamily="18" charset="0"/>
                <a:cs typeface="Times New Roman" panose="02020603050405020304" pitchFamily="18" charset="0"/>
              </a:rPr>
              <a:t>.</a:t>
            </a:r>
          </a:p>
          <a:p>
            <a:r>
              <a:rPr lang="en-US" sz="1800" dirty="0" err="1">
                <a:latin typeface="Times New Roman" panose="02020603050405020304" pitchFamily="18" charset="0"/>
                <a:cs typeface="Times New Roman" panose="02020603050405020304" pitchFamily="18" charset="0"/>
              </a:rPr>
              <a:t>Đây</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một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phần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của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quá</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trình</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Project Management Plan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có</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mối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hệ</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chặt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chẽ</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với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khía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cạnh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như</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phạm</a:t>
            </a:r>
            <a:r>
              <a:rPr lang="en-US" sz="1800" dirty="0">
                <a:latin typeface="Times New Roman" panose="02020603050405020304" pitchFamily="18" charset="0"/>
                <a:cs typeface="Times New Roman" panose="02020603050405020304" pitchFamily="18" charset="0"/>
              </a:rPr>
              <a:t> vi, chi </a:t>
            </a:r>
            <a:r>
              <a:rPr lang="en-US" sz="1800" dirty="0" err="1">
                <a:latin typeface="Times New Roman" panose="02020603050405020304" pitchFamily="18" charset="0"/>
                <a:cs typeface="Times New Roman" panose="02020603050405020304" pitchFamily="18" charset="0"/>
              </a:rPr>
              <a:t>phí</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nhân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sự</a:t>
            </a:r>
            <a:r>
              <a:rPr lang="en-US" sz="1800" dirty="0">
                <a:latin typeface="Times New Roman" panose="02020603050405020304" pitchFamily="18" charset="0"/>
                <a:cs typeface="Times New Roman" panose="02020603050405020304" pitchFamily="18" charset="0"/>
              </a:rPr>
              <a:t>.</a:t>
            </a:r>
          </a:p>
          <a:p>
            <a:r>
              <a:rPr lang="en-US" sz="1800" dirty="0" err="1">
                <a:solidFill>
                  <a:srgbClr val="111827"/>
                </a:solidFill>
                <a:latin typeface="Times New Roman" panose="02020603050405020304" pitchFamily="18" charset="0"/>
                <a:cs typeface="Times New Roman" panose="02020603050405020304" pitchFamily="18" charset="0"/>
              </a:rPr>
              <a:t>Là</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cơ</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sở</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để</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theo</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dõi</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tiến</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độ</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phát</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hiện</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trễ</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và</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điều</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chỉnh</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kịp</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thời</a:t>
            </a:r>
            <a:r>
              <a:rPr lang="en-US" sz="1800" dirty="0">
                <a:solidFill>
                  <a:srgbClr val="111827"/>
                </a:solidFill>
                <a:latin typeface="Times New Roman" panose="02020603050405020304" pitchFamily="18" charset="0"/>
                <a:cs typeface="Times New Roman" panose="02020603050405020304" pitchFamily="18" charset="0"/>
              </a:rPr>
              <a:t>.</a:t>
            </a:r>
          </a:p>
          <a:p>
            <a:r>
              <a:rPr lang="en-US" sz="1800" dirty="0" err="1">
                <a:solidFill>
                  <a:srgbClr val="111827"/>
                </a:solidFill>
                <a:latin typeface="Times New Roman" panose="02020603050405020304" pitchFamily="18" charset="0"/>
                <a:cs typeface="Times New Roman" panose="02020603050405020304" pitchFamily="18" charset="0"/>
              </a:rPr>
              <a:t>Giúp</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phối</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hợp</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liên</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nhóm</a:t>
            </a:r>
            <a:r>
              <a:rPr lang="en-US" sz="1800" dirty="0">
                <a:solidFill>
                  <a:srgbClr val="111827"/>
                </a:solidFill>
                <a:latin typeface="Times New Roman" panose="02020603050405020304" pitchFamily="18" charset="0"/>
                <a:cs typeface="Times New Roman" panose="02020603050405020304" pitchFamily="18" charset="0"/>
              </a:rPr>
              <a:t> (dev/test/ops) </a:t>
            </a:r>
            <a:r>
              <a:rPr lang="en-US" sz="1800" dirty="0" err="1">
                <a:solidFill>
                  <a:srgbClr val="111827"/>
                </a:solidFill>
                <a:latin typeface="Times New Roman" panose="02020603050405020304" pitchFamily="18" charset="0"/>
                <a:cs typeface="Times New Roman" panose="02020603050405020304" pitchFamily="18" charset="0"/>
              </a:rPr>
              <a:t>thông</a:t>
            </a:r>
            <a:r>
              <a:rPr lang="en-US" sz="1800" dirty="0">
                <a:solidFill>
                  <a:srgbClr val="111827"/>
                </a:solidFill>
                <a:latin typeface="Times New Roman" panose="02020603050405020304" pitchFamily="18" charset="0"/>
                <a:cs typeface="Times New Roman" panose="02020603050405020304" pitchFamily="18" charset="0"/>
              </a:rPr>
              <a:t> qua </a:t>
            </a:r>
            <a:r>
              <a:rPr lang="en-US" sz="1800" dirty="0" err="1">
                <a:solidFill>
                  <a:srgbClr val="111827"/>
                </a:solidFill>
                <a:latin typeface="Times New Roman" panose="02020603050405020304" pitchFamily="18" charset="0"/>
                <a:cs typeface="Times New Roman" panose="02020603050405020304" pitchFamily="18" charset="0"/>
              </a:rPr>
              <a:t>mốc</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và</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phụ</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thuộc</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rõ</a:t>
            </a:r>
            <a:r>
              <a:rPr lang="en-US" sz="1800" dirty="0">
                <a:solidFill>
                  <a:srgbClr val="111827"/>
                </a:solidFill>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ràng</a:t>
            </a:r>
            <a:r>
              <a:rPr lang="en-US" sz="1800" dirty="0">
                <a:solidFill>
                  <a:srgbClr val="111827"/>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graphicFrame>
        <p:nvGraphicFramePr>
          <p:cNvPr id="18" name="Table 17">
            <a:extLst>
              <a:ext uri="{FF2B5EF4-FFF2-40B4-BE49-F238E27FC236}">
                <a16:creationId xmlns:a16="http://schemas.microsoft.com/office/drawing/2014/main" id="{2F6826E7-61A7-3F9D-5ADD-7047779AF535}"/>
              </a:ext>
            </a:extLst>
          </p:cNvPr>
          <p:cNvGraphicFramePr>
            <a:graphicFrameLocks noGrp="1"/>
          </p:cNvGraphicFramePr>
          <p:nvPr>
            <p:extLst>
              <p:ext uri="{D42A27DB-BD31-4B8C-83A1-F6EECF244321}">
                <p14:modId xmlns:p14="http://schemas.microsoft.com/office/powerpoint/2010/main" val="3868615087"/>
              </p:ext>
            </p:extLst>
          </p:nvPr>
        </p:nvGraphicFramePr>
        <p:xfrm>
          <a:off x="5353235" y="963168"/>
          <a:ext cx="3578855" cy="5184793"/>
        </p:xfrm>
        <a:graphic>
          <a:graphicData uri="http://schemas.openxmlformats.org/drawingml/2006/table">
            <a:tbl>
              <a:tblPr/>
              <a:tblGrid>
                <a:gridCol w="1414224">
                  <a:extLst>
                    <a:ext uri="{9D8B030D-6E8A-4147-A177-3AD203B41FA5}">
                      <a16:colId xmlns:a16="http://schemas.microsoft.com/office/drawing/2014/main" val="2831227705"/>
                    </a:ext>
                  </a:extLst>
                </a:gridCol>
                <a:gridCol w="2164631">
                  <a:extLst>
                    <a:ext uri="{9D8B030D-6E8A-4147-A177-3AD203B41FA5}">
                      <a16:colId xmlns:a16="http://schemas.microsoft.com/office/drawing/2014/main" val="1196505140"/>
                    </a:ext>
                  </a:extLst>
                </a:gridCol>
              </a:tblGrid>
              <a:tr h="461205">
                <a:tc>
                  <a:txBody>
                    <a:bodyPr/>
                    <a:lstStyle/>
                    <a:p>
                      <a:pPr rtl="0" fontAlgn="t">
                        <a:buNone/>
                      </a:pPr>
                      <a:r>
                        <a:rPr lang="en-US" sz="1100" b="0" i="0" u="none" strike="noStrike" dirty="0">
                          <a:solidFill>
                            <a:srgbClr val="000000"/>
                          </a:solidFill>
                          <a:effectLst/>
                          <a:latin typeface="Arial" panose="020B0604020202020204" pitchFamily="34" charset="0"/>
                        </a:rPr>
                        <a:t>1. Quản </a:t>
                      </a:r>
                      <a:r>
                        <a:rPr lang="en-US" sz="1100" b="0" i="0" u="none" strike="noStrike" dirty="0" err="1">
                          <a:solidFill>
                            <a:srgbClr val="000000"/>
                          </a:solidFill>
                          <a:effectLst/>
                          <a:latin typeface="Arial" panose="020B0604020202020204" pitchFamily="34" charset="0"/>
                        </a:rPr>
                        <a:t>lý</a:t>
                      </a:r>
                      <a:r>
                        <a:rPr lang="en-US" sz="1100" b="0" i="0" u="none" strike="noStrike" dirty="0">
                          <a:solidFill>
                            <a:srgbClr val="000000"/>
                          </a:solidFill>
                          <a:effectLst/>
                          <a:latin typeface="Arial" panose="020B0604020202020204" pitchFamily="34" charset="0"/>
                        </a:rPr>
                        <a:t> </a:t>
                      </a:r>
                      <a:r>
                        <a:rPr lang="en-US" sz="1100" b="0" i="0" u="none" strike="noStrike" dirty="0" err="1">
                          <a:solidFill>
                            <a:srgbClr val="000000"/>
                          </a:solidFill>
                          <a:effectLst/>
                          <a:latin typeface="Arial" panose="020B0604020202020204" pitchFamily="34" charset="0"/>
                        </a:rPr>
                        <a:t>hợp</a:t>
                      </a:r>
                      <a:r>
                        <a:rPr lang="en-US" sz="1100" b="0" i="0" u="none" strike="noStrike" dirty="0">
                          <a:solidFill>
                            <a:srgbClr val="000000"/>
                          </a:solidFill>
                          <a:effectLst/>
                          <a:latin typeface="Arial" panose="020B0604020202020204" pitchFamily="34" charset="0"/>
                        </a:rPr>
                        <a:t> </a:t>
                      </a:r>
                      <a:r>
                        <a:rPr lang="en-US" sz="1100" b="0" i="0" u="none" strike="noStrike" dirty="0" err="1">
                          <a:solidFill>
                            <a:srgbClr val="000000"/>
                          </a:solidFill>
                          <a:effectLst/>
                          <a:latin typeface="Arial" panose="020B0604020202020204" pitchFamily="34" charset="0"/>
                        </a:rPr>
                        <a:t>nhất</a:t>
                      </a:r>
                      <a:endParaRPr lang="en-US" sz="1400" dirty="0">
                        <a:effectLst/>
                      </a:endParaRPr>
                    </a:p>
                  </a:txBody>
                  <a:tcPr marL="58069" marR="58069" marT="29035" marB="29035">
                    <a:lnL w="22860"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22860"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rtl="0" fontAlgn="t">
                        <a:buNone/>
                      </a:pPr>
                      <a:r>
                        <a:rPr lang="en-US" sz="900" b="0" i="0" u="none" strike="noStrike">
                          <a:solidFill>
                            <a:srgbClr val="000000"/>
                          </a:solidFill>
                          <a:effectLst/>
                          <a:latin typeface="Arial" panose="020B0604020202020204" pitchFamily="34" charset="0"/>
                        </a:rPr>
                        <a:t>Kế hoạch quản lý dự án</a:t>
                      </a:r>
                      <a:endParaRPr lang="en-US" sz="1400">
                        <a:effectLst/>
                      </a:endParaRPr>
                    </a:p>
                  </a:txBody>
                  <a:tcPr marL="58069" marR="58069" marT="29035" marB="29035">
                    <a:lnL w="10157" cap="flat" cmpd="sng" algn="ctr">
                      <a:solidFill>
                        <a:srgbClr val="000000"/>
                      </a:solidFill>
                      <a:prstDash val="solid"/>
                      <a:round/>
                      <a:headEnd type="none" w="med" len="med"/>
                      <a:tailEnd type="none" w="med" len="med"/>
                    </a:lnL>
                    <a:lnR w="22860" cap="flat" cmpd="sng" algn="ctr">
                      <a:solidFill>
                        <a:srgbClr val="000000"/>
                      </a:solidFill>
                      <a:prstDash val="solid"/>
                      <a:round/>
                      <a:headEnd type="none" w="med" len="med"/>
                      <a:tailEnd type="none" w="med" len="med"/>
                    </a:lnR>
                    <a:lnT w="22860"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7002416"/>
                  </a:ext>
                </a:extLst>
              </a:tr>
              <a:tr h="461205">
                <a:tc>
                  <a:txBody>
                    <a:bodyPr/>
                    <a:lstStyle/>
                    <a:p>
                      <a:pPr rtl="0" fontAlgn="t">
                        <a:buNone/>
                      </a:pPr>
                      <a:r>
                        <a:rPr lang="en-US" sz="1100" b="0" i="0" u="none" strike="noStrike">
                          <a:solidFill>
                            <a:srgbClr val="000000"/>
                          </a:solidFill>
                          <a:effectLst/>
                          <a:latin typeface="Arial" panose="020B0604020202020204" pitchFamily="34" charset="0"/>
                        </a:rPr>
                        <a:t>2. Quản lý phạm vi</a:t>
                      </a:r>
                      <a:endParaRPr lang="en-US" sz="1400">
                        <a:effectLst/>
                      </a:endParaRPr>
                    </a:p>
                  </a:txBody>
                  <a:tcPr marL="58069" marR="58069" marT="29035" marB="29035">
                    <a:lnL w="22860"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rtl="0" fontAlgn="t">
                        <a:buNone/>
                      </a:pPr>
                      <a:r>
                        <a:rPr lang="en-US" sz="900" b="0" i="0" u="none" strike="noStrike">
                          <a:solidFill>
                            <a:srgbClr val="000000"/>
                          </a:solidFill>
                          <a:effectLst/>
                          <a:latin typeface="Arial" panose="020B0604020202020204" pitchFamily="34" charset="0"/>
                        </a:rPr>
                        <a:t>Thu thập yêu cầu dự án, Xác định phạm vi, Tạo WBS</a:t>
                      </a:r>
                      <a:endParaRPr lang="en-US" sz="1400">
                        <a:effectLst/>
                      </a:endParaRPr>
                    </a:p>
                  </a:txBody>
                  <a:tcPr marL="58069" marR="58069" marT="29035" marB="29035">
                    <a:lnL w="10157" cap="flat" cmpd="sng" algn="ctr">
                      <a:solidFill>
                        <a:srgbClr val="000000"/>
                      </a:solidFill>
                      <a:prstDash val="solid"/>
                      <a:round/>
                      <a:headEnd type="none" w="med" len="med"/>
                      <a:tailEnd type="none" w="med" len="med"/>
                    </a:lnL>
                    <a:lnR w="22860"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222705"/>
                  </a:ext>
                </a:extLst>
              </a:tr>
              <a:tr h="1048536">
                <a:tc>
                  <a:txBody>
                    <a:bodyPr/>
                    <a:lstStyle/>
                    <a:p>
                      <a:pPr rtl="0" fontAlgn="t">
                        <a:buNone/>
                      </a:pPr>
                      <a:r>
                        <a:rPr lang="en-US" sz="1100" b="0" i="0" u="none" strike="noStrike">
                          <a:solidFill>
                            <a:srgbClr val="000000"/>
                          </a:solidFill>
                          <a:effectLst/>
                          <a:latin typeface="Arial" panose="020B0604020202020204" pitchFamily="34" charset="0"/>
                        </a:rPr>
                        <a:t>3. Quản lý thời gian</a:t>
                      </a:r>
                      <a:endParaRPr lang="en-US" sz="1400">
                        <a:effectLst/>
                      </a:endParaRPr>
                    </a:p>
                  </a:txBody>
                  <a:tcPr marL="58069" marR="58069" marT="29035" marB="29035">
                    <a:lnL w="22860"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rtl="0" fontAlgn="t">
                        <a:buNone/>
                      </a:pPr>
                      <a:r>
                        <a:rPr lang="vi-VN" sz="900" b="0" i="0" u="none" strike="noStrike">
                          <a:solidFill>
                            <a:srgbClr val="000000"/>
                          </a:solidFill>
                          <a:effectLst/>
                          <a:latin typeface="Arial" panose="020B0604020202020204" pitchFamily="34" charset="0"/>
                        </a:rPr>
                        <a:t>Xác định các hoạt động, Các hoạt động tuần tự, Ước lượng các nguồn lực cho các hoạt động, Ước lượng thời lượng cho các hoạt động, Xây dựng thời gian biểu</a:t>
                      </a:r>
                      <a:endParaRPr lang="vi-VN" sz="1400">
                        <a:effectLst/>
                      </a:endParaRPr>
                    </a:p>
                  </a:txBody>
                  <a:tcPr marL="58069" marR="58069" marT="29035" marB="29035">
                    <a:lnL w="10157" cap="flat" cmpd="sng" algn="ctr">
                      <a:solidFill>
                        <a:srgbClr val="000000"/>
                      </a:solidFill>
                      <a:prstDash val="solid"/>
                      <a:round/>
                      <a:headEnd type="none" w="med" len="med"/>
                      <a:tailEnd type="none" w="med" len="med"/>
                    </a:lnL>
                    <a:lnR w="22860"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059406"/>
                  </a:ext>
                </a:extLst>
              </a:tr>
              <a:tr h="461205">
                <a:tc>
                  <a:txBody>
                    <a:bodyPr/>
                    <a:lstStyle/>
                    <a:p>
                      <a:pPr rtl="0" fontAlgn="t">
                        <a:buNone/>
                      </a:pPr>
                      <a:r>
                        <a:rPr lang="it-IT" sz="1100" b="0" i="0" u="none" strike="noStrike">
                          <a:solidFill>
                            <a:srgbClr val="000000"/>
                          </a:solidFill>
                          <a:effectLst/>
                          <a:latin typeface="Arial" panose="020B0604020202020204" pitchFamily="34" charset="0"/>
                        </a:rPr>
                        <a:t>4. Quản lý chi phí</a:t>
                      </a:r>
                      <a:endParaRPr lang="it-IT" sz="1400">
                        <a:effectLst/>
                      </a:endParaRPr>
                    </a:p>
                  </a:txBody>
                  <a:tcPr marL="58069" marR="58069" marT="29035" marB="29035">
                    <a:lnL w="22860"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rtl="0" fontAlgn="t">
                        <a:buNone/>
                      </a:pPr>
                      <a:r>
                        <a:rPr lang="vi-VN" sz="900" b="0" i="0" u="none" strike="noStrike">
                          <a:solidFill>
                            <a:srgbClr val="000000"/>
                          </a:solidFill>
                          <a:effectLst/>
                          <a:latin typeface="Arial" panose="020B0604020202020204" pitchFamily="34" charset="0"/>
                        </a:rPr>
                        <a:t>Ước lượng chi phí,</a:t>
                      </a:r>
                      <a:endParaRPr lang="vi-VN" sz="1400">
                        <a:effectLst/>
                      </a:endParaRPr>
                    </a:p>
                    <a:p>
                      <a:pPr rtl="0" fontAlgn="t">
                        <a:spcBef>
                          <a:spcPts val="240"/>
                        </a:spcBef>
                        <a:buNone/>
                      </a:pPr>
                      <a:r>
                        <a:rPr lang="vi-VN" sz="900" b="0" i="0" u="none" strike="noStrike">
                          <a:solidFill>
                            <a:srgbClr val="000000"/>
                          </a:solidFill>
                          <a:effectLst/>
                          <a:latin typeface="Arial" panose="020B0604020202020204" pitchFamily="34" charset="0"/>
                        </a:rPr>
                        <a:t>Xác định ngân sách</a:t>
                      </a:r>
                      <a:endParaRPr lang="vi-VN" sz="1400">
                        <a:effectLst/>
                      </a:endParaRPr>
                    </a:p>
                  </a:txBody>
                  <a:tcPr marL="58069" marR="58069" marT="29035" marB="29035">
                    <a:lnL w="10157" cap="flat" cmpd="sng" algn="ctr">
                      <a:solidFill>
                        <a:srgbClr val="000000"/>
                      </a:solidFill>
                      <a:prstDash val="solid"/>
                      <a:round/>
                      <a:headEnd type="none" w="med" len="med"/>
                      <a:tailEnd type="none" w="med" len="med"/>
                    </a:lnL>
                    <a:lnR w="22860"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7639327"/>
                  </a:ext>
                </a:extLst>
              </a:tr>
              <a:tr h="461205">
                <a:tc>
                  <a:txBody>
                    <a:bodyPr/>
                    <a:lstStyle/>
                    <a:p>
                      <a:pPr rtl="0" fontAlgn="t">
                        <a:buNone/>
                      </a:pPr>
                      <a:r>
                        <a:rPr lang="vi-VN" sz="1100" b="0" i="0" u="none" strike="noStrike" dirty="0">
                          <a:solidFill>
                            <a:srgbClr val="000000"/>
                          </a:solidFill>
                          <a:effectLst/>
                          <a:latin typeface="Arial" panose="020B0604020202020204" pitchFamily="34" charset="0"/>
                        </a:rPr>
                        <a:t>5. Quản lý chất lượng</a:t>
                      </a:r>
                      <a:endParaRPr lang="vi-VN" sz="1400" dirty="0">
                        <a:effectLst/>
                      </a:endParaRPr>
                    </a:p>
                  </a:txBody>
                  <a:tcPr marL="58069" marR="58069" marT="29035" marB="29035">
                    <a:lnL w="22860"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rtl="0" fontAlgn="t">
                        <a:buNone/>
                      </a:pPr>
                      <a:r>
                        <a:rPr lang="vi-VN" sz="900" b="0" i="0" u="none" strike="noStrike">
                          <a:solidFill>
                            <a:srgbClr val="000000"/>
                          </a:solidFill>
                          <a:effectLst/>
                          <a:latin typeface="Arial" panose="020B0604020202020204" pitchFamily="34" charset="0"/>
                        </a:rPr>
                        <a:t>Kế hoạch chất lượng</a:t>
                      </a:r>
                      <a:endParaRPr lang="vi-VN" sz="1400">
                        <a:effectLst/>
                      </a:endParaRPr>
                    </a:p>
                  </a:txBody>
                  <a:tcPr marL="58069" marR="58069" marT="29035" marB="29035">
                    <a:lnL w="10157" cap="flat" cmpd="sng" algn="ctr">
                      <a:solidFill>
                        <a:srgbClr val="000000"/>
                      </a:solidFill>
                      <a:prstDash val="solid"/>
                      <a:round/>
                      <a:headEnd type="none" w="med" len="med"/>
                      <a:tailEnd type="none" w="med" len="med"/>
                    </a:lnL>
                    <a:lnR w="22860"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4015385"/>
                  </a:ext>
                </a:extLst>
              </a:tr>
              <a:tr h="461205">
                <a:tc>
                  <a:txBody>
                    <a:bodyPr/>
                    <a:lstStyle/>
                    <a:p>
                      <a:pPr rtl="0" fontAlgn="t">
                        <a:buNone/>
                      </a:pPr>
                      <a:r>
                        <a:rPr lang="en-US" sz="1100" b="0" i="0" u="none" strike="noStrike">
                          <a:solidFill>
                            <a:srgbClr val="000000"/>
                          </a:solidFill>
                          <a:effectLst/>
                          <a:latin typeface="Arial" panose="020B0604020202020204" pitchFamily="34" charset="0"/>
                        </a:rPr>
                        <a:t>6. Quản lý nhân sự</a:t>
                      </a:r>
                      <a:endParaRPr lang="en-US" sz="1400">
                        <a:effectLst/>
                      </a:endParaRPr>
                    </a:p>
                  </a:txBody>
                  <a:tcPr marL="58069" marR="58069" marT="29035" marB="29035">
                    <a:lnL w="22860"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rtl="0" fontAlgn="t">
                        <a:buNone/>
                      </a:pPr>
                      <a:r>
                        <a:rPr lang="en-US" sz="900" b="0" i="0" u="none" strike="noStrike">
                          <a:solidFill>
                            <a:srgbClr val="000000"/>
                          </a:solidFill>
                          <a:effectLst/>
                          <a:latin typeface="Arial" panose="020B0604020202020204" pitchFamily="34" charset="0"/>
                        </a:rPr>
                        <a:t>Kế hoạch nguồn lực</a:t>
                      </a:r>
                      <a:endParaRPr lang="en-US" sz="1400">
                        <a:effectLst/>
                      </a:endParaRPr>
                    </a:p>
                  </a:txBody>
                  <a:tcPr marL="58069" marR="58069" marT="29035" marB="29035">
                    <a:lnL w="10157" cap="flat" cmpd="sng" algn="ctr">
                      <a:solidFill>
                        <a:srgbClr val="000000"/>
                      </a:solidFill>
                      <a:prstDash val="solid"/>
                      <a:round/>
                      <a:headEnd type="none" w="med" len="med"/>
                      <a:tailEnd type="none" w="med" len="med"/>
                    </a:lnL>
                    <a:lnR w="22860"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05620335"/>
                  </a:ext>
                </a:extLst>
              </a:tr>
              <a:tr h="461205">
                <a:tc>
                  <a:txBody>
                    <a:bodyPr/>
                    <a:lstStyle/>
                    <a:p>
                      <a:pPr rtl="0" fontAlgn="t">
                        <a:buNone/>
                      </a:pPr>
                      <a:r>
                        <a:rPr lang="en-US" sz="1100" b="0" i="0" u="none" strike="noStrike">
                          <a:solidFill>
                            <a:srgbClr val="000000"/>
                          </a:solidFill>
                          <a:effectLst/>
                          <a:latin typeface="Arial" panose="020B0604020202020204" pitchFamily="34" charset="0"/>
                        </a:rPr>
                        <a:t>7. Quản lý giao tiếp</a:t>
                      </a:r>
                      <a:endParaRPr lang="en-US" sz="1400">
                        <a:effectLst/>
                      </a:endParaRPr>
                    </a:p>
                  </a:txBody>
                  <a:tcPr marL="58069" marR="58069" marT="29035" marB="29035">
                    <a:lnL w="22860"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rtl="0" fontAlgn="t">
                        <a:buNone/>
                      </a:pPr>
                      <a:r>
                        <a:rPr lang="en-US" sz="900" b="0" i="0" u="none" strike="noStrike">
                          <a:solidFill>
                            <a:srgbClr val="000000"/>
                          </a:solidFill>
                          <a:effectLst/>
                          <a:latin typeface="Arial" panose="020B0604020202020204" pitchFamily="34" charset="0"/>
                        </a:rPr>
                        <a:t>Kế hoạch giao tiếp</a:t>
                      </a:r>
                      <a:endParaRPr lang="en-US" sz="1400">
                        <a:effectLst/>
                      </a:endParaRPr>
                    </a:p>
                  </a:txBody>
                  <a:tcPr marL="58069" marR="58069" marT="29035" marB="29035">
                    <a:lnL w="10157" cap="flat" cmpd="sng" algn="ctr">
                      <a:solidFill>
                        <a:srgbClr val="000000"/>
                      </a:solidFill>
                      <a:prstDash val="solid"/>
                      <a:round/>
                      <a:headEnd type="none" w="med" len="med"/>
                      <a:tailEnd type="none" w="med" len="med"/>
                    </a:lnL>
                    <a:lnR w="22860"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2636035"/>
                  </a:ext>
                </a:extLst>
              </a:tr>
              <a:tr h="907822">
                <a:tc>
                  <a:txBody>
                    <a:bodyPr/>
                    <a:lstStyle/>
                    <a:p>
                      <a:pPr rtl="0" fontAlgn="t">
                        <a:buNone/>
                      </a:pPr>
                      <a:r>
                        <a:rPr lang="en-US" sz="1100" b="0" i="0" u="none" strike="noStrike">
                          <a:solidFill>
                            <a:srgbClr val="000000"/>
                          </a:solidFill>
                          <a:effectLst/>
                          <a:latin typeface="Arial" panose="020B0604020202020204" pitchFamily="34" charset="0"/>
                        </a:rPr>
                        <a:t>8. Quản lý rủi ro</a:t>
                      </a:r>
                      <a:endParaRPr lang="en-US" sz="1400">
                        <a:effectLst/>
                      </a:endParaRPr>
                    </a:p>
                  </a:txBody>
                  <a:tcPr marL="58069" marR="58069" marT="29035" marB="29035">
                    <a:lnL w="22860"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rtl="0" fontAlgn="t">
                        <a:buNone/>
                      </a:pPr>
                      <a:r>
                        <a:rPr lang="vi-VN" sz="900" b="0" i="0" u="none" strike="noStrike">
                          <a:solidFill>
                            <a:srgbClr val="000000"/>
                          </a:solidFill>
                          <a:effectLst/>
                          <a:latin typeface="Arial" panose="020B0604020202020204" pitchFamily="34" charset="0"/>
                        </a:rPr>
                        <a:t>Kế hoạch quản lý rủi ro, Xác định các rủi ro, Xác định số lượng/mức ảnh hưởng của rủi ro </a:t>
                      </a:r>
                      <a:endParaRPr lang="vi-VN" sz="1400">
                        <a:effectLst/>
                      </a:endParaRPr>
                    </a:p>
                    <a:p>
                      <a:pPr rtl="0" fontAlgn="t">
                        <a:spcBef>
                          <a:spcPts val="240"/>
                        </a:spcBef>
                        <a:buNone/>
                      </a:pPr>
                      <a:r>
                        <a:rPr lang="vi-VN" sz="900" b="0" i="0" u="none" strike="noStrike">
                          <a:solidFill>
                            <a:srgbClr val="000000"/>
                          </a:solidFill>
                          <a:effectLst/>
                          <a:latin typeface="Arial" panose="020B0604020202020204" pitchFamily="34" charset="0"/>
                        </a:rPr>
                        <a:t>Kế hoạch xử lý rủi ro</a:t>
                      </a:r>
                      <a:endParaRPr lang="vi-VN" sz="1400">
                        <a:effectLst/>
                      </a:endParaRPr>
                    </a:p>
                  </a:txBody>
                  <a:tcPr marL="58069" marR="58069" marT="29035" marB="29035">
                    <a:lnL w="10157" cap="flat" cmpd="sng" algn="ctr">
                      <a:solidFill>
                        <a:srgbClr val="000000"/>
                      </a:solidFill>
                      <a:prstDash val="solid"/>
                      <a:round/>
                      <a:headEnd type="none" w="med" len="med"/>
                      <a:tailEnd type="none" w="med" len="med"/>
                    </a:lnL>
                    <a:lnR w="22860"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5954793"/>
                  </a:ext>
                </a:extLst>
              </a:tr>
              <a:tr h="461205">
                <a:tc>
                  <a:txBody>
                    <a:bodyPr/>
                    <a:lstStyle/>
                    <a:p>
                      <a:pPr rtl="0" fontAlgn="t">
                        <a:buNone/>
                      </a:pPr>
                      <a:r>
                        <a:rPr lang="en-US" sz="1100" b="0" i="0" u="none" strike="noStrike" dirty="0">
                          <a:solidFill>
                            <a:srgbClr val="000000"/>
                          </a:solidFill>
                          <a:effectLst/>
                          <a:latin typeface="Arial" panose="020B0604020202020204" pitchFamily="34" charset="0"/>
                        </a:rPr>
                        <a:t>9. Quản </a:t>
                      </a:r>
                      <a:r>
                        <a:rPr lang="en-US" sz="1100" b="0" i="0" u="none" strike="noStrike" dirty="0" err="1">
                          <a:solidFill>
                            <a:srgbClr val="000000"/>
                          </a:solidFill>
                          <a:effectLst/>
                          <a:latin typeface="Arial" panose="020B0604020202020204" pitchFamily="34" charset="0"/>
                        </a:rPr>
                        <a:t>lý</a:t>
                      </a:r>
                      <a:r>
                        <a:rPr lang="en-US" sz="1100" b="0" i="0" u="none" strike="noStrike" dirty="0">
                          <a:solidFill>
                            <a:srgbClr val="000000"/>
                          </a:solidFill>
                          <a:effectLst/>
                          <a:latin typeface="Arial" panose="020B0604020202020204" pitchFamily="34" charset="0"/>
                        </a:rPr>
                        <a:t> </a:t>
                      </a:r>
                      <a:r>
                        <a:rPr lang="en-US" sz="1100" b="0" i="0" u="none" strike="noStrike" dirty="0" err="1">
                          <a:solidFill>
                            <a:srgbClr val="000000"/>
                          </a:solidFill>
                          <a:effectLst/>
                          <a:latin typeface="Arial" panose="020B0604020202020204" pitchFamily="34" charset="0"/>
                        </a:rPr>
                        <a:t>mua</a:t>
                      </a:r>
                      <a:r>
                        <a:rPr lang="en-US" sz="1100" b="0" i="0" u="none" strike="noStrike" dirty="0">
                          <a:solidFill>
                            <a:srgbClr val="000000"/>
                          </a:solidFill>
                          <a:effectLst/>
                          <a:latin typeface="Arial" panose="020B0604020202020204" pitchFamily="34" charset="0"/>
                        </a:rPr>
                        <a:t> </a:t>
                      </a:r>
                      <a:r>
                        <a:rPr lang="en-US" sz="1100" b="0" i="0" u="none" strike="noStrike" dirty="0" err="1">
                          <a:solidFill>
                            <a:srgbClr val="000000"/>
                          </a:solidFill>
                          <a:effectLst/>
                          <a:latin typeface="Arial" panose="020B0604020202020204" pitchFamily="34" charset="0"/>
                        </a:rPr>
                        <a:t>sắm</a:t>
                      </a:r>
                      <a:endParaRPr lang="en-US" sz="1400" dirty="0">
                        <a:effectLst/>
                      </a:endParaRPr>
                    </a:p>
                  </a:txBody>
                  <a:tcPr marL="58069" marR="58069" marT="29035" marB="29035">
                    <a:lnL w="22860"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22860" cap="flat" cmpd="sng" algn="ctr">
                      <a:solidFill>
                        <a:srgbClr val="000000"/>
                      </a:solidFill>
                      <a:prstDash val="solid"/>
                      <a:round/>
                      <a:headEnd type="none" w="med" len="med"/>
                      <a:tailEnd type="none" w="med" len="med"/>
                    </a:lnB>
                    <a:noFill/>
                  </a:tcPr>
                </a:tc>
                <a:tc>
                  <a:txBody>
                    <a:bodyPr/>
                    <a:lstStyle/>
                    <a:p>
                      <a:pPr rtl="0" fontAlgn="t">
                        <a:buNone/>
                      </a:pPr>
                      <a:r>
                        <a:rPr lang="en-US" sz="900" b="0" i="0" u="none" strike="noStrike" dirty="0" err="1">
                          <a:solidFill>
                            <a:srgbClr val="000000"/>
                          </a:solidFill>
                          <a:effectLst/>
                          <a:latin typeface="Arial" panose="020B0604020202020204" pitchFamily="34" charset="0"/>
                        </a:rPr>
                        <a:t>Kế</a:t>
                      </a:r>
                      <a:r>
                        <a:rPr lang="en-US" sz="900" b="0" i="0" u="none" strike="noStrike" dirty="0">
                          <a:solidFill>
                            <a:srgbClr val="000000"/>
                          </a:solidFill>
                          <a:effectLst/>
                          <a:latin typeface="Arial" panose="020B0604020202020204" pitchFamily="34" charset="0"/>
                        </a:rPr>
                        <a:t> </a:t>
                      </a:r>
                      <a:r>
                        <a:rPr lang="en-US" sz="900" b="0" i="0" u="none" strike="noStrike" dirty="0" err="1">
                          <a:solidFill>
                            <a:srgbClr val="000000"/>
                          </a:solidFill>
                          <a:effectLst/>
                          <a:latin typeface="Arial" panose="020B0604020202020204" pitchFamily="34" charset="0"/>
                        </a:rPr>
                        <a:t>hoạch</a:t>
                      </a:r>
                      <a:r>
                        <a:rPr lang="en-US" sz="900" b="0" i="0" u="none" strike="noStrike" dirty="0">
                          <a:solidFill>
                            <a:srgbClr val="000000"/>
                          </a:solidFill>
                          <a:effectLst/>
                          <a:latin typeface="Arial" panose="020B0604020202020204" pitchFamily="34" charset="0"/>
                        </a:rPr>
                        <a:t> </a:t>
                      </a:r>
                      <a:r>
                        <a:rPr lang="en-US" sz="900" b="0" i="0" u="none" strike="noStrike" dirty="0" err="1">
                          <a:solidFill>
                            <a:srgbClr val="000000"/>
                          </a:solidFill>
                          <a:effectLst/>
                          <a:latin typeface="Arial" panose="020B0604020202020204" pitchFamily="34" charset="0"/>
                        </a:rPr>
                        <a:t>mua</a:t>
                      </a:r>
                      <a:r>
                        <a:rPr lang="en-US" sz="900" b="0" i="0" u="none" strike="noStrike" dirty="0">
                          <a:solidFill>
                            <a:srgbClr val="000000"/>
                          </a:solidFill>
                          <a:effectLst/>
                          <a:latin typeface="Arial" panose="020B0604020202020204" pitchFamily="34" charset="0"/>
                        </a:rPr>
                        <a:t> </a:t>
                      </a:r>
                      <a:r>
                        <a:rPr lang="en-US" sz="900" b="0" i="0" u="none" strike="noStrike" dirty="0" err="1">
                          <a:solidFill>
                            <a:srgbClr val="000000"/>
                          </a:solidFill>
                          <a:effectLst/>
                          <a:latin typeface="Arial" panose="020B0604020202020204" pitchFamily="34" charset="0"/>
                        </a:rPr>
                        <a:t>sắm</a:t>
                      </a:r>
                      <a:endParaRPr lang="en-US" sz="1400" dirty="0">
                        <a:effectLst/>
                      </a:endParaRPr>
                    </a:p>
                  </a:txBody>
                  <a:tcPr marL="58069" marR="58069" marT="29035" marB="29035">
                    <a:lnL w="10157" cap="flat" cmpd="sng" algn="ctr">
                      <a:solidFill>
                        <a:srgbClr val="000000"/>
                      </a:solidFill>
                      <a:prstDash val="solid"/>
                      <a:round/>
                      <a:headEnd type="none" w="med" len="med"/>
                      <a:tailEnd type="none" w="med" len="med"/>
                    </a:lnL>
                    <a:lnR w="22860"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2286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4370896"/>
                  </a:ext>
                </a:extLst>
              </a:tr>
            </a:tbl>
          </a:graphicData>
        </a:graphic>
      </p:graphicFrame>
      <p:sp>
        <p:nvSpPr>
          <p:cNvPr id="22" name="Rectangle 3">
            <a:extLst>
              <a:ext uri="{FF2B5EF4-FFF2-40B4-BE49-F238E27FC236}">
                <a16:creationId xmlns:a16="http://schemas.microsoft.com/office/drawing/2014/main" id="{4780653D-E0A6-E754-3BC7-81F967BCBCCC}"/>
              </a:ext>
            </a:extLst>
          </p:cNvPr>
          <p:cNvSpPr>
            <a:spLocks noChangeArrowheads="1"/>
          </p:cNvSpPr>
          <p:nvPr/>
        </p:nvSpPr>
        <p:spPr bwMode="auto">
          <a:xfrm>
            <a:off x="6044799" y="215054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255416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1A319-F34A-C72E-048D-DE0E8ACCB8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B3C0F-C3F4-1563-A3D2-5D085A59FC26}"/>
              </a:ext>
            </a:extLst>
          </p:cNvPr>
          <p:cNvSpPr>
            <a:spLocks noGrp="1"/>
          </p:cNvSpPr>
          <p:nvPr>
            <p:ph type="title"/>
          </p:nvPr>
        </p:nvSpPr>
        <p:spPr>
          <a:xfrm>
            <a:off x="2095119" y="2365248"/>
            <a:ext cx="4953762" cy="2127504"/>
          </a:xfrm>
        </p:spPr>
        <p:txBody>
          <a:bodyPr/>
          <a:lstStyle/>
          <a:p>
            <a:r>
              <a:rPr lang="en-US" dirty="0"/>
              <a:t>2</a:t>
            </a:r>
            <a:br>
              <a:rPr lang="en-US" dirty="0"/>
            </a:br>
            <a:r>
              <a:rPr lang="en-US" dirty="0"/>
              <a:t>Quy </a:t>
            </a:r>
            <a:r>
              <a:rPr lang="en-US" dirty="0" err="1"/>
              <a:t>trình</a:t>
            </a:r>
            <a:r>
              <a:rPr lang="en-US" dirty="0"/>
              <a:t> </a:t>
            </a:r>
            <a:r>
              <a:rPr lang="en-US" dirty="0" err="1"/>
              <a:t>lập</a:t>
            </a:r>
            <a:r>
              <a:rPr lang="en-US" dirty="0"/>
              <a:t> </a:t>
            </a:r>
            <a:r>
              <a:rPr lang="en-US" dirty="0" err="1"/>
              <a:t>kế</a:t>
            </a:r>
            <a:r>
              <a:rPr lang="en-US" dirty="0"/>
              <a:t> </a:t>
            </a:r>
            <a:r>
              <a:rPr lang="en-US" dirty="0" err="1"/>
              <a:t>hoạch</a:t>
            </a:r>
            <a:r>
              <a:rPr lang="en-US" dirty="0"/>
              <a:t> </a:t>
            </a:r>
            <a:r>
              <a:rPr lang="en-US" dirty="0" err="1"/>
              <a:t>quản</a:t>
            </a:r>
            <a:r>
              <a:rPr lang="en-US" dirty="0"/>
              <a:t> </a:t>
            </a:r>
            <a:r>
              <a:rPr lang="en-US" dirty="0" err="1"/>
              <a:t>lý</a:t>
            </a:r>
            <a:r>
              <a:rPr lang="en-US" dirty="0"/>
              <a:t> </a:t>
            </a:r>
            <a:r>
              <a:rPr lang="en-US" dirty="0" err="1"/>
              <a:t>thời</a:t>
            </a:r>
            <a:r>
              <a:rPr lang="en-US" dirty="0"/>
              <a:t> </a:t>
            </a:r>
            <a:r>
              <a:rPr lang="en-US" dirty="0" err="1"/>
              <a:t>gian</a:t>
            </a:r>
            <a:endParaRPr lang="en-US" dirty="0"/>
          </a:p>
        </p:txBody>
      </p:sp>
    </p:spTree>
    <p:extLst>
      <p:ext uri="{BB962C8B-B14F-4D97-AF65-F5344CB8AC3E}">
        <p14:creationId xmlns:p14="http://schemas.microsoft.com/office/powerpoint/2010/main" val="3535401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86670-FD09-796B-7EDF-7E705E0CF08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6BC2B9-8A8E-1A26-165A-BDD9B965C287}"/>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A90735AB-A263-1AF0-6583-4212E8D05525}"/>
              </a:ext>
            </a:extLst>
          </p:cNvPr>
          <p:cNvSpPr>
            <a:spLocks noGrp="1"/>
          </p:cNvSpPr>
          <p:nvPr>
            <p:ph type="title"/>
          </p:nvPr>
        </p:nvSpPr>
        <p:spPr/>
        <p:txBody>
          <a:bodyPr/>
          <a:lstStyle/>
          <a:p>
            <a:r>
              <a:rPr lang="en-US" dirty="0"/>
              <a:t>Quy </a:t>
            </a:r>
            <a:r>
              <a:rPr lang="en-US" dirty="0" err="1"/>
              <a:t>trình</a:t>
            </a:r>
            <a:endParaRPr lang="en-US" dirty="0"/>
          </a:p>
        </p:txBody>
      </p:sp>
      <p:sp>
        <p:nvSpPr>
          <p:cNvPr id="4" name="Text Placeholder 3">
            <a:extLst>
              <a:ext uri="{FF2B5EF4-FFF2-40B4-BE49-F238E27FC236}">
                <a16:creationId xmlns:a16="http://schemas.microsoft.com/office/drawing/2014/main" id="{60E219CA-669C-D25C-D54D-C6C85705305E}"/>
              </a:ext>
            </a:extLst>
          </p:cNvPr>
          <p:cNvSpPr>
            <a:spLocks noGrp="1"/>
          </p:cNvSpPr>
          <p:nvPr>
            <p:ph type="body" sz="quarter" idx="13"/>
          </p:nvPr>
        </p:nvSpPr>
        <p:spPr>
          <a:xfrm>
            <a:off x="234951" y="963168"/>
            <a:ext cx="4889499" cy="5390007"/>
          </a:xfrm>
        </p:spPr>
        <p:txBody>
          <a:bodyPr/>
          <a:lstStyle/>
          <a:p>
            <a:r>
              <a:rPr lang="en-US" sz="2000" dirty="0" err="1">
                <a:latin typeface="Times New Roman" panose="02020603050405020304" pitchFamily="18" charset="0"/>
                <a:cs typeface="Times New Roman" panose="02020603050405020304" pitchFamily="18" charset="0"/>
              </a:rPr>
              <a:t>Để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lập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kế</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hoạch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lý</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thời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dự</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án</a:t>
            </a:r>
            <a:r>
              <a:rPr lang="en-US" sz="2000" dirty="0">
                <a:latin typeface="Times New Roman" panose="02020603050405020304" pitchFamily="18" charset="0"/>
                <a:cs typeface="Times New Roman" panose="02020603050405020304" pitchFamily="18" charset="0"/>
              </a:rPr>
              <a:t>, ta </a:t>
            </a:r>
            <a:r>
              <a:rPr lang="en-US" sz="2000" dirty="0" err="1">
                <a:latin typeface="Times New Roman" panose="02020603050405020304" pitchFamily="18" charset="0"/>
                <a:cs typeface="Times New Roman" panose="02020603050405020304" pitchFamily="18" charset="0"/>
              </a:rPr>
              <a:t>cần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theo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bước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sau</a:t>
            </a:r>
            <a:r>
              <a:rPr lang="en-US" sz="2000" dirty="0">
                <a:latin typeface="Times New Roman" panose="02020603050405020304" pitchFamily="18" charset="0"/>
                <a:cs typeface="Times New Roman" panose="02020603050405020304" pitchFamily="18" charset="0"/>
              </a:rPr>
              <a:t>: </a:t>
            </a:r>
          </a:p>
          <a:p>
            <a:pPr marL="457200" indent="-457200">
              <a:buFont typeface="+mj-lt"/>
              <a:buAutoNum type="arabicPeriod"/>
            </a:pPr>
            <a:r>
              <a:rPr lang="en-US" sz="1800" dirty="0" err="1">
                <a:latin typeface="Times New Roman" panose="02020603050405020304" pitchFamily="18" charset="0"/>
                <a:cs typeface="Times New Roman" panose="02020603050405020304" pitchFamily="18" charset="0"/>
              </a:rPr>
              <a:t>Xác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định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động</a:t>
            </a:r>
            <a:endParaRPr lang="en-US" sz="18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1800" dirty="0" err="1">
                <a:latin typeface="Times New Roman" panose="02020603050405020304" pitchFamily="18" charset="0"/>
                <a:cs typeface="Times New Roman" panose="02020603050405020304" pitchFamily="18" charset="0"/>
              </a:rPr>
              <a:t>Sắp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xếp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tuần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tự</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động</a:t>
            </a:r>
            <a:endParaRPr lang="en-US" sz="18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1800" dirty="0" err="1">
                <a:latin typeface="Times New Roman" panose="02020603050405020304" pitchFamily="18" charset="0"/>
                <a:cs typeface="Times New Roman" panose="02020603050405020304" pitchFamily="18" charset="0"/>
              </a:rPr>
              <a:t>Ước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lượng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tài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nguyên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động</a:t>
            </a:r>
            <a:endParaRPr lang="en-US" sz="18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1800" dirty="0" err="1">
                <a:latin typeface="Times New Roman" panose="02020603050405020304" pitchFamily="18" charset="0"/>
                <a:cs typeface="Times New Roman" panose="02020603050405020304" pitchFamily="18" charset="0"/>
              </a:rPr>
              <a:t>Ước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lượng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thời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hoàn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thành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vụ</a:t>
            </a:r>
            <a:r>
              <a:rPr lang="en-US" sz="1800" dirty="0">
                <a:latin typeface="Times New Roman" panose="02020603050405020304" pitchFamily="18" charset="0"/>
                <a:cs typeface="Times New Roman" panose="02020603050405020304" pitchFamily="18" charset="0"/>
              </a:rPr>
              <a:t>.</a:t>
            </a:r>
          </a:p>
          <a:p>
            <a:pPr marL="457200" indent="-457200">
              <a:buFont typeface="+mj-lt"/>
              <a:buAutoNum type="arabicPeriod"/>
            </a:pPr>
            <a:r>
              <a:rPr lang="en-US" sz="1800" dirty="0" err="1">
                <a:latin typeface="Times New Roman" panose="02020603050405020304" pitchFamily="18" charset="0"/>
                <a:cs typeface="Times New Roman" panose="02020603050405020304" pitchFamily="18" charset="0"/>
              </a:rPr>
              <a:t>Tổng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hợp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thành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bản</a:t>
            </a:r>
            <a:r>
              <a:rPr lang="en-US" sz="1800" dirty="0">
                <a:latin typeface="Times New Roman" panose="02020603050405020304" pitchFamily="18" charset="0"/>
                <a:cs typeface="Times New Roman" panose="02020603050405020304" pitchFamily="18" charset="0"/>
              </a:rPr>
              <a:t> Schedule.</a:t>
            </a:r>
          </a:p>
        </p:txBody>
      </p:sp>
      <p:sp>
        <p:nvSpPr>
          <p:cNvPr id="22" name="Rectangle 3">
            <a:extLst>
              <a:ext uri="{FF2B5EF4-FFF2-40B4-BE49-F238E27FC236}">
                <a16:creationId xmlns:a16="http://schemas.microsoft.com/office/drawing/2014/main" id="{6D36A2C5-D99B-4B41-E114-75A0B004C1FF}"/>
              </a:ext>
            </a:extLst>
          </p:cNvPr>
          <p:cNvSpPr>
            <a:spLocks noChangeArrowheads="1"/>
          </p:cNvSpPr>
          <p:nvPr/>
        </p:nvSpPr>
        <p:spPr bwMode="auto">
          <a:xfrm>
            <a:off x="6044799" y="215054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 name="Picture 5">
            <a:extLst>
              <a:ext uri="{FF2B5EF4-FFF2-40B4-BE49-F238E27FC236}">
                <a16:creationId xmlns:a16="http://schemas.microsoft.com/office/drawing/2014/main" id="{EFECB4B8-AA7F-323A-7068-ADB6BA9F544D}"/>
              </a:ext>
            </a:extLst>
          </p:cNvPr>
          <p:cNvPicPr>
            <a:picLocks noChangeAspect="1"/>
          </p:cNvPicPr>
          <p:nvPr/>
        </p:nvPicPr>
        <p:blipFill>
          <a:blip r:embed="rId2"/>
          <a:stretch>
            <a:fillRect/>
          </a:stretch>
        </p:blipFill>
        <p:spPr>
          <a:xfrm>
            <a:off x="5010292" y="1464577"/>
            <a:ext cx="4133708" cy="3469373"/>
          </a:xfrm>
          <a:prstGeom prst="rect">
            <a:avLst/>
          </a:prstGeom>
        </p:spPr>
      </p:pic>
    </p:spTree>
    <p:extLst>
      <p:ext uri="{BB962C8B-B14F-4D97-AF65-F5344CB8AC3E}">
        <p14:creationId xmlns:p14="http://schemas.microsoft.com/office/powerpoint/2010/main" val="4286810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E0E0D-B2F0-F65A-A154-566F8FBBB5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35E2C3-FC33-A59E-ABF6-0B7FAD29E541}"/>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45C571B2-26EB-F708-AF99-C485DD520BEB}"/>
              </a:ext>
            </a:extLst>
          </p:cNvPr>
          <p:cNvSpPr>
            <a:spLocks noGrp="1"/>
          </p:cNvSpPr>
          <p:nvPr>
            <p:ph type="title"/>
          </p:nvPr>
        </p:nvSpPr>
        <p:spPr/>
        <p:txBody>
          <a:bodyPr/>
          <a:lstStyle/>
          <a:p>
            <a:r>
              <a:rPr lang="en-US" dirty="0" err="1"/>
              <a:t>Xác</a:t>
            </a:r>
            <a:r>
              <a:rPr lang="en-US" dirty="0"/>
              <a:t> </a:t>
            </a:r>
            <a:r>
              <a:rPr lang="en-US" dirty="0" err="1"/>
              <a:t>định</a:t>
            </a:r>
            <a:r>
              <a:rPr lang="en-US" dirty="0"/>
              <a:t> </a:t>
            </a:r>
            <a:r>
              <a:rPr lang="en-US" dirty="0" err="1"/>
              <a:t>các</a:t>
            </a:r>
            <a:r>
              <a:rPr lang="en-US" dirty="0"/>
              <a:t> </a:t>
            </a:r>
            <a:r>
              <a:rPr lang="en-US" dirty="0" err="1"/>
              <a:t>hoạt</a:t>
            </a:r>
            <a:r>
              <a:rPr lang="en-US" dirty="0"/>
              <a:t> </a:t>
            </a:r>
            <a:r>
              <a:rPr lang="en-US" dirty="0" err="1"/>
              <a:t>động</a:t>
            </a:r>
            <a:endParaRPr lang="en-US" dirty="0"/>
          </a:p>
        </p:txBody>
      </p:sp>
      <p:sp>
        <p:nvSpPr>
          <p:cNvPr id="4" name="Text Placeholder 3">
            <a:extLst>
              <a:ext uri="{FF2B5EF4-FFF2-40B4-BE49-F238E27FC236}">
                <a16:creationId xmlns:a16="http://schemas.microsoft.com/office/drawing/2014/main" id="{1F1BA601-016C-E382-07A4-8EBA60843CBC}"/>
              </a:ext>
            </a:extLst>
          </p:cNvPr>
          <p:cNvSpPr>
            <a:spLocks noGrp="1"/>
          </p:cNvSpPr>
          <p:nvPr>
            <p:ph type="body" sz="quarter" idx="13"/>
          </p:nvPr>
        </p:nvSpPr>
        <p:spPr>
          <a:xfrm>
            <a:off x="234951" y="963168"/>
            <a:ext cx="8689832" cy="5390007"/>
          </a:xfrm>
        </p:spPr>
        <p:txBody>
          <a:bodyPr/>
          <a:lstStyle/>
          <a:p>
            <a:r>
              <a:rPr lang="en-US" sz="1800" dirty="0" err="1">
                <a:latin typeface="Times New Roman" panose="02020603050405020304" pitchFamily="18" charset="0"/>
                <a:cs typeface="Times New Roman" panose="02020603050405020304" pitchFamily="18" charset="0"/>
              </a:rPr>
              <a:t>Đây</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bước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đầu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tiên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xây</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dựng</a:t>
            </a:r>
            <a:r>
              <a:rPr lang="en-US" sz="1800" dirty="0">
                <a:latin typeface="Times New Roman" panose="02020603050405020304" pitchFamily="18" charset="0"/>
                <a:cs typeface="Times New Roman" panose="02020603050405020304" pitchFamily="18" charset="0"/>
              </a:rPr>
              <a:t> Schedule.</a:t>
            </a:r>
          </a:p>
          <a:p>
            <a:r>
              <a:rPr lang="en-US" sz="1800" dirty="0">
                <a:latin typeface="Times New Roman" panose="02020603050405020304" pitchFamily="18" charset="0"/>
                <a:cs typeface="Times New Roman" panose="02020603050405020304" pitchFamily="18" charset="0"/>
              </a:rPr>
              <a:t>Ta </a:t>
            </a:r>
            <a:r>
              <a:rPr lang="en-US" sz="1800" dirty="0" err="1">
                <a:latin typeface="Times New Roman" panose="02020603050405020304" pitchFamily="18" charset="0"/>
                <a:cs typeface="Times New Roman" panose="02020603050405020304" pitchFamily="18" charset="0"/>
              </a:rPr>
              <a:t>bắt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đầu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từ</a:t>
            </a:r>
            <a:r>
              <a:rPr lang="en-US" sz="1800" dirty="0">
                <a:latin typeface="Times New Roman" panose="02020603050405020304" pitchFamily="18" charset="0"/>
                <a:cs typeface="Times New Roman" panose="02020603050405020304" pitchFamily="18" charset="0"/>
              </a:rPr>
              <a:t> WBS (Work Breakdown Structure) </a:t>
            </a:r>
            <a:r>
              <a:rPr lang="en-US" sz="1800" dirty="0" err="1">
                <a:latin typeface="Times New Roman" panose="02020603050405020304" pitchFamily="18" charset="0"/>
                <a:cs typeface="Times New Roman" panose="02020603050405020304" pitchFamily="18" charset="0"/>
              </a:rPr>
              <a:t>để</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xác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định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công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việc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cần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làm</a:t>
            </a:r>
            <a:r>
              <a:rPr lang="en-US" sz="1800" dirty="0">
                <a:latin typeface="Times New Roman" panose="02020603050405020304" pitchFamily="18" charset="0"/>
                <a:cs typeface="Times New Roman" panose="02020603050405020304" pitchFamily="18" charset="0"/>
              </a:rPr>
              <a:t>.</a:t>
            </a:r>
          </a:p>
          <a:p>
            <a:r>
              <a:rPr lang="en-US" sz="1800" dirty="0" err="1">
                <a:latin typeface="Times New Roman" panose="02020603050405020304" pitchFamily="18" charset="0"/>
                <a:cs typeface="Times New Roman" panose="02020603050405020304" pitchFamily="18" charset="0"/>
              </a:rPr>
              <a:t>Hoạt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động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cần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phải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đủ</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nhỏ</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để</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dễ</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dàng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ước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lượng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về</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thời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nguồn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lực</a:t>
            </a:r>
            <a:r>
              <a:rPr lang="en-US" sz="1800" dirty="0">
                <a:latin typeface="Times New Roman" panose="02020603050405020304" pitchFamily="18" charset="0"/>
                <a:cs typeface="Times New Roman" panose="02020603050405020304" pitchFamily="18" charset="0"/>
              </a:rPr>
              <a:t>.</a:t>
            </a:r>
          </a:p>
          <a:p>
            <a:pPr marL="0" indent="0">
              <a:buNone/>
            </a:pPr>
            <a:r>
              <a:rPr lang="en-US" sz="1800" dirty="0">
                <a:solidFill>
                  <a:srgbClr val="FF0000"/>
                </a:solidFill>
                <a:latin typeface="Times New Roman" panose="02020603050405020304" pitchFamily="18" charset="0"/>
                <a:cs typeface="Times New Roman" panose="02020603050405020304" pitchFamily="18" charset="0"/>
              </a:rPr>
              <a:t>! Lưu ý: </a:t>
            </a:r>
            <a:r>
              <a:rPr lang="en-US" sz="1800" dirty="0" err="1">
                <a:latin typeface="Times New Roman" panose="02020603050405020304" pitchFamily="18" charset="0"/>
                <a:cs typeface="Times New Roman" panose="02020603050405020304" pitchFamily="18" charset="0"/>
              </a:rPr>
              <a:t>Cần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phải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đảm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bảo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work package </a:t>
            </a:r>
            <a:r>
              <a:rPr lang="en-US" sz="1800" dirty="0" err="1">
                <a:latin typeface="Times New Roman" panose="02020603050405020304" pitchFamily="18" charset="0"/>
                <a:cs typeface="Times New Roman" panose="02020603050405020304" pitchFamily="18" charset="0"/>
              </a:rPr>
              <a:t>đã</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đủ</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nhỏ</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để</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ước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lượng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sự</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phân</a:t>
            </a:r>
            <a:r>
              <a:rPr lang="en-US" sz="1800" dirty="0">
                <a:latin typeface="Times New Roman" panose="02020603050405020304" pitchFamily="18" charset="0"/>
                <a:cs typeface="Times New Roman" panose="02020603050405020304" pitchFamily="18" charset="0"/>
              </a:rPr>
              <a:t> chia </a:t>
            </a:r>
            <a:r>
              <a:rPr lang="en-US" sz="1800" dirty="0" err="1">
                <a:latin typeface="Times New Roman" panose="02020603050405020304" pitchFamily="18" charset="0"/>
                <a:cs typeface="Times New Roman" panose="02020603050405020304" pitchFamily="18" charset="0"/>
              </a:rPr>
              <a:t>có</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rõ</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ràng</a:t>
            </a:r>
            <a:r>
              <a:rPr lang="en-US" sz="1800" dirty="0">
                <a:latin typeface="Times New Roman" panose="02020603050405020304" pitchFamily="18" charset="0"/>
                <a:cs typeface="Times New Roman" panose="02020603050405020304" pitchFamily="18" charset="0"/>
              </a:rPr>
              <a:t> hay </a:t>
            </a:r>
            <a:r>
              <a:rPr lang="en-US" sz="1800" dirty="0" err="1">
                <a:latin typeface="Times New Roman" panose="02020603050405020304" pitchFamily="18" charset="0"/>
                <a:cs typeface="Times New Roman" panose="02020603050405020304" pitchFamily="18" charset="0"/>
              </a:rPr>
              <a:t>không</a:t>
            </a:r>
            <a:r>
              <a:rPr lang="en-US" sz="1800" dirty="0">
                <a:latin typeface="Times New Roman" panose="02020603050405020304" pitchFamily="18" charset="0"/>
                <a:cs typeface="Times New Roman" panose="02020603050405020304" pitchFamily="18" charset="0"/>
              </a:rPr>
              <a:t>?</a:t>
            </a:r>
          </a:p>
          <a:p>
            <a:pPr marL="0" indent="0">
              <a:buNone/>
            </a:pPr>
            <a:endParaRPr lang="en-US" sz="1800" dirty="0">
              <a:latin typeface="Times New Roman" panose="02020603050405020304" pitchFamily="18" charset="0"/>
              <a:cs typeface="Times New Roman" panose="02020603050405020304" pitchFamily="18" charset="0"/>
            </a:endParaRPr>
          </a:p>
        </p:txBody>
      </p:sp>
      <p:sp>
        <p:nvSpPr>
          <p:cNvPr id="22" name="Rectangle 3">
            <a:extLst>
              <a:ext uri="{FF2B5EF4-FFF2-40B4-BE49-F238E27FC236}">
                <a16:creationId xmlns:a16="http://schemas.microsoft.com/office/drawing/2014/main" id="{B59AF349-319A-91B5-AEF1-43865FD82A5D}"/>
              </a:ext>
            </a:extLst>
          </p:cNvPr>
          <p:cNvSpPr>
            <a:spLocks noChangeArrowheads="1"/>
          </p:cNvSpPr>
          <p:nvPr/>
        </p:nvSpPr>
        <p:spPr bwMode="auto">
          <a:xfrm>
            <a:off x="6044799" y="215054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Shape 4">
            <a:extLst>
              <a:ext uri="{FF2B5EF4-FFF2-40B4-BE49-F238E27FC236}">
                <a16:creationId xmlns:a16="http://schemas.microsoft.com/office/drawing/2014/main" id="{71BB7215-F71D-7A45-C3A6-5FC537DE0993}"/>
              </a:ext>
            </a:extLst>
          </p:cNvPr>
          <p:cNvSpPr/>
          <p:nvPr/>
        </p:nvSpPr>
        <p:spPr>
          <a:xfrm>
            <a:off x="3733233" y="3040558"/>
            <a:ext cx="5191549" cy="3149727"/>
          </a:xfrm>
          <a:prstGeom prst="rect">
            <a:avLst/>
          </a:prstGeom>
          <a:solidFill>
            <a:srgbClr val="FFFFFF"/>
          </a:solidFill>
          <a:ln w="12700">
            <a:solidFill>
              <a:srgbClr val="D1D5DB"/>
            </a:solidFill>
            <a:prstDash val="solid"/>
          </a:ln>
          <a:effectLst>
            <a:outerShdw blurRad="19050" dist="10160" dir="2700000" algn="bl" rotWithShape="0">
              <a:srgbClr val="000000">
                <a:alpha val="8000"/>
              </a:srgbClr>
            </a:outerShdw>
          </a:effectLst>
        </p:spPr>
        <p:txBody>
          <a:bodyPr/>
          <a:lstStyle/>
          <a:p>
            <a:endParaRPr lang="en-US"/>
          </a:p>
        </p:txBody>
      </p:sp>
      <p:sp>
        <p:nvSpPr>
          <p:cNvPr id="7" name="Text 5">
            <a:extLst>
              <a:ext uri="{FF2B5EF4-FFF2-40B4-BE49-F238E27FC236}">
                <a16:creationId xmlns:a16="http://schemas.microsoft.com/office/drawing/2014/main" id="{8D44713C-E47A-7994-5928-2BB3BEA4FE36}"/>
              </a:ext>
            </a:extLst>
          </p:cNvPr>
          <p:cNvSpPr/>
          <p:nvPr/>
        </p:nvSpPr>
        <p:spPr>
          <a:xfrm>
            <a:off x="3922411" y="3223438"/>
            <a:ext cx="4722405" cy="196858"/>
          </a:xfrm>
          <a:prstGeom prst="rect">
            <a:avLst/>
          </a:prstGeom>
          <a:noFill/>
          <a:ln/>
        </p:spPr>
        <p:txBody>
          <a:bodyPr wrap="square" rtlCol="0" anchor="ctr"/>
          <a:lstStyle/>
          <a:p>
            <a:pPr marL="0" indent="0">
              <a:buNone/>
            </a:pPr>
            <a:r>
              <a:rPr lang="en-US" sz="1400" b="1" dirty="0">
                <a:solidFill>
                  <a:srgbClr val="111827"/>
                </a:solidFill>
                <a:latin typeface="Arial" pitchFamily="34" charset="0"/>
                <a:ea typeface="Arial" pitchFamily="34" charset="-122"/>
                <a:cs typeface="Arial" pitchFamily="34" charset="-120"/>
              </a:rPr>
              <a:t>Minh hoạ: WBS → Activities</a:t>
            </a:r>
            <a:endParaRPr lang="en-US" sz="1400" dirty="0"/>
          </a:p>
        </p:txBody>
      </p:sp>
      <p:sp>
        <p:nvSpPr>
          <p:cNvPr id="8" name="Shape 6">
            <a:extLst>
              <a:ext uri="{FF2B5EF4-FFF2-40B4-BE49-F238E27FC236}">
                <a16:creationId xmlns:a16="http://schemas.microsoft.com/office/drawing/2014/main" id="{161C094E-A0E6-786C-8C88-C455124E17BE}"/>
              </a:ext>
            </a:extLst>
          </p:cNvPr>
          <p:cNvSpPr/>
          <p:nvPr/>
        </p:nvSpPr>
        <p:spPr>
          <a:xfrm>
            <a:off x="3806255" y="3726358"/>
            <a:ext cx="2251892" cy="393716"/>
          </a:xfrm>
          <a:prstGeom prst="roundRect">
            <a:avLst/>
          </a:prstGeom>
          <a:solidFill>
            <a:srgbClr val="DBEAFE"/>
          </a:solidFill>
          <a:ln w="12700">
            <a:solidFill>
              <a:srgbClr val="1D4ED8"/>
            </a:solidFill>
            <a:prstDash val="solid"/>
          </a:ln>
        </p:spPr>
        <p:txBody>
          <a:bodyPr/>
          <a:lstStyle/>
          <a:p>
            <a:endParaRPr lang="en-US"/>
          </a:p>
        </p:txBody>
      </p:sp>
      <p:sp>
        <p:nvSpPr>
          <p:cNvPr id="9" name="Text 7">
            <a:extLst>
              <a:ext uri="{FF2B5EF4-FFF2-40B4-BE49-F238E27FC236}">
                <a16:creationId xmlns:a16="http://schemas.microsoft.com/office/drawing/2014/main" id="{6AEC93C3-9CE5-6C83-D6B9-9EBB0ECCDE2A}"/>
              </a:ext>
            </a:extLst>
          </p:cNvPr>
          <p:cNvSpPr/>
          <p:nvPr/>
        </p:nvSpPr>
        <p:spPr>
          <a:xfrm>
            <a:off x="3806255" y="3790366"/>
            <a:ext cx="2251892" cy="295287"/>
          </a:xfrm>
          <a:prstGeom prst="rect">
            <a:avLst/>
          </a:prstGeom>
          <a:noFill/>
          <a:ln/>
        </p:spPr>
        <p:txBody>
          <a:bodyPr wrap="square" rtlCol="0" anchor="ctr"/>
          <a:lstStyle/>
          <a:p>
            <a:pPr marL="0" indent="0" algn="ctr">
              <a:buNone/>
            </a:pPr>
            <a:r>
              <a:rPr lang="en-US" sz="1200" b="1" dirty="0">
                <a:solidFill>
                  <a:srgbClr val="111827"/>
                </a:solidFill>
                <a:latin typeface="Arial" pitchFamily="34" charset="0"/>
                <a:ea typeface="Arial" pitchFamily="34" charset="-122"/>
                <a:cs typeface="Arial" pitchFamily="34" charset="-120"/>
              </a:rPr>
              <a:t>WBS</a:t>
            </a:r>
            <a:endParaRPr lang="en-US" sz="1200" dirty="0"/>
          </a:p>
          <a:p>
            <a:pPr marL="0" indent="0" algn="ctr">
              <a:buNone/>
            </a:pPr>
            <a:r>
              <a:rPr lang="en-US" sz="1200" b="1" dirty="0">
                <a:solidFill>
                  <a:srgbClr val="111827"/>
                </a:solidFill>
                <a:latin typeface="Arial" pitchFamily="34" charset="0"/>
                <a:ea typeface="Arial" pitchFamily="34" charset="-122"/>
                <a:cs typeface="Arial" pitchFamily="34" charset="-120"/>
              </a:rPr>
              <a:t>(Deliverables)</a:t>
            </a:r>
            <a:endParaRPr lang="en-US" sz="1200" dirty="0"/>
          </a:p>
        </p:txBody>
      </p:sp>
      <p:sp>
        <p:nvSpPr>
          <p:cNvPr id="10" name="Shape 8">
            <a:extLst>
              <a:ext uri="{FF2B5EF4-FFF2-40B4-BE49-F238E27FC236}">
                <a16:creationId xmlns:a16="http://schemas.microsoft.com/office/drawing/2014/main" id="{8B114792-7D22-B169-C904-28B0FFEEB527}"/>
              </a:ext>
            </a:extLst>
          </p:cNvPr>
          <p:cNvSpPr/>
          <p:nvPr/>
        </p:nvSpPr>
        <p:spPr>
          <a:xfrm>
            <a:off x="6037832" y="3881806"/>
            <a:ext cx="516059" cy="164048"/>
          </a:xfrm>
          <a:prstGeom prst="rightArrow">
            <a:avLst/>
          </a:prstGeom>
          <a:solidFill>
            <a:srgbClr val="1D4ED8"/>
          </a:solidFill>
          <a:ln w="12700">
            <a:solidFill>
              <a:srgbClr val="1D4ED8"/>
            </a:solidFill>
            <a:prstDash val="solid"/>
          </a:ln>
        </p:spPr>
        <p:txBody>
          <a:bodyPr/>
          <a:lstStyle/>
          <a:p>
            <a:endParaRPr lang="en-US"/>
          </a:p>
        </p:txBody>
      </p:sp>
      <p:sp>
        <p:nvSpPr>
          <p:cNvPr id="11" name="Shape 9">
            <a:extLst>
              <a:ext uri="{FF2B5EF4-FFF2-40B4-BE49-F238E27FC236}">
                <a16:creationId xmlns:a16="http://schemas.microsoft.com/office/drawing/2014/main" id="{66259F41-D005-C73E-2835-166F021248A7}"/>
              </a:ext>
            </a:extLst>
          </p:cNvPr>
          <p:cNvSpPr/>
          <p:nvPr/>
        </p:nvSpPr>
        <p:spPr>
          <a:xfrm>
            <a:off x="6755417" y="3726358"/>
            <a:ext cx="1438396" cy="1870150"/>
          </a:xfrm>
          <a:prstGeom prst="roundRect">
            <a:avLst/>
          </a:prstGeom>
          <a:solidFill>
            <a:srgbClr val="F1F5F9"/>
          </a:solidFill>
          <a:ln w="12700">
            <a:solidFill>
              <a:srgbClr val="D1D5DB"/>
            </a:solidFill>
            <a:prstDash val="solid"/>
          </a:ln>
        </p:spPr>
        <p:txBody>
          <a:bodyPr/>
          <a:lstStyle/>
          <a:p>
            <a:endParaRPr lang="en-US"/>
          </a:p>
        </p:txBody>
      </p:sp>
      <p:sp>
        <p:nvSpPr>
          <p:cNvPr id="12" name="Text 10">
            <a:extLst>
              <a:ext uri="{FF2B5EF4-FFF2-40B4-BE49-F238E27FC236}">
                <a16:creationId xmlns:a16="http://schemas.microsoft.com/office/drawing/2014/main" id="{41CD225E-18E4-C0D6-AB51-5A1BB7383E53}"/>
              </a:ext>
            </a:extLst>
          </p:cNvPr>
          <p:cNvSpPr/>
          <p:nvPr/>
        </p:nvSpPr>
        <p:spPr>
          <a:xfrm>
            <a:off x="6906759" y="3909238"/>
            <a:ext cx="1063081" cy="196858"/>
          </a:xfrm>
          <a:prstGeom prst="rect">
            <a:avLst/>
          </a:prstGeom>
          <a:noFill/>
          <a:ln/>
        </p:spPr>
        <p:txBody>
          <a:bodyPr wrap="square" rtlCol="0" anchor="ctr"/>
          <a:lstStyle/>
          <a:p>
            <a:pPr marL="0" indent="0">
              <a:buNone/>
            </a:pPr>
            <a:r>
              <a:rPr lang="en-US" sz="1300" b="1" dirty="0">
                <a:solidFill>
                  <a:srgbClr val="111827"/>
                </a:solidFill>
                <a:latin typeface="Arial" pitchFamily="34" charset="0"/>
                <a:ea typeface="Arial" pitchFamily="34" charset="-122"/>
                <a:cs typeface="Arial" pitchFamily="34" charset="-120"/>
              </a:rPr>
              <a:t>Activities (ví dụ)</a:t>
            </a:r>
            <a:endParaRPr lang="en-US" sz="1300" dirty="0"/>
          </a:p>
        </p:txBody>
      </p:sp>
      <p:sp>
        <p:nvSpPr>
          <p:cNvPr id="13" name="Text 11">
            <a:extLst>
              <a:ext uri="{FF2B5EF4-FFF2-40B4-BE49-F238E27FC236}">
                <a16:creationId xmlns:a16="http://schemas.microsoft.com/office/drawing/2014/main" id="{5F335BBC-E4C2-DDE7-092C-CF1ADAA2635A}"/>
              </a:ext>
            </a:extLst>
          </p:cNvPr>
          <p:cNvSpPr/>
          <p:nvPr/>
        </p:nvSpPr>
        <p:spPr>
          <a:xfrm>
            <a:off x="6755417" y="4217307"/>
            <a:ext cx="1628150" cy="1443625"/>
          </a:xfrm>
          <a:prstGeom prst="rect">
            <a:avLst/>
          </a:prstGeom>
          <a:noFill/>
          <a:ln/>
        </p:spPr>
        <p:txBody>
          <a:bodyPr wrap="square" rtlCol="0" anchor="t"/>
          <a:lstStyle/>
          <a:p>
            <a:pPr marL="0" indent="0">
              <a:buNone/>
            </a:pPr>
            <a:r>
              <a:rPr lang="en-US" sz="1200" dirty="0">
                <a:solidFill>
                  <a:srgbClr val="111827"/>
                </a:solidFill>
                <a:latin typeface="Arial" pitchFamily="34" charset="0"/>
                <a:ea typeface="Arial" pitchFamily="34" charset="-122"/>
                <a:cs typeface="Arial" pitchFamily="34" charset="-120"/>
              </a:rPr>
              <a:t>• Phân tích yêu cầu</a:t>
            </a:r>
            <a:endParaRPr lang="en-US" sz="1200" dirty="0"/>
          </a:p>
          <a:p>
            <a:pPr marL="0" indent="0">
              <a:buNone/>
            </a:pPr>
            <a:r>
              <a:rPr lang="en-US" sz="1200" dirty="0">
                <a:solidFill>
                  <a:srgbClr val="111827"/>
                </a:solidFill>
                <a:latin typeface="Arial" pitchFamily="34" charset="0"/>
                <a:ea typeface="Arial" pitchFamily="34" charset="-122"/>
                <a:cs typeface="Arial" pitchFamily="34" charset="-120"/>
              </a:rPr>
              <a:t>• Thiết kế UI/API</a:t>
            </a:r>
            <a:endParaRPr lang="en-US" sz="1200" dirty="0"/>
          </a:p>
          <a:p>
            <a:pPr marL="0" indent="0">
              <a:buNone/>
            </a:pPr>
            <a:r>
              <a:rPr lang="en-US" sz="1200" dirty="0">
                <a:solidFill>
                  <a:srgbClr val="111827"/>
                </a:solidFill>
                <a:latin typeface="Arial" pitchFamily="34" charset="0"/>
                <a:ea typeface="Arial" pitchFamily="34" charset="-122"/>
                <a:cs typeface="Arial" pitchFamily="34" charset="-120"/>
              </a:rPr>
              <a:t>• Lập </a:t>
            </a:r>
            <a:r>
              <a:rPr lang="en-US" sz="1200" dirty="0" err="1">
                <a:solidFill>
                  <a:srgbClr val="111827"/>
                </a:solidFill>
                <a:latin typeface="Arial" pitchFamily="34" charset="0"/>
                <a:ea typeface="Arial" pitchFamily="34" charset="-122"/>
                <a:cs typeface="Arial" pitchFamily="34" charset="-120"/>
              </a:rPr>
              <a:t>trình</a:t>
            </a:r>
            <a:r>
              <a:rPr lang="en-US" sz="1200" dirty="0">
                <a:solidFill>
                  <a:srgbClr val="111827"/>
                </a:solidFill>
                <a:latin typeface="Arial" pitchFamily="34" charset="0"/>
                <a:ea typeface="Arial" pitchFamily="34" charset="-122"/>
                <a:cs typeface="Arial" pitchFamily="34" charset="-120"/>
              </a:rPr>
              <a:t> module A</a:t>
            </a:r>
            <a:endParaRPr lang="en-US" sz="1200" dirty="0"/>
          </a:p>
          <a:p>
            <a:pPr marL="0" indent="0">
              <a:buNone/>
            </a:pPr>
            <a:r>
              <a:rPr lang="en-US" sz="1200" dirty="0">
                <a:solidFill>
                  <a:srgbClr val="111827"/>
                </a:solidFill>
                <a:latin typeface="Arial" pitchFamily="34" charset="0"/>
                <a:ea typeface="Arial" pitchFamily="34" charset="-122"/>
                <a:cs typeface="Arial" pitchFamily="34" charset="-120"/>
              </a:rPr>
              <a:t>• Kiểm thử</a:t>
            </a:r>
            <a:endParaRPr lang="en-US" sz="1200" dirty="0"/>
          </a:p>
          <a:p>
            <a:pPr marL="0" indent="0">
              <a:buNone/>
            </a:pPr>
            <a:r>
              <a:rPr lang="en-US" sz="1200" dirty="0">
                <a:solidFill>
                  <a:srgbClr val="111827"/>
                </a:solidFill>
                <a:latin typeface="Arial" pitchFamily="34" charset="0"/>
                <a:ea typeface="Arial" pitchFamily="34" charset="-122"/>
                <a:cs typeface="Arial" pitchFamily="34" charset="-120"/>
              </a:rPr>
              <a:t>• Triển khai</a:t>
            </a:r>
            <a:endParaRPr lang="en-US" sz="1200" dirty="0"/>
          </a:p>
        </p:txBody>
      </p:sp>
    </p:spTree>
    <p:extLst>
      <p:ext uri="{BB962C8B-B14F-4D97-AF65-F5344CB8AC3E}">
        <p14:creationId xmlns:p14="http://schemas.microsoft.com/office/powerpoint/2010/main" val="3981292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8F701-AEAC-DDBC-333A-F7D0C0FB4F8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C0C986-98C7-1970-A5DD-2647A4ACF20C}"/>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3" name="Title 2">
            <a:extLst>
              <a:ext uri="{FF2B5EF4-FFF2-40B4-BE49-F238E27FC236}">
                <a16:creationId xmlns:a16="http://schemas.microsoft.com/office/drawing/2014/main" id="{F1C9548A-7CD2-066C-203A-911FDF315BF1}"/>
              </a:ext>
            </a:extLst>
          </p:cNvPr>
          <p:cNvSpPr>
            <a:spLocks noGrp="1"/>
          </p:cNvSpPr>
          <p:nvPr>
            <p:ph type="title"/>
          </p:nvPr>
        </p:nvSpPr>
        <p:spPr/>
        <p:txBody>
          <a:bodyPr/>
          <a:lstStyle/>
          <a:p>
            <a:r>
              <a:rPr lang="en-US" dirty="0" err="1"/>
              <a:t>Sắp</a:t>
            </a:r>
            <a:r>
              <a:rPr lang="en-US" dirty="0"/>
              <a:t> </a:t>
            </a:r>
            <a:r>
              <a:rPr lang="en-US" dirty="0" err="1"/>
              <a:t>xếp</a:t>
            </a:r>
            <a:r>
              <a:rPr lang="en-US" dirty="0"/>
              <a:t> </a:t>
            </a:r>
            <a:r>
              <a:rPr lang="en-US" dirty="0" err="1"/>
              <a:t>các</a:t>
            </a:r>
            <a:r>
              <a:rPr lang="en-US" dirty="0"/>
              <a:t> </a:t>
            </a:r>
            <a:r>
              <a:rPr lang="en-US" dirty="0" err="1"/>
              <a:t>công</a:t>
            </a:r>
            <a:r>
              <a:rPr lang="en-US" dirty="0"/>
              <a:t> </a:t>
            </a:r>
            <a:r>
              <a:rPr lang="en-US" dirty="0" err="1"/>
              <a:t>việc</a:t>
            </a:r>
            <a:r>
              <a:rPr lang="en-US" dirty="0"/>
              <a:t> </a:t>
            </a:r>
            <a:r>
              <a:rPr lang="en-US" dirty="0" err="1"/>
              <a:t>tuần</a:t>
            </a:r>
            <a:r>
              <a:rPr lang="en-US" dirty="0"/>
              <a:t> </a:t>
            </a:r>
            <a:r>
              <a:rPr lang="en-US" dirty="0" err="1"/>
              <a:t>tự</a:t>
            </a:r>
            <a:endParaRPr lang="en-US" dirty="0"/>
          </a:p>
        </p:txBody>
      </p:sp>
      <p:sp>
        <p:nvSpPr>
          <p:cNvPr id="4" name="Text Placeholder 3">
            <a:extLst>
              <a:ext uri="{FF2B5EF4-FFF2-40B4-BE49-F238E27FC236}">
                <a16:creationId xmlns:a16="http://schemas.microsoft.com/office/drawing/2014/main" id="{3E293071-D3D9-705B-787D-73955205E2C7}"/>
              </a:ext>
            </a:extLst>
          </p:cNvPr>
          <p:cNvSpPr>
            <a:spLocks noGrp="1"/>
          </p:cNvSpPr>
          <p:nvPr>
            <p:ph type="body" sz="quarter" idx="13"/>
          </p:nvPr>
        </p:nvSpPr>
        <p:spPr>
          <a:xfrm>
            <a:off x="234951" y="963168"/>
            <a:ext cx="8689832" cy="5390007"/>
          </a:xfrm>
        </p:spPr>
        <p:txBody>
          <a:bodyPr/>
          <a:lstStyle/>
          <a:p>
            <a:r>
              <a:rPr lang="en-US" sz="1800" dirty="0" err="1">
                <a:latin typeface="Times New Roman" panose="02020603050405020304" pitchFamily="18" charset="0"/>
                <a:cs typeface="Times New Roman" panose="02020603050405020304" pitchFamily="18" charset="0"/>
              </a:rPr>
              <a:t>Mục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tiêu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của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giai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đoạn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này</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là</a:t>
            </a:r>
            <a:r>
              <a:rPr lang="en-US" sz="1800" dirty="0">
                <a:latin typeface="Times New Roman" panose="02020603050405020304" pitchFamily="18" charset="0"/>
                <a:cs typeface="Times New Roman" panose="02020603050405020304" pitchFamily="18" charset="0"/>
              </a:rPr>
              <a:t> </a:t>
            </a:r>
            <a:r>
              <a:rPr lang="en-US" sz="1800" dirty="0" err="1">
                <a:solidFill>
                  <a:srgbClr val="111827"/>
                </a:solidFill>
                <a:latin typeface="Times New Roman" panose="02020603050405020304" pitchFamily="18" charset="0"/>
                <a:cs typeface="Times New Roman" panose="02020603050405020304" pitchFamily="18" charset="0"/>
              </a:rPr>
              <a:t>l</a:t>
            </a:r>
            <a:r>
              <a:rPr lang="en-US" sz="1800" dirty="0" err="1">
                <a:solidFill>
                  <a:srgbClr val="111827"/>
                </a:solidFill>
                <a:latin typeface="Times New Roman" panose="02020603050405020304" pitchFamily="18" charset="0"/>
                <a:ea typeface="Arial" pitchFamily="34" charset="-122"/>
                <a:cs typeface="Times New Roman" panose="02020603050405020304" pitchFamily="18" charset="0"/>
              </a:rPr>
              <a:t>ập</a:t>
            </a:r>
            <a:r>
              <a:rPr lang="en-US" sz="18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1800" dirty="0" err="1">
                <a:solidFill>
                  <a:srgbClr val="111827"/>
                </a:solidFill>
                <a:latin typeface="Times New Roman" panose="02020603050405020304" pitchFamily="18" charset="0"/>
                <a:ea typeface="Arial" pitchFamily="34" charset="-122"/>
                <a:cs typeface="Times New Roman" panose="02020603050405020304" pitchFamily="18" charset="0"/>
              </a:rPr>
              <a:t>tài</a:t>
            </a:r>
            <a:r>
              <a:rPr lang="en-US" sz="18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1800" dirty="0" err="1">
                <a:solidFill>
                  <a:srgbClr val="111827"/>
                </a:solidFill>
                <a:latin typeface="Times New Roman" panose="02020603050405020304" pitchFamily="18" charset="0"/>
                <a:ea typeface="Arial" pitchFamily="34" charset="-122"/>
                <a:cs typeface="Times New Roman" panose="02020603050405020304" pitchFamily="18" charset="0"/>
              </a:rPr>
              <a:t>liệu</a:t>
            </a:r>
            <a:r>
              <a:rPr lang="en-US" sz="18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1800" dirty="0" err="1">
                <a:solidFill>
                  <a:srgbClr val="111827"/>
                </a:solidFill>
                <a:latin typeface="Times New Roman" panose="02020603050405020304" pitchFamily="18" charset="0"/>
                <a:ea typeface="Arial" pitchFamily="34" charset="-122"/>
                <a:cs typeface="Times New Roman" panose="02020603050405020304" pitchFamily="18" charset="0"/>
              </a:rPr>
              <a:t>quan</a:t>
            </a:r>
            <a:r>
              <a:rPr lang="en-US" sz="18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1800" dirty="0" err="1">
                <a:solidFill>
                  <a:srgbClr val="111827"/>
                </a:solidFill>
                <a:latin typeface="Times New Roman" panose="02020603050405020304" pitchFamily="18" charset="0"/>
                <a:ea typeface="Arial" pitchFamily="34" charset="-122"/>
                <a:cs typeface="Times New Roman" panose="02020603050405020304" pitchFamily="18" charset="0"/>
              </a:rPr>
              <a:t>hệ</a:t>
            </a:r>
            <a:r>
              <a:rPr lang="en-US" sz="18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1800" dirty="0" err="1">
                <a:solidFill>
                  <a:srgbClr val="111827"/>
                </a:solidFill>
                <a:latin typeface="Times New Roman" panose="02020603050405020304" pitchFamily="18" charset="0"/>
                <a:ea typeface="Arial" pitchFamily="34" charset="-122"/>
                <a:cs typeface="Times New Roman" panose="02020603050405020304" pitchFamily="18" charset="0"/>
              </a:rPr>
              <a:t>giữa</a:t>
            </a:r>
            <a:r>
              <a:rPr lang="en-US" sz="18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1800" dirty="0" err="1">
                <a:solidFill>
                  <a:srgbClr val="111827"/>
                </a:solidFill>
                <a:latin typeface="Times New Roman" panose="02020603050405020304" pitchFamily="18" charset="0"/>
                <a:ea typeface="Arial" pitchFamily="34" charset="-122"/>
                <a:cs typeface="Times New Roman" panose="02020603050405020304" pitchFamily="18" charset="0"/>
              </a:rPr>
              <a:t>các</a:t>
            </a:r>
            <a:r>
              <a:rPr lang="en-US" sz="18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1800" dirty="0" err="1">
                <a:solidFill>
                  <a:srgbClr val="111827"/>
                </a:solidFill>
                <a:latin typeface="Times New Roman" panose="02020603050405020304" pitchFamily="18" charset="0"/>
                <a:ea typeface="Arial" pitchFamily="34" charset="-122"/>
                <a:cs typeface="Times New Roman" panose="02020603050405020304" pitchFamily="18" charset="0"/>
              </a:rPr>
              <a:t>hoạt</a:t>
            </a:r>
            <a:r>
              <a:rPr lang="en-US" sz="18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1800" dirty="0" err="1">
                <a:solidFill>
                  <a:srgbClr val="111827"/>
                </a:solidFill>
                <a:latin typeface="Times New Roman" panose="02020603050405020304" pitchFamily="18" charset="0"/>
                <a:ea typeface="Arial" pitchFamily="34" charset="-122"/>
                <a:cs typeface="Times New Roman" panose="02020603050405020304" pitchFamily="18" charset="0"/>
              </a:rPr>
              <a:t>động</a:t>
            </a:r>
            <a:r>
              <a:rPr lang="en-US" sz="18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1800" dirty="0" err="1">
                <a:solidFill>
                  <a:srgbClr val="111827"/>
                </a:solidFill>
                <a:latin typeface="Times New Roman" panose="02020603050405020304" pitchFamily="18" charset="0"/>
                <a:ea typeface="Arial" pitchFamily="34" charset="-122"/>
                <a:cs typeface="Times New Roman" panose="02020603050405020304" pitchFamily="18" charset="0"/>
              </a:rPr>
              <a:t>để</a:t>
            </a:r>
            <a:r>
              <a:rPr lang="en-US" sz="18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1800" dirty="0" err="1">
                <a:solidFill>
                  <a:srgbClr val="111827"/>
                </a:solidFill>
                <a:latin typeface="Times New Roman" panose="02020603050405020304" pitchFamily="18" charset="0"/>
                <a:ea typeface="Arial" pitchFamily="34" charset="-122"/>
                <a:cs typeface="Times New Roman" panose="02020603050405020304" pitchFamily="18" charset="0"/>
              </a:rPr>
              <a:t>tạo</a:t>
            </a:r>
            <a:r>
              <a:rPr lang="en-US" sz="1800" dirty="0">
                <a:solidFill>
                  <a:srgbClr val="111827"/>
                </a:solidFill>
                <a:latin typeface="Times New Roman" panose="02020603050405020304" pitchFamily="18" charset="0"/>
                <a:ea typeface="Arial" pitchFamily="34" charset="-122"/>
                <a:cs typeface="Times New Roman" panose="02020603050405020304" pitchFamily="18" charset="0"/>
              </a:rPr>
              <a:t> “network logic” </a:t>
            </a:r>
            <a:r>
              <a:rPr lang="en-US" sz="1800" dirty="0" err="1">
                <a:solidFill>
                  <a:srgbClr val="111827"/>
                </a:solidFill>
                <a:latin typeface="Times New Roman" panose="02020603050405020304" pitchFamily="18" charset="0"/>
                <a:ea typeface="Arial" pitchFamily="34" charset="-122"/>
                <a:cs typeface="Times New Roman" panose="02020603050405020304" pitchFamily="18" charset="0"/>
              </a:rPr>
              <a:t>cho</a:t>
            </a:r>
            <a:r>
              <a:rPr lang="en-US" sz="1800" dirty="0">
                <a:solidFill>
                  <a:srgbClr val="111827"/>
                </a:solidFill>
                <a:latin typeface="Times New Roman" panose="02020603050405020304" pitchFamily="18" charset="0"/>
                <a:ea typeface="Arial" pitchFamily="34" charset="-122"/>
                <a:cs typeface="Times New Roman" panose="02020603050405020304" pitchFamily="18" charset="0"/>
              </a:rPr>
              <a:t> schedule.</a:t>
            </a: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
        <p:nvSpPr>
          <p:cNvPr id="22" name="Rectangle 3">
            <a:extLst>
              <a:ext uri="{FF2B5EF4-FFF2-40B4-BE49-F238E27FC236}">
                <a16:creationId xmlns:a16="http://schemas.microsoft.com/office/drawing/2014/main" id="{55C5152E-1FB6-200E-CF0D-A71EFCE8653C}"/>
              </a:ext>
            </a:extLst>
          </p:cNvPr>
          <p:cNvSpPr>
            <a:spLocks noChangeArrowheads="1"/>
          </p:cNvSpPr>
          <p:nvPr/>
        </p:nvSpPr>
        <p:spPr bwMode="auto">
          <a:xfrm>
            <a:off x="6044799" y="215054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 name="Picture 9">
            <a:extLst>
              <a:ext uri="{FF2B5EF4-FFF2-40B4-BE49-F238E27FC236}">
                <a16:creationId xmlns:a16="http://schemas.microsoft.com/office/drawing/2014/main" id="{27293907-6167-5DAA-C6CD-C5076713859A}"/>
              </a:ext>
            </a:extLst>
          </p:cNvPr>
          <p:cNvPicPr>
            <a:picLocks noChangeAspect="1"/>
          </p:cNvPicPr>
          <p:nvPr/>
        </p:nvPicPr>
        <p:blipFill>
          <a:blip r:embed="rId2"/>
          <a:stretch>
            <a:fillRect/>
          </a:stretch>
        </p:blipFill>
        <p:spPr>
          <a:xfrm>
            <a:off x="725864" y="1800630"/>
            <a:ext cx="7365546" cy="4024142"/>
          </a:xfrm>
          <a:prstGeom prst="rect">
            <a:avLst/>
          </a:prstGeom>
        </p:spPr>
      </p:pic>
    </p:spTree>
    <p:extLst>
      <p:ext uri="{BB962C8B-B14F-4D97-AF65-F5344CB8AC3E}">
        <p14:creationId xmlns:p14="http://schemas.microsoft.com/office/powerpoint/2010/main" val="461661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2915E-33A2-2EE3-43B2-92DD0F4632F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44789B-A19F-EA4E-E1BF-49F2C7F0EACC}"/>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D07BC17B-E60C-9A6E-7F9C-A036C064A404}"/>
              </a:ext>
            </a:extLst>
          </p:cNvPr>
          <p:cNvSpPr>
            <a:spLocks noGrp="1"/>
          </p:cNvSpPr>
          <p:nvPr>
            <p:ph type="title"/>
          </p:nvPr>
        </p:nvSpPr>
        <p:spPr/>
        <p:txBody>
          <a:bodyPr/>
          <a:lstStyle/>
          <a:p>
            <a:r>
              <a:rPr lang="en-US" dirty="0" err="1"/>
              <a:t>Sắp</a:t>
            </a:r>
            <a:r>
              <a:rPr lang="en-US" dirty="0"/>
              <a:t> </a:t>
            </a:r>
            <a:r>
              <a:rPr lang="en-US" dirty="0" err="1"/>
              <a:t>xếp</a:t>
            </a:r>
            <a:r>
              <a:rPr lang="en-US" dirty="0"/>
              <a:t> </a:t>
            </a:r>
            <a:r>
              <a:rPr lang="en-US" dirty="0" err="1"/>
              <a:t>các</a:t>
            </a:r>
            <a:r>
              <a:rPr lang="en-US" dirty="0"/>
              <a:t> </a:t>
            </a:r>
            <a:r>
              <a:rPr lang="en-US" dirty="0" err="1"/>
              <a:t>công</a:t>
            </a:r>
            <a:r>
              <a:rPr lang="en-US" dirty="0"/>
              <a:t> </a:t>
            </a:r>
            <a:r>
              <a:rPr lang="en-US" dirty="0" err="1"/>
              <a:t>việc</a:t>
            </a:r>
            <a:r>
              <a:rPr lang="en-US" dirty="0"/>
              <a:t> </a:t>
            </a:r>
            <a:r>
              <a:rPr lang="en-US" dirty="0" err="1"/>
              <a:t>tuần</a:t>
            </a:r>
            <a:r>
              <a:rPr lang="en-US" dirty="0"/>
              <a:t> </a:t>
            </a:r>
            <a:r>
              <a:rPr lang="en-US" dirty="0" err="1"/>
              <a:t>tự</a:t>
            </a:r>
            <a:endParaRPr lang="en-US" dirty="0"/>
          </a:p>
        </p:txBody>
      </p:sp>
      <p:sp>
        <p:nvSpPr>
          <p:cNvPr id="4" name="Text Placeholder 3">
            <a:extLst>
              <a:ext uri="{FF2B5EF4-FFF2-40B4-BE49-F238E27FC236}">
                <a16:creationId xmlns:a16="http://schemas.microsoft.com/office/drawing/2014/main" id="{F5A772A5-0FC7-2A66-044A-B70C902362A6}"/>
              </a:ext>
            </a:extLst>
          </p:cNvPr>
          <p:cNvSpPr>
            <a:spLocks noGrp="1"/>
          </p:cNvSpPr>
          <p:nvPr>
            <p:ph type="body" sz="quarter" idx="13"/>
          </p:nvPr>
        </p:nvSpPr>
        <p:spPr>
          <a:xfrm>
            <a:off x="234951" y="963168"/>
            <a:ext cx="8689832" cy="5390007"/>
          </a:xfrm>
        </p:spPr>
        <p:txBody>
          <a:bodyPr/>
          <a:lstStyle/>
          <a:p>
            <a:r>
              <a:rPr lang="en-US" sz="1800" b="1" dirty="0">
                <a:latin typeface="Times New Roman" panose="02020603050405020304" pitchFamily="18" charset="0"/>
                <a:cs typeface="Times New Roman" panose="02020603050405020304" pitchFamily="18" charset="0"/>
              </a:rPr>
              <a:t>Precedence Diagramming Method (PDM)</a:t>
            </a:r>
            <a:endParaRPr lang="en-US" sz="1800" dirty="0">
              <a:latin typeface="Times New Roman" panose="02020603050405020304" pitchFamily="18" charset="0"/>
              <a:cs typeface="Times New Roman" panose="02020603050405020304" pitchFamily="18" charset="0"/>
            </a:endParaRPr>
          </a:p>
          <a:p>
            <a:r>
              <a:rPr lang="en-US" sz="1800" dirty="0" err="1">
                <a:latin typeface="Times New Roman" panose="02020603050405020304" pitchFamily="18" charset="0"/>
                <a:cs typeface="Times New Roman" panose="02020603050405020304" pitchFamily="18" charset="0"/>
              </a:rPr>
              <a:t>Mỗi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động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được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biểu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diễn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là</a:t>
            </a:r>
            <a:r>
              <a:rPr lang="en-US" sz="1800" dirty="0">
                <a:latin typeface="Times New Roman" panose="02020603050405020304" pitchFamily="18" charset="0"/>
                <a:cs typeface="Times New Roman" panose="02020603050405020304" pitchFamily="18" charset="0"/>
              </a:rPr>
              <a:t> 1 Node.</a:t>
            </a:r>
          </a:p>
          <a:p>
            <a:r>
              <a:rPr lang="en-US" sz="1800" dirty="0" err="1">
                <a:latin typeface="Times New Roman" panose="02020603050405020304" pitchFamily="18" charset="0"/>
                <a:cs typeface="Times New Roman" panose="02020603050405020304" pitchFamily="18" charset="0"/>
              </a:rPr>
              <a:t>Đường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nối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giữa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Node </a:t>
            </a:r>
            <a:r>
              <a:rPr lang="en-US" sz="1800" dirty="0" err="1">
                <a:latin typeface="Times New Roman" panose="02020603050405020304" pitchFamily="18" charset="0"/>
                <a:cs typeface="Times New Roman" panose="02020603050405020304" pitchFamily="18" charset="0"/>
              </a:rPr>
              <a:t>sẽ</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thể</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hiện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mối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hệ</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tuần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tự</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4 </a:t>
            </a:r>
            <a:r>
              <a:rPr lang="en-US" sz="1800" dirty="0" err="1">
                <a:latin typeface="Times New Roman" panose="02020603050405020304" pitchFamily="18" charset="0"/>
                <a:cs typeface="Times New Roman" panose="02020603050405020304" pitchFamily="18" charset="0"/>
              </a:rPr>
              <a:t>kiểu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phục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thuộc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giữa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động</a:t>
            </a:r>
            <a:r>
              <a:rPr lang="en-US" sz="1800" dirty="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FS – Finish to Start (B </a:t>
            </a:r>
            <a:r>
              <a:rPr lang="en-US" sz="1800" dirty="0" err="1">
                <a:latin typeface="Times New Roman" panose="02020603050405020304" pitchFamily="18" charset="0"/>
                <a:cs typeface="Times New Roman" panose="02020603050405020304" pitchFamily="18" charset="0"/>
              </a:rPr>
              <a:t>chỉ</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được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bắt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đầu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khi</a:t>
            </a:r>
            <a:r>
              <a:rPr lang="en-US" sz="1800" dirty="0">
                <a:latin typeface="Times New Roman" panose="02020603050405020304" pitchFamily="18" charset="0"/>
                <a:cs typeface="Times New Roman" panose="02020603050405020304" pitchFamily="18" charset="0"/>
              </a:rPr>
              <a:t> A </a:t>
            </a:r>
            <a:r>
              <a:rPr lang="en-US" sz="1800" dirty="0" err="1">
                <a:latin typeface="Times New Roman" panose="02020603050405020304" pitchFamily="18" charset="0"/>
                <a:cs typeface="Times New Roman" panose="02020603050405020304" pitchFamily="18" charset="0"/>
              </a:rPr>
              <a:t>kết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thúc</a:t>
            </a:r>
            <a:r>
              <a:rPr lang="en-US" sz="180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18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18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FF – Finish to Finish (B </a:t>
            </a:r>
            <a:r>
              <a:rPr lang="en-US" sz="1800" dirty="0" err="1">
                <a:latin typeface="Times New Roman" panose="02020603050405020304" pitchFamily="18" charset="0"/>
                <a:cs typeface="Times New Roman" panose="02020603050405020304" pitchFamily="18" charset="0"/>
              </a:rPr>
              <a:t>chỉ</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kết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thúc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khi</a:t>
            </a:r>
            <a:r>
              <a:rPr lang="en-US" sz="1800" dirty="0">
                <a:latin typeface="Times New Roman" panose="02020603050405020304" pitchFamily="18" charset="0"/>
                <a:cs typeface="Times New Roman" panose="02020603050405020304" pitchFamily="18" charset="0"/>
              </a:rPr>
              <a:t> A </a:t>
            </a:r>
            <a:r>
              <a:rPr lang="en-US" sz="1800" dirty="0" err="1">
                <a:latin typeface="Times New Roman" panose="02020603050405020304" pitchFamily="18" charset="0"/>
                <a:cs typeface="Times New Roman" panose="02020603050405020304" pitchFamily="18" charset="0"/>
              </a:rPr>
              <a:t>kết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thúc</a:t>
            </a:r>
            <a:r>
              <a:rPr lang="en-US" sz="1800" dirty="0">
                <a:latin typeface="Times New Roman" panose="02020603050405020304" pitchFamily="18" charset="0"/>
                <a:cs typeface="Times New Roman" panose="02020603050405020304" pitchFamily="18" charset="0"/>
              </a:rPr>
              <a:t>)</a:t>
            </a:r>
          </a:p>
          <a:p>
            <a:pPr marL="0" indent="0">
              <a:buNone/>
            </a:pPr>
            <a:endParaRPr lang="en-US" sz="1800" dirty="0">
              <a:latin typeface="Times New Roman" panose="02020603050405020304" pitchFamily="18" charset="0"/>
              <a:cs typeface="Times New Roman" panose="02020603050405020304" pitchFamily="18" charset="0"/>
            </a:endParaRPr>
          </a:p>
        </p:txBody>
      </p:sp>
      <p:sp>
        <p:nvSpPr>
          <p:cNvPr id="22" name="Rectangle 3">
            <a:extLst>
              <a:ext uri="{FF2B5EF4-FFF2-40B4-BE49-F238E27FC236}">
                <a16:creationId xmlns:a16="http://schemas.microsoft.com/office/drawing/2014/main" id="{A146C0D5-966C-8B30-6A7C-31F6960E437D}"/>
              </a:ext>
            </a:extLst>
          </p:cNvPr>
          <p:cNvSpPr>
            <a:spLocks noChangeArrowheads="1"/>
          </p:cNvSpPr>
          <p:nvPr/>
        </p:nvSpPr>
        <p:spPr bwMode="auto">
          <a:xfrm>
            <a:off x="6044799" y="215054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Shape 8">
            <a:extLst>
              <a:ext uri="{FF2B5EF4-FFF2-40B4-BE49-F238E27FC236}">
                <a16:creationId xmlns:a16="http://schemas.microsoft.com/office/drawing/2014/main" id="{47DD1B7F-CD95-686C-8DBA-4F14B3BECDBA}"/>
              </a:ext>
            </a:extLst>
          </p:cNvPr>
          <p:cNvSpPr/>
          <p:nvPr/>
        </p:nvSpPr>
        <p:spPr>
          <a:xfrm>
            <a:off x="1113777" y="3082787"/>
            <a:ext cx="2585763" cy="256032"/>
          </a:xfrm>
          <a:prstGeom prst="roundRect">
            <a:avLst/>
          </a:prstGeom>
          <a:solidFill>
            <a:srgbClr val="1D4ED8"/>
          </a:solidFill>
          <a:ln w="12700">
            <a:solidFill>
              <a:srgbClr val="1D4ED8"/>
            </a:solidFill>
            <a:prstDash val="solid"/>
          </a:ln>
        </p:spPr>
        <p:txBody>
          <a:bodyPr/>
          <a:lstStyle/>
          <a:p>
            <a:endParaRPr lang="en-US"/>
          </a:p>
        </p:txBody>
      </p:sp>
      <p:sp>
        <p:nvSpPr>
          <p:cNvPr id="6" name="Shape 10">
            <a:extLst>
              <a:ext uri="{FF2B5EF4-FFF2-40B4-BE49-F238E27FC236}">
                <a16:creationId xmlns:a16="http://schemas.microsoft.com/office/drawing/2014/main" id="{F8B67D5D-8BBC-EED4-3F12-03A680D48755}"/>
              </a:ext>
            </a:extLst>
          </p:cNvPr>
          <p:cNvSpPr/>
          <p:nvPr/>
        </p:nvSpPr>
        <p:spPr>
          <a:xfrm>
            <a:off x="3699540" y="3429754"/>
            <a:ext cx="2115624" cy="256032"/>
          </a:xfrm>
          <a:prstGeom prst="roundRect">
            <a:avLst/>
          </a:prstGeom>
          <a:solidFill>
            <a:srgbClr val="0B1F3A"/>
          </a:solidFill>
          <a:ln w="12700">
            <a:solidFill>
              <a:srgbClr val="0B1F3A"/>
            </a:solidFill>
            <a:prstDash val="solid"/>
          </a:ln>
        </p:spPr>
        <p:txBody>
          <a:bodyPr/>
          <a:lstStyle/>
          <a:p>
            <a:endParaRPr lang="en-US"/>
          </a:p>
        </p:txBody>
      </p:sp>
      <p:sp>
        <p:nvSpPr>
          <p:cNvPr id="7" name="TextBox 6">
            <a:extLst>
              <a:ext uri="{FF2B5EF4-FFF2-40B4-BE49-F238E27FC236}">
                <a16:creationId xmlns:a16="http://schemas.microsoft.com/office/drawing/2014/main" id="{B8F97495-B64A-DCAD-FC0F-DF6D3242073A}"/>
              </a:ext>
            </a:extLst>
          </p:cNvPr>
          <p:cNvSpPr txBox="1"/>
          <p:nvPr/>
        </p:nvSpPr>
        <p:spPr>
          <a:xfrm>
            <a:off x="697583" y="3027778"/>
            <a:ext cx="317716" cy="369332"/>
          </a:xfrm>
          <a:prstGeom prst="rect">
            <a:avLst/>
          </a:prstGeom>
          <a:noFill/>
        </p:spPr>
        <p:txBody>
          <a:bodyPr wrap="none" rtlCol="0">
            <a:spAutoFit/>
          </a:bodyPr>
          <a:lstStyle/>
          <a:p>
            <a:r>
              <a:rPr lang="en-US" dirty="0"/>
              <a:t>A</a:t>
            </a:r>
          </a:p>
        </p:txBody>
      </p:sp>
      <p:sp>
        <p:nvSpPr>
          <p:cNvPr id="8" name="TextBox 7">
            <a:extLst>
              <a:ext uri="{FF2B5EF4-FFF2-40B4-BE49-F238E27FC236}">
                <a16:creationId xmlns:a16="http://schemas.microsoft.com/office/drawing/2014/main" id="{A6FB380C-15DA-3CFB-2CC7-7F9A6D01345E}"/>
              </a:ext>
            </a:extLst>
          </p:cNvPr>
          <p:cNvSpPr txBox="1"/>
          <p:nvPr/>
        </p:nvSpPr>
        <p:spPr>
          <a:xfrm>
            <a:off x="697583" y="3373104"/>
            <a:ext cx="317716" cy="369332"/>
          </a:xfrm>
          <a:prstGeom prst="rect">
            <a:avLst/>
          </a:prstGeom>
          <a:noFill/>
        </p:spPr>
        <p:txBody>
          <a:bodyPr wrap="square" rtlCol="0">
            <a:spAutoFit/>
          </a:bodyPr>
          <a:lstStyle/>
          <a:p>
            <a:r>
              <a:rPr lang="en-US" dirty="0"/>
              <a:t>B</a:t>
            </a:r>
          </a:p>
        </p:txBody>
      </p:sp>
      <p:sp>
        <p:nvSpPr>
          <p:cNvPr id="9" name="Shape 18">
            <a:extLst>
              <a:ext uri="{FF2B5EF4-FFF2-40B4-BE49-F238E27FC236}">
                <a16:creationId xmlns:a16="http://schemas.microsoft.com/office/drawing/2014/main" id="{55ED2A2A-2FA3-AD25-1CE2-E0D12D148EA5}"/>
              </a:ext>
            </a:extLst>
          </p:cNvPr>
          <p:cNvSpPr/>
          <p:nvPr/>
        </p:nvSpPr>
        <p:spPr>
          <a:xfrm>
            <a:off x="1113777" y="4503097"/>
            <a:ext cx="2585763" cy="256032"/>
          </a:xfrm>
          <a:prstGeom prst="roundRect">
            <a:avLst/>
          </a:prstGeom>
          <a:solidFill>
            <a:srgbClr val="1D4ED8"/>
          </a:solidFill>
          <a:ln w="12700">
            <a:solidFill>
              <a:srgbClr val="1D4ED8"/>
            </a:solidFill>
            <a:prstDash val="solid"/>
          </a:ln>
        </p:spPr>
        <p:txBody>
          <a:bodyPr/>
          <a:lstStyle/>
          <a:p>
            <a:endParaRPr lang="en-US"/>
          </a:p>
        </p:txBody>
      </p:sp>
      <p:sp>
        <p:nvSpPr>
          <p:cNvPr id="11" name="Shape 20">
            <a:extLst>
              <a:ext uri="{FF2B5EF4-FFF2-40B4-BE49-F238E27FC236}">
                <a16:creationId xmlns:a16="http://schemas.microsoft.com/office/drawing/2014/main" id="{0F176BBD-EAC6-E8C0-5CBC-1B6E013B69E9}"/>
              </a:ext>
            </a:extLst>
          </p:cNvPr>
          <p:cNvSpPr/>
          <p:nvPr/>
        </p:nvSpPr>
        <p:spPr>
          <a:xfrm>
            <a:off x="1583916" y="4935913"/>
            <a:ext cx="2115624" cy="256032"/>
          </a:xfrm>
          <a:prstGeom prst="roundRect">
            <a:avLst/>
          </a:prstGeom>
          <a:solidFill>
            <a:srgbClr val="0B1F3A"/>
          </a:solidFill>
          <a:ln w="12700">
            <a:solidFill>
              <a:srgbClr val="0B1F3A"/>
            </a:solidFill>
            <a:prstDash val="solid"/>
          </a:ln>
        </p:spPr>
        <p:txBody>
          <a:bodyPr/>
          <a:lstStyle/>
          <a:p>
            <a:endParaRPr lang="en-US"/>
          </a:p>
        </p:txBody>
      </p:sp>
      <p:sp>
        <p:nvSpPr>
          <p:cNvPr id="12" name="TextBox 11">
            <a:extLst>
              <a:ext uri="{FF2B5EF4-FFF2-40B4-BE49-F238E27FC236}">
                <a16:creationId xmlns:a16="http://schemas.microsoft.com/office/drawing/2014/main" id="{0B0778CC-8EE6-71E0-287A-13F2C9333D71}"/>
              </a:ext>
            </a:extLst>
          </p:cNvPr>
          <p:cNvSpPr txBox="1"/>
          <p:nvPr/>
        </p:nvSpPr>
        <p:spPr>
          <a:xfrm>
            <a:off x="697583" y="4488444"/>
            <a:ext cx="317716" cy="369332"/>
          </a:xfrm>
          <a:prstGeom prst="rect">
            <a:avLst/>
          </a:prstGeom>
          <a:noFill/>
        </p:spPr>
        <p:txBody>
          <a:bodyPr wrap="none" rtlCol="0">
            <a:spAutoFit/>
          </a:bodyPr>
          <a:lstStyle/>
          <a:p>
            <a:r>
              <a:rPr lang="en-US" dirty="0"/>
              <a:t>A</a:t>
            </a:r>
          </a:p>
        </p:txBody>
      </p:sp>
      <p:sp>
        <p:nvSpPr>
          <p:cNvPr id="13" name="TextBox 12">
            <a:extLst>
              <a:ext uri="{FF2B5EF4-FFF2-40B4-BE49-F238E27FC236}">
                <a16:creationId xmlns:a16="http://schemas.microsoft.com/office/drawing/2014/main" id="{2FE3867D-977E-15BC-88D0-C6A3E8032FEA}"/>
              </a:ext>
            </a:extLst>
          </p:cNvPr>
          <p:cNvSpPr txBox="1"/>
          <p:nvPr/>
        </p:nvSpPr>
        <p:spPr>
          <a:xfrm>
            <a:off x="697583" y="4879263"/>
            <a:ext cx="317716" cy="369332"/>
          </a:xfrm>
          <a:prstGeom prst="rect">
            <a:avLst/>
          </a:prstGeom>
          <a:noFill/>
        </p:spPr>
        <p:txBody>
          <a:bodyPr wrap="square" rtlCol="0">
            <a:spAutoFit/>
          </a:bodyPr>
          <a:lstStyle/>
          <a:p>
            <a:r>
              <a:rPr lang="en-US" dirty="0"/>
              <a:t>B</a:t>
            </a:r>
          </a:p>
        </p:txBody>
      </p:sp>
    </p:spTree>
    <p:extLst>
      <p:ext uri="{BB962C8B-B14F-4D97-AF65-F5344CB8AC3E}">
        <p14:creationId xmlns:p14="http://schemas.microsoft.com/office/powerpoint/2010/main" val="3714755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5DF5B-5861-A8CB-D73C-8718896BF4A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0109DD-06CC-CE08-ABA7-4150F48FAE15}"/>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C7215F24-5A14-CDEB-0E7E-E70889FE8543}"/>
              </a:ext>
            </a:extLst>
          </p:cNvPr>
          <p:cNvSpPr>
            <a:spLocks noGrp="1"/>
          </p:cNvSpPr>
          <p:nvPr>
            <p:ph type="title"/>
          </p:nvPr>
        </p:nvSpPr>
        <p:spPr/>
        <p:txBody>
          <a:bodyPr/>
          <a:lstStyle/>
          <a:p>
            <a:r>
              <a:rPr lang="en-US" dirty="0" err="1"/>
              <a:t>Sắp</a:t>
            </a:r>
            <a:r>
              <a:rPr lang="en-US" dirty="0"/>
              <a:t> </a:t>
            </a:r>
            <a:r>
              <a:rPr lang="en-US" dirty="0" err="1"/>
              <a:t>xếp</a:t>
            </a:r>
            <a:r>
              <a:rPr lang="en-US" dirty="0"/>
              <a:t> </a:t>
            </a:r>
            <a:r>
              <a:rPr lang="en-US" dirty="0" err="1"/>
              <a:t>các</a:t>
            </a:r>
            <a:r>
              <a:rPr lang="en-US" dirty="0"/>
              <a:t> </a:t>
            </a:r>
            <a:r>
              <a:rPr lang="en-US" dirty="0" err="1"/>
              <a:t>công</a:t>
            </a:r>
            <a:r>
              <a:rPr lang="en-US" dirty="0"/>
              <a:t> </a:t>
            </a:r>
            <a:r>
              <a:rPr lang="en-US" dirty="0" err="1"/>
              <a:t>việc</a:t>
            </a:r>
            <a:r>
              <a:rPr lang="en-US" dirty="0"/>
              <a:t> </a:t>
            </a:r>
            <a:r>
              <a:rPr lang="en-US" dirty="0" err="1"/>
              <a:t>tuần</a:t>
            </a:r>
            <a:r>
              <a:rPr lang="en-US" dirty="0"/>
              <a:t> </a:t>
            </a:r>
            <a:r>
              <a:rPr lang="en-US" dirty="0" err="1"/>
              <a:t>tự</a:t>
            </a:r>
            <a:endParaRPr lang="en-US" dirty="0"/>
          </a:p>
        </p:txBody>
      </p:sp>
      <p:sp>
        <p:nvSpPr>
          <p:cNvPr id="4" name="Text Placeholder 3">
            <a:extLst>
              <a:ext uri="{FF2B5EF4-FFF2-40B4-BE49-F238E27FC236}">
                <a16:creationId xmlns:a16="http://schemas.microsoft.com/office/drawing/2014/main" id="{4264A498-ABD2-2D6C-8561-1B3F42A9FB19}"/>
              </a:ext>
            </a:extLst>
          </p:cNvPr>
          <p:cNvSpPr>
            <a:spLocks noGrp="1"/>
          </p:cNvSpPr>
          <p:nvPr>
            <p:ph type="body" sz="quarter" idx="13"/>
          </p:nvPr>
        </p:nvSpPr>
        <p:spPr>
          <a:xfrm>
            <a:off x="234951" y="963168"/>
            <a:ext cx="8689832" cy="5390007"/>
          </a:xfrm>
        </p:spPr>
        <p:txBody>
          <a:bodyPr/>
          <a:lstStyle/>
          <a:p>
            <a:r>
              <a:rPr lang="en-US" sz="1800" b="1" dirty="0">
                <a:latin typeface="Times New Roman" panose="02020603050405020304" pitchFamily="18" charset="0"/>
                <a:cs typeface="Times New Roman" panose="02020603050405020304" pitchFamily="18" charset="0"/>
              </a:rPr>
              <a:t>Precedence Diagramming Method (PDM)</a:t>
            </a:r>
            <a:endParaRPr lang="en-US" sz="1800" dirty="0">
              <a:latin typeface="Times New Roman" panose="02020603050405020304" pitchFamily="18" charset="0"/>
              <a:cs typeface="Times New Roman" panose="02020603050405020304" pitchFamily="18" charset="0"/>
            </a:endParaRPr>
          </a:p>
          <a:p>
            <a:r>
              <a:rPr lang="en-US" sz="1800" dirty="0" err="1">
                <a:latin typeface="Times New Roman" panose="02020603050405020304" pitchFamily="18" charset="0"/>
                <a:cs typeface="Times New Roman" panose="02020603050405020304" pitchFamily="18" charset="0"/>
              </a:rPr>
              <a:t>Mỗi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động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được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biểu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diễn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là</a:t>
            </a:r>
            <a:r>
              <a:rPr lang="en-US" sz="1800" dirty="0">
                <a:latin typeface="Times New Roman" panose="02020603050405020304" pitchFamily="18" charset="0"/>
                <a:cs typeface="Times New Roman" panose="02020603050405020304" pitchFamily="18" charset="0"/>
              </a:rPr>
              <a:t> 1 Node.</a:t>
            </a:r>
          </a:p>
          <a:p>
            <a:r>
              <a:rPr lang="en-US" sz="1800" dirty="0" err="1">
                <a:latin typeface="Times New Roman" panose="02020603050405020304" pitchFamily="18" charset="0"/>
                <a:cs typeface="Times New Roman" panose="02020603050405020304" pitchFamily="18" charset="0"/>
              </a:rPr>
              <a:t>Đường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nối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giữa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Node </a:t>
            </a:r>
            <a:r>
              <a:rPr lang="en-US" sz="1800" dirty="0" err="1">
                <a:latin typeface="Times New Roman" panose="02020603050405020304" pitchFamily="18" charset="0"/>
                <a:cs typeface="Times New Roman" panose="02020603050405020304" pitchFamily="18" charset="0"/>
              </a:rPr>
              <a:t>sẽ</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thể</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hiện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mối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hệ</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tuần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tự</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4 </a:t>
            </a:r>
            <a:r>
              <a:rPr lang="en-US" sz="1800" dirty="0" err="1">
                <a:latin typeface="Times New Roman" panose="02020603050405020304" pitchFamily="18" charset="0"/>
                <a:cs typeface="Times New Roman" panose="02020603050405020304" pitchFamily="18" charset="0"/>
              </a:rPr>
              <a:t>kiểu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phục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thuộc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giữa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động</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3.  SS – Start to Start (B </a:t>
            </a:r>
            <a:r>
              <a:rPr lang="en-US" sz="1800" dirty="0" err="1">
                <a:latin typeface="Times New Roman" panose="02020603050405020304" pitchFamily="18" charset="0"/>
                <a:cs typeface="Times New Roman" panose="02020603050405020304" pitchFamily="18" charset="0"/>
              </a:rPr>
              <a:t>chỉ</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bắt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đầu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khi</a:t>
            </a:r>
            <a:r>
              <a:rPr lang="en-US" sz="1800" dirty="0">
                <a:latin typeface="Times New Roman" panose="02020603050405020304" pitchFamily="18" charset="0"/>
                <a:cs typeface="Times New Roman" panose="02020603050405020304" pitchFamily="18" charset="0"/>
              </a:rPr>
              <a:t> A </a:t>
            </a:r>
            <a:r>
              <a:rPr lang="en-US" sz="1800" dirty="0" err="1">
                <a:latin typeface="Times New Roman" panose="02020603050405020304" pitchFamily="18" charset="0"/>
                <a:cs typeface="Times New Roman" panose="02020603050405020304" pitchFamily="18" charset="0"/>
              </a:rPr>
              <a:t>bắt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đầu</a:t>
            </a:r>
            <a:r>
              <a:rPr lang="en-US" sz="1800" dirty="0">
                <a:latin typeface="Times New Roman" panose="02020603050405020304" pitchFamily="18" charset="0"/>
                <a:cs typeface="Times New Roman" panose="02020603050405020304" pitchFamily="18" charset="0"/>
              </a:rPr>
              <a:t>)</a:t>
            </a:r>
          </a:p>
          <a:p>
            <a:pPr marL="342900" indent="-342900">
              <a:buFont typeface="+mj-lt"/>
              <a:buAutoNum type="arabicPeriod"/>
            </a:pPr>
            <a:endParaRPr lang="en-US" sz="18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18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4.   SF – Start to Finish (B </a:t>
            </a:r>
            <a:r>
              <a:rPr lang="en-US" sz="1800" dirty="0" err="1">
                <a:latin typeface="Times New Roman" panose="02020603050405020304" pitchFamily="18" charset="0"/>
                <a:cs typeface="Times New Roman" panose="02020603050405020304" pitchFamily="18" charset="0"/>
              </a:rPr>
              <a:t>chỉ</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kết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thúc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khi</a:t>
            </a:r>
            <a:r>
              <a:rPr lang="en-US" sz="1800" dirty="0">
                <a:latin typeface="Times New Roman" panose="02020603050405020304" pitchFamily="18" charset="0"/>
                <a:cs typeface="Times New Roman" panose="02020603050405020304" pitchFamily="18" charset="0"/>
              </a:rPr>
              <a:t> A </a:t>
            </a:r>
            <a:r>
              <a:rPr lang="en-US" sz="1800" dirty="0" err="1">
                <a:latin typeface="Times New Roman" panose="02020603050405020304" pitchFamily="18" charset="0"/>
                <a:cs typeface="Times New Roman" panose="02020603050405020304" pitchFamily="18" charset="0"/>
              </a:rPr>
              <a:t>bắt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đầu</a:t>
            </a:r>
            <a:r>
              <a:rPr lang="en-US" sz="1800" dirty="0">
                <a:latin typeface="Times New Roman" panose="02020603050405020304" pitchFamily="18" charset="0"/>
                <a:cs typeface="Times New Roman" panose="02020603050405020304" pitchFamily="18" charset="0"/>
              </a:rPr>
              <a:t>)</a:t>
            </a:r>
          </a:p>
          <a:p>
            <a:pPr marL="0" indent="0">
              <a:buNone/>
            </a:pPr>
            <a:endParaRPr lang="en-US" sz="1800" dirty="0">
              <a:latin typeface="Times New Roman" panose="02020603050405020304" pitchFamily="18" charset="0"/>
              <a:cs typeface="Times New Roman" panose="02020603050405020304" pitchFamily="18" charset="0"/>
            </a:endParaRPr>
          </a:p>
        </p:txBody>
      </p:sp>
      <p:sp>
        <p:nvSpPr>
          <p:cNvPr id="22" name="Rectangle 3">
            <a:extLst>
              <a:ext uri="{FF2B5EF4-FFF2-40B4-BE49-F238E27FC236}">
                <a16:creationId xmlns:a16="http://schemas.microsoft.com/office/drawing/2014/main" id="{CF0A615E-1BD1-1F7A-65D1-5A46F1B1A297}"/>
              </a:ext>
            </a:extLst>
          </p:cNvPr>
          <p:cNvSpPr>
            <a:spLocks noChangeArrowheads="1"/>
          </p:cNvSpPr>
          <p:nvPr/>
        </p:nvSpPr>
        <p:spPr bwMode="auto">
          <a:xfrm>
            <a:off x="6044799" y="215054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TextBox 6">
            <a:extLst>
              <a:ext uri="{FF2B5EF4-FFF2-40B4-BE49-F238E27FC236}">
                <a16:creationId xmlns:a16="http://schemas.microsoft.com/office/drawing/2014/main" id="{86261B62-4519-974A-32DD-8AD999898BAB}"/>
              </a:ext>
            </a:extLst>
          </p:cNvPr>
          <p:cNvSpPr txBox="1"/>
          <p:nvPr/>
        </p:nvSpPr>
        <p:spPr>
          <a:xfrm>
            <a:off x="697583" y="2899008"/>
            <a:ext cx="317716" cy="369332"/>
          </a:xfrm>
          <a:prstGeom prst="rect">
            <a:avLst/>
          </a:prstGeom>
          <a:noFill/>
        </p:spPr>
        <p:txBody>
          <a:bodyPr wrap="none" rtlCol="0">
            <a:spAutoFit/>
          </a:bodyPr>
          <a:lstStyle/>
          <a:p>
            <a:r>
              <a:rPr lang="en-US" dirty="0"/>
              <a:t>A</a:t>
            </a:r>
          </a:p>
        </p:txBody>
      </p:sp>
      <p:sp>
        <p:nvSpPr>
          <p:cNvPr id="8" name="TextBox 7">
            <a:extLst>
              <a:ext uri="{FF2B5EF4-FFF2-40B4-BE49-F238E27FC236}">
                <a16:creationId xmlns:a16="http://schemas.microsoft.com/office/drawing/2014/main" id="{17C2D771-5E24-7D6E-BF9A-B481DBE6E3CD}"/>
              </a:ext>
            </a:extLst>
          </p:cNvPr>
          <p:cNvSpPr txBox="1"/>
          <p:nvPr/>
        </p:nvSpPr>
        <p:spPr>
          <a:xfrm>
            <a:off x="697583" y="3244334"/>
            <a:ext cx="317716" cy="369332"/>
          </a:xfrm>
          <a:prstGeom prst="rect">
            <a:avLst/>
          </a:prstGeom>
          <a:noFill/>
        </p:spPr>
        <p:txBody>
          <a:bodyPr wrap="square" rtlCol="0">
            <a:spAutoFit/>
          </a:bodyPr>
          <a:lstStyle/>
          <a:p>
            <a:r>
              <a:rPr lang="en-US" dirty="0"/>
              <a:t>B</a:t>
            </a:r>
          </a:p>
        </p:txBody>
      </p:sp>
      <p:sp>
        <p:nvSpPr>
          <p:cNvPr id="12" name="TextBox 11">
            <a:extLst>
              <a:ext uri="{FF2B5EF4-FFF2-40B4-BE49-F238E27FC236}">
                <a16:creationId xmlns:a16="http://schemas.microsoft.com/office/drawing/2014/main" id="{EFEDE16E-6AF5-06B0-E8CB-A2CF32B8F7E8}"/>
              </a:ext>
            </a:extLst>
          </p:cNvPr>
          <p:cNvSpPr txBox="1"/>
          <p:nvPr/>
        </p:nvSpPr>
        <p:spPr>
          <a:xfrm>
            <a:off x="697583" y="4506145"/>
            <a:ext cx="317716" cy="369332"/>
          </a:xfrm>
          <a:prstGeom prst="rect">
            <a:avLst/>
          </a:prstGeom>
          <a:noFill/>
        </p:spPr>
        <p:txBody>
          <a:bodyPr wrap="none" rtlCol="0">
            <a:spAutoFit/>
          </a:bodyPr>
          <a:lstStyle/>
          <a:p>
            <a:r>
              <a:rPr lang="en-US" dirty="0"/>
              <a:t>A</a:t>
            </a:r>
          </a:p>
        </p:txBody>
      </p:sp>
      <p:sp>
        <p:nvSpPr>
          <p:cNvPr id="13" name="TextBox 12">
            <a:extLst>
              <a:ext uri="{FF2B5EF4-FFF2-40B4-BE49-F238E27FC236}">
                <a16:creationId xmlns:a16="http://schemas.microsoft.com/office/drawing/2014/main" id="{BC1039D1-957E-DBBA-1947-F40E3C1661FB}"/>
              </a:ext>
            </a:extLst>
          </p:cNvPr>
          <p:cNvSpPr txBox="1"/>
          <p:nvPr/>
        </p:nvSpPr>
        <p:spPr>
          <a:xfrm>
            <a:off x="697583" y="4941607"/>
            <a:ext cx="317716" cy="369332"/>
          </a:xfrm>
          <a:prstGeom prst="rect">
            <a:avLst/>
          </a:prstGeom>
          <a:noFill/>
        </p:spPr>
        <p:txBody>
          <a:bodyPr wrap="square" rtlCol="0">
            <a:spAutoFit/>
          </a:bodyPr>
          <a:lstStyle/>
          <a:p>
            <a:r>
              <a:rPr lang="en-US" dirty="0"/>
              <a:t>B</a:t>
            </a:r>
          </a:p>
        </p:txBody>
      </p:sp>
      <p:sp>
        <p:nvSpPr>
          <p:cNvPr id="10" name="Shape 28">
            <a:extLst>
              <a:ext uri="{FF2B5EF4-FFF2-40B4-BE49-F238E27FC236}">
                <a16:creationId xmlns:a16="http://schemas.microsoft.com/office/drawing/2014/main" id="{EDA9A8A5-45EC-1335-B51D-9D6A329B24D3}"/>
              </a:ext>
            </a:extLst>
          </p:cNvPr>
          <p:cNvSpPr/>
          <p:nvPr/>
        </p:nvSpPr>
        <p:spPr>
          <a:xfrm>
            <a:off x="1255179" y="2909051"/>
            <a:ext cx="2585763" cy="256032"/>
          </a:xfrm>
          <a:prstGeom prst="roundRect">
            <a:avLst/>
          </a:prstGeom>
          <a:solidFill>
            <a:srgbClr val="1D4ED8"/>
          </a:solidFill>
          <a:ln w="12700">
            <a:solidFill>
              <a:srgbClr val="1D4ED8"/>
            </a:solidFill>
            <a:prstDash val="solid"/>
          </a:ln>
        </p:spPr>
        <p:txBody>
          <a:bodyPr/>
          <a:lstStyle/>
          <a:p>
            <a:endParaRPr lang="en-US"/>
          </a:p>
        </p:txBody>
      </p:sp>
      <p:sp>
        <p:nvSpPr>
          <p:cNvPr id="14" name="Shape 30">
            <a:extLst>
              <a:ext uri="{FF2B5EF4-FFF2-40B4-BE49-F238E27FC236}">
                <a16:creationId xmlns:a16="http://schemas.microsoft.com/office/drawing/2014/main" id="{192DE420-6128-BA3F-E238-FE01411C3C6F}"/>
              </a:ext>
            </a:extLst>
          </p:cNvPr>
          <p:cNvSpPr/>
          <p:nvPr/>
        </p:nvSpPr>
        <p:spPr>
          <a:xfrm>
            <a:off x="1255179" y="3338819"/>
            <a:ext cx="2115624" cy="256032"/>
          </a:xfrm>
          <a:prstGeom prst="roundRect">
            <a:avLst/>
          </a:prstGeom>
          <a:solidFill>
            <a:srgbClr val="0B1F3A"/>
          </a:solidFill>
          <a:ln w="12700">
            <a:solidFill>
              <a:srgbClr val="0B1F3A"/>
            </a:solidFill>
            <a:prstDash val="solid"/>
          </a:ln>
        </p:spPr>
        <p:txBody>
          <a:bodyPr/>
          <a:lstStyle/>
          <a:p>
            <a:endParaRPr lang="en-US"/>
          </a:p>
        </p:txBody>
      </p:sp>
      <p:sp>
        <p:nvSpPr>
          <p:cNvPr id="17" name="Shape 38">
            <a:extLst>
              <a:ext uri="{FF2B5EF4-FFF2-40B4-BE49-F238E27FC236}">
                <a16:creationId xmlns:a16="http://schemas.microsoft.com/office/drawing/2014/main" id="{8425BA9D-1F44-202B-4120-EC3BE271E059}"/>
              </a:ext>
            </a:extLst>
          </p:cNvPr>
          <p:cNvSpPr/>
          <p:nvPr/>
        </p:nvSpPr>
        <p:spPr>
          <a:xfrm>
            <a:off x="3370803" y="4519537"/>
            <a:ext cx="2585763" cy="256032"/>
          </a:xfrm>
          <a:prstGeom prst="roundRect">
            <a:avLst/>
          </a:prstGeom>
          <a:solidFill>
            <a:srgbClr val="1D4ED8"/>
          </a:solidFill>
          <a:ln w="12700">
            <a:solidFill>
              <a:srgbClr val="1D4ED8"/>
            </a:solidFill>
            <a:prstDash val="solid"/>
          </a:ln>
        </p:spPr>
        <p:txBody>
          <a:bodyPr/>
          <a:lstStyle/>
          <a:p>
            <a:endParaRPr lang="en-US"/>
          </a:p>
        </p:txBody>
      </p:sp>
      <p:sp>
        <p:nvSpPr>
          <p:cNvPr id="18" name="Shape 40">
            <a:extLst>
              <a:ext uri="{FF2B5EF4-FFF2-40B4-BE49-F238E27FC236}">
                <a16:creationId xmlns:a16="http://schemas.microsoft.com/office/drawing/2014/main" id="{405F6974-34D3-B54D-105E-606AD7BF873F}"/>
              </a:ext>
            </a:extLst>
          </p:cNvPr>
          <p:cNvSpPr/>
          <p:nvPr/>
        </p:nvSpPr>
        <p:spPr>
          <a:xfrm>
            <a:off x="1255179" y="4998257"/>
            <a:ext cx="2115624" cy="256032"/>
          </a:xfrm>
          <a:prstGeom prst="roundRect">
            <a:avLst/>
          </a:prstGeom>
          <a:solidFill>
            <a:srgbClr val="0B1F3A"/>
          </a:solidFill>
          <a:ln w="12700">
            <a:solidFill>
              <a:srgbClr val="0B1F3A"/>
            </a:solidFill>
            <a:prstDash val="solid"/>
          </a:ln>
        </p:spPr>
        <p:txBody>
          <a:bodyPr/>
          <a:lstStyle/>
          <a:p>
            <a:endParaRPr lang="en-US"/>
          </a:p>
        </p:txBody>
      </p:sp>
    </p:spTree>
    <p:extLst>
      <p:ext uri="{BB962C8B-B14F-4D97-AF65-F5344CB8AC3E}">
        <p14:creationId xmlns:p14="http://schemas.microsoft.com/office/powerpoint/2010/main" val="3349994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9A867-EAAE-CE5B-556B-C92C511F360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2DE6B0-6F66-3911-A406-1048262436E0}"/>
              </a:ext>
            </a:extLst>
          </p:cNvPr>
          <p:cNvSpPr>
            <a:spLocks noGrp="1"/>
          </p:cNvSpPr>
          <p:nvPr>
            <p:ph type="sldNum" sz="quarter" idx="12"/>
          </p:nvPr>
        </p:nvSpPr>
        <p:spPr/>
        <p:txBody>
          <a:bodyPr/>
          <a:lstStyle/>
          <a:p>
            <a:fld id="{9EA0BE3B-158A-4EDF-80DC-E394A0D1600F}" type="slidenum">
              <a:rPr lang="en-US" smtClean="0">
                <a:latin typeface="Times New Roman" panose="02020603050405020304" pitchFamily="18" charset="0"/>
                <a:cs typeface="Times New Roman" panose="02020603050405020304" pitchFamily="18" charset="0"/>
              </a:rPr>
              <a:pPr/>
              <a:t>11</a:t>
            </a:fld>
            <a:endParaRPr lang="en-US"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0571204-D794-BF7F-E295-CC4DB668705B}"/>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Sắp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xếp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tuần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tự</a:t>
            </a:r>
            <a:endParaRPr lang="en-US"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EC443D3E-7306-4EA5-4A38-CF169D12F745}"/>
              </a:ext>
            </a:extLst>
          </p:cNvPr>
          <p:cNvSpPr>
            <a:spLocks noGrp="1"/>
          </p:cNvSpPr>
          <p:nvPr>
            <p:ph type="body" sz="quarter" idx="13"/>
          </p:nvPr>
        </p:nvSpPr>
        <p:spPr>
          <a:xfrm>
            <a:off x="234951" y="963168"/>
            <a:ext cx="8689832" cy="5390007"/>
          </a:xfrm>
        </p:spPr>
        <p:txBody>
          <a:bodyPr/>
          <a:lstStyle/>
          <a:p>
            <a:r>
              <a:rPr lang="en-US" sz="1800" b="1" dirty="0" err="1">
                <a:latin typeface="Times New Roman" panose="02020603050405020304" pitchFamily="18" charset="0"/>
                <a:cs typeface="Times New Roman" panose="02020603050405020304" pitchFamily="18" charset="0"/>
              </a:rPr>
              <a:t>Xác</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định</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sự</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phụ</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thuộc</a:t>
            </a:r>
            <a:r>
              <a:rPr lang="en-US" sz="1800" b="1" dirty="0">
                <a:latin typeface="Times New Roman" panose="02020603050405020304" pitchFamily="18" charset="0"/>
                <a:cs typeface="Times New Roman" panose="02020603050405020304" pitchFamily="18" charset="0"/>
              </a:rPr>
              <a:t>: 3 </a:t>
            </a:r>
            <a:r>
              <a:rPr lang="en-US" sz="1800" b="1" dirty="0" err="1">
                <a:latin typeface="Times New Roman" panose="02020603050405020304" pitchFamily="18" charset="0"/>
                <a:cs typeface="Times New Roman" panose="02020603050405020304" pitchFamily="18" charset="0"/>
              </a:rPr>
              <a:t>loại</a:t>
            </a:r>
            <a:endParaRPr lang="en-US" sz="1800" b="1" dirty="0">
              <a:latin typeface="Times New Roman" panose="02020603050405020304" pitchFamily="18" charset="0"/>
              <a:cs typeface="Times New Roman" panose="02020603050405020304" pitchFamily="18" charset="0"/>
            </a:endParaRPr>
          </a:p>
        </p:txBody>
      </p:sp>
      <p:sp>
        <p:nvSpPr>
          <p:cNvPr id="22" name="Rectangle 3">
            <a:extLst>
              <a:ext uri="{FF2B5EF4-FFF2-40B4-BE49-F238E27FC236}">
                <a16:creationId xmlns:a16="http://schemas.microsoft.com/office/drawing/2014/main" id="{2ED0E453-C4B0-3A4B-BA67-AA184E4D26CE}"/>
              </a:ext>
            </a:extLst>
          </p:cNvPr>
          <p:cNvSpPr>
            <a:spLocks noChangeArrowheads="1"/>
          </p:cNvSpPr>
          <p:nvPr/>
        </p:nvSpPr>
        <p:spPr bwMode="auto">
          <a:xfrm>
            <a:off x="6044799" y="219447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imes New Roman" panose="02020603050405020304" pitchFamily="18" charset="0"/>
              <a:cs typeface="Times New Roman" panose="02020603050405020304" pitchFamily="18" charset="0"/>
            </a:endParaRPr>
          </a:p>
        </p:txBody>
      </p:sp>
      <p:sp>
        <p:nvSpPr>
          <p:cNvPr id="11" name="Shape 2">
            <a:extLst>
              <a:ext uri="{FF2B5EF4-FFF2-40B4-BE49-F238E27FC236}">
                <a16:creationId xmlns:a16="http://schemas.microsoft.com/office/drawing/2014/main" id="{5B8BFD4E-F12B-73B6-A11F-B07CB338397F}"/>
              </a:ext>
            </a:extLst>
          </p:cNvPr>
          <p:cNvSpPr/>
          <p:nvPr/>
        </p:nvSpPr>
        <p:spPr>
          <a:xfrm>
            <a:off x="133473" y="1396162"/>
            <a:ext cx="8758814" cy="1508760"/>
          </a:xfrm>
          <a:prstGeom prst="roundRect">
            <a:avLst/>
          </a:prstGeom>
          <a:solidFill>
            <a:srgbClr val="FFFFFF"/>
          </a:solidFill>
          <a:ln w="12700">
            <a:solidFill>
              <a:srgbClr val="D1D5DB"/>
            </a:solidFill>
            <a:prstDash val="solid"/>
          </a:ln>
          <a:effectLst>
            <a:outerShdw blurRad="15240" dist="7620" dir="2700000" algn="bl" rotWithShape="0">
              <a:srgbClr val="000000">
                <a:alpha val="6000"/>
              </a:srgbClr>
            </a:outerShdw>
          </a:effectLst>
        </p:spPr>
        <p:txBody>
          <a:bodyPr/>
          <a:lstStyle/>
          <a:p>
            <a:pPr lvl="1"/>
            <a:endParaRPr lang="en-US" dirty="0">
              <a:latin typeface="Times New Roman" panose="02020603050405020304" pitchFamily="18" charset="0"/>
              <a:cs typeface="Times New Roman" panose="02020603050405020304" pitchFamily="18" charset="0"/>
            </a:endParaRPr>
          </a:p>
        </p:txBody>
      </p:sp>
      <p:sp>
        <p:nvSpPr>
          <p:cNvPr id="15" name="Shape 3">
            <a:extLst>
              <a:ext uri="{FF2B5EF4-FFF2-40B4-BE49-F238E27FC236}">
                <a16:creationId xmlns:a16="http://schemas.microsoft.com/office/drawing/2014/main" id="{5147C421-86BA-AB6A-A8A7-8D0782FFDAD8}"/>
              </a:ext>
            </a:extLst>
          </p:cNvPr>
          <p:cNvSpPr/>
          <p:nvPr/>
        </p:nvSpPr>
        <p:spPr>
          <a:xfrm>
            <a:off x="133474" y="1396162"/>
            <a:ext cx="201168" cy="1508760"/>
          </a:xfrm>
          <a:prstGeom prst="rect">
            <a:avLst/>
          </a:prstGeom>
          <a:solidFill>
            <a:srgbClr val="DBEAFE"/>
          </a:solidFill>
          <a:ln w="12700">
            <a:solidFill>
              <a:srgbClr val="DBEA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138B6814-C93F-D55B-92A5-392766D4721B}"/>
              </a:ext>
            </a:extLst>
          </p:cNvPr>
          <p:cNvSpPr txBox="1"/>
          <p:nvPr/>
        </p:nvSpPr>
        <p:spPr>
          <a:xfrm>
            <a:off x="577253" y="1578226"/>
            <a:ext cx="8144759" cy="1415772"/>
          </a:xfrm>
          <a:prstGeom prst="rect">
            <a:avLst/>
          </a:prstGeom>
          <a:noFill/>
        </p:spPr>
        <p:txBody>
          <a:bodyPr wrap="square" rtlCol="0">
            <a:spAutoFit/>
          </a:bodyPr>
          <a:lstStyle/>
          <a:p>
            <a:r>
              <a:rPr lang="en-US" b="1" dirty="0" err="1">
                <a:latin typeface="Times New Roman" panose="02020603050405020304" pitchFamily="18" charset="0"/>
                <a:cs typeface="Times New Roman" panose="02020603050405020304" pitchFamily="18" charset="0"/>
              </a:rPr>
              <a:t>Phụ</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thuộc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vĩnh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viễn</a:t>
            </a:r>
            <a:r>
              <a:rPr lang="en-US" b="1" dirty="0">
                <a:latin typeface="Times New Roman" panose="02020603050405020304" pitchFamily="18" charset="0"/>
                <a:cs typeface="Times New Roman" panose="02020603050405020304" pitchFamily="18" charset="0"/>
              </a:rPr>
              <a:t> (Mandatory)</a:t>
            </a:r>
          </a:p>
          <a:p>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thuộc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rang </a:t>
            </a:r>
            <a:r>
              <a:rPr lang="en-US" dirty="0" err="1">
                <a:latin typeface="Times New Roman" panose="02020603050405020304" pitchFamily="18" charset="0"/>
                <a:cs typeface="Times New Roman" panose="02020603050405020304" pitchFamily="18" charset="0"/>
              </a:rPr>
              <a:t>buộc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nhiên</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Ví</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dụ</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Build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xong</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mới</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có</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thể</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deploy</a:t>
            </a:r>
            <a:endParaRPr lang="en-US" sz="1600" dirty="0">
              <a:latin typeface="Times New Roman" panose="02020603050405020304" pitchFamily="18" charset="0"/>
              <a:cs typeface="Times New Roman" panose="02020603050405020304" pitchFamily="18" charset="0"/>
            </a:endParaRPr>
          </a:p>
          <a:p>
            <a:endParaRPr lang="en-US" sz="1600" i="1"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24" name="Shape 7">
            <a:extLst>
              <a:ext uri="{FF2B5EF4-FFF2-40B4-BE49-F238E27FC236}">
                <a16:creationId xmlns:a16="http://schemas.microsoft.com/office/drawing/2014/main" id="{B428B0BA-B041-90BC-EBA0-25B3A09E12E5}"/>
              </a:ext>
            </a:extLst>
          </p:cNvPr>
          <p:cNvSpPr/>
          <p:nvPr/>
        </p:nvSpPr>
        <p:spPr>
          <a:xfrm>
            <a:off x="133473" y="3057274"/>
            <a:ext cx="8758814" cy="1508760"/>
          </a:xfrm>
          <a:prstGeom prst="roundRect">
            <a:avLst/>
          </a:prstGeom>
          <a:solidFill>
            <a:srgbClr val="FFFFFF"/>
          </a:solidFill>
          <a:ln w="12700">
            <a:solidFill>
              <a:srgbClr val="D1D5DB"/>
            </a:solidFill>
            <a:prstDash val="solid"/>
          </a:ln>
          <a:effectLst>
            <a:outerShdw blurRad="15240" dist="7620" dir="2700000" algn="bl" rotWithShape="0">
              <a:srgbClr val="000000">
                <a:alpha val="6000"/>
              </a:srgbClr>
            </a:outerShdw>
          </a:effectLst>
        </p:spPr>
        <p:txBody>
          <a:bodyPr/>
          <a:lstStyle/>
          <a:p>
            <a:endParaRPr lang="en-US" dirty="0">
              <a:latin typeface="Times New Roman" panose="02020603050405020304" pitchFamily="18" charset="0"/>
              <a:cs typeface="Times New Roman" panose="02020603050405020304" pitchFamily="18" charset="0"/>
            </a:endParaRPr>
          </a:p>
        </p:txBody>
      </p:sp>
      <p:sp>
        <p:nvSpPr>
          <p:cNvPr id="25" name="Shape 8">
            <a:extLst>
              <a:ext uri="{FF2B5EF4-FFF2-40B4-BE49-F238E27FC236}">
                <a16:creationId xmlns:a16="http://schemas.microsoft.com/office/drawing/2014/main" id="{5334B376-5DF5-E6B5-9D56-C2F02A133E86}"/>
              </a:ext>
            </a:extLst>
          </p:cNvPr>
          <p:cNvSpPr/>
          <p:nvPr/>
        </p:nvSpPr>
        <p:spPr>
          <a:xfrm>
            <a:off x="133474" y="3040736"/>
            <a:ext cx="201168" cy="1508760"/>
          </a:xfrm>
          <a:prstGeom prst="rect">
            <a:avLst/>
          </a:prstGeom>
          <a:solidFill>
            <a:srgbClr val="FEF3C7"/>
          </a:solidFill>
          <a:ln w="12700">
            <a:solidFill>
              <a:srgbClr val="FEF3C7"/>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267AD354-5EB0-67F9-A723-706CD3EA7E52}"/>
              </a:ext>
            </a:extLst>
          </p:cNvPr>
          <p:cNvSpPr txBox="1"/>
          <p:nvPr/>
        </p:nvSpPr>
        <p:spPr>
          <a:xfrm>
            <a:off x="577253" y="3235426"/>
            <a:ext cx="8059917" cy="1477328"/>
          </a:xfrm>
          <a:prstGeom prst="rect">
            <a:avLst/>
          </a:prstGeom>
          <a:noFill/>
        </p:spPr>
        <p:txBody>
          <a:bodyPr wrap="square" rtlCol="0">
            <a:spAutoFit/>
          </a:bodyPr>
          <a:lstStyle/>
          <a:p>
            <a:r>
              <a:rPr lang="en-US" b="1" dirty="0" err="1">
                <a:latin typeface="Times New Roman" panose="02020603050405020304" pitchFamily="18" charset="0"/>
                <a:cs typeface="Times New Roman" panose="02020603050405020304" pitchFamily="18" charset="0"/>
              </a:rPr>
              <a:t>Phụ</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thuộc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lỏng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lẻo</a:t>
            </a:r>
            <a:r>
              <a:rPr lang="en-US" b="1" dirty="0">
                <a:latin typeface="Times New Roman" panose="02020603050405020304" pitchFamily="18" charset="0"/>
                <a:cs typeface="Times New Roman" panose="02020603050405020304" pitchFamily="18" charset="0"/>
              </a:rPr>
              <a:t> (Discretionary)</a:t>
            </a:r>
          </a:p>
          <a:p>
            <a:r>
              <a:rPr lang="en-US" dirty="0" err="1">
                <a:latin typeface="Times New Roman" panose="02020603050405020304" pitchFamily="18" charset="0"/>
                <a:cs typeface="Times New Roman" panose="02020603050405020304" pitchFamily="18" charset="0"/>
              </a:rPr>
              <a:t>Phụ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thuộc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lựa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chọn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sớm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hơn</a:t>
            </a:r>
            <a:r>
              <a:rPr lang="en-US" dirty="0">
                <a:latin typeface="Times New Roman" panose="02020603050405020304" pitchFamily="18" charset="0"/>
                <a:cs typeface="Times New Roman" panose="02020603050405020304" pitchFamily="18" charset="0"/>
              </a:rPr>
              <a:t> hay </a:t>
            </a:r>
            <a:r>
              <a:rPr lang="en-US" dirty="0" err="1">
                <a:latin typeface="Times New Roman" panose="02020603050405020304" pitchFamily="18" charset="0"/>
                <a:cs typeface="Times New Roman" panose="02020603050405020304" pitchFamily="18" charset="0"/>
              </a:rPr>
              <a:t>muộn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hơn</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Ví</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dụ</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Test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bắt</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đầu</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sau</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khi</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Dev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hoàn</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thành</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30%</a:t>
            </a:r>
          </a:p>
          <a:p>
            <a:endParaRPr lang="en-US" dirty="0">
              <a:latin typeface="Times New Roman" panose="02020603050405020304" pitchFamily="18" charset="0"/>
              <a:cs typeface="Times New Roman" panose="02020603050405020304" pitchFamily="18" charset="0"/>
            </a:endParaRPr>
          </a:p>
        </p:txBody>
      </p:sp>
      <p:sp>
        <p:nvSpPr>
          <p:cNvPr id="27" name="Shape 12">
            <a:extLst>
              <a:ext uri="{FF2B5EF4-FFF2-40B4-BE49-F238E27FC236}">
                <a16:creationId xmlns:a16="http://schemas.microsoft.com/office/drawing/2014/main" id="{1D8A1202-6265-5E6B-810F-7E68BBA9BFD3}"/>
              </a:ext>
            </a:extLst>
          </p:cNvPr>
          <p:cNvSpPr/>
          <p:nvPr/>
        </p:nvSpPr>
        <p:spPr>
          <a:xfrm>
            <a:off x="133474" y="4744186"/>
            <a:ext cx="8791310" cy="1508760"/>
          </a:xfrm>
          <a:prstGeom prst="roundRect">
            <a:avLst/>
          </a:prstGeom>
          <a:solidFill>
            <a:srgbClr val="FFFFFF"/>
          </a:solidFill>
          <a:ln w="12700">
            <a:solidFill>
              <a:srgbClr val="D1D5DB"/>
            </a:solidFill>
            <a:prstDash val="solid"/>
          </a:ln>
          <a:effectLst>
            <a:outerShdw blurRad="15240" dist="7620" dir="2700000" algn="bl" rotWithShape="0">
              <a:srgbClr val="000000">
                <a:alpha val="6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29" name="Shape 13">
            <a:extLst>
              <a:ext uri="{FF2B5EF4-FFF2-40B4-BE49-F238E27FC236}">
                <a16:creationId xmlns:a16="http://schemas.microsoft.com/office/drawing/2014/main" id="{F6A2A172-5744-E5C5-86EC-C40993082CB2}"/>
              </a:ext>
            </a:extLst>
          </p:cNvPr>
          <p:cNvSpPr/>
          <p:nvPr/>
        </p:nvSpPr>
        <p:spPr>
          <a:xfrm>
            <a:off x="133474" y="4744186"/>
            <a:ext cx="201168" cy="1508760"/>
          </a:xfrm>
          <a:prstGeom prst="rect">
            <a:avLst/>
          </a:prstGeom>
          <a:solidFill>
            <a:srgbClr val="ECFDF5"/>
          </a:solidFill>
          <a:ln w="12700">
            <a:solidFill>
              <a:srgbClr val="ECFDF5"/>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6B2A1E42-B34D-392B-3E64-70F93CB2DED0}"/>
              </a:ext>
            </a:extLst>
          </p:cNvPr>
          <p:cNvSpPr txBox="1"/>
          <p:nvPr/>
        </p:nvSpPr>
        <p:spPr>
          <a:xfrm>
            <a:off x="577253" y="4931705"/>
            <a:ext cx="7967867" cy="1477328"/>
          </a:xfrm>
          <a:prstGeom prst="rect">
            <a:avLst/>
          </a:prstGeom>
          <a:noFill/>
        </p:spPr>
        <p:txBody>
          <a:bodyPr wrap="square" rtlCol="0">
            <a:spAutoFit/>
          </a:bodyPr>
          <a:lstStyle/>
          <a:p>
            <a:r>
              <a:rPr lang="en-US" b="1" dirty="0" err="1">
                <a:latin typeface="Times New Roman" panose="02020603050405020304" pitchFamily="18" charset="0"/>
                <a:cs typeface="Times New Roman" panose="02020603050405020304" pitchFamily="18" charset="0"/>
              </a:rPr>
              <a:t>Phụ</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thuộc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ngoài</a:t>
            </a:r>
            <a:r>
              <a:rPr lang="en-US" b="1" dirty="0">
                <a:latin typeface="Times New Roman" panose="02020603050405020304" pitchFamily="18" charset="0"/>
                <a:cs typeface="Times New Roman" panose="02020603050405020304" pitchFamily="18" charset="0"/>
              </a:rPr>
              <a:t> (External)</a:t>
            </a:r>
          </a:p>
          <a:p>
            <a:r>
              <a:rPr lang="en-US" dirty="0" err="1">
                <a:latin typeface="Times New Roman" panose="02020603050405020304" pitchFamily="18" charset="0"/>
                <a:cs typeface="Times New Roman" panose="02020603050405020304" pitchFamily="18" charset="0"/>
              </a:rPr>
              <a:t>Phụ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thuộc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cung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cấp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hàng</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p>
          <a:p>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Ví</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dụ</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Chờ</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API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đối</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tác</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a:t>
            </a:r>
            <a:r>
              <a:rPr lang="en-US" sz="1600" i="1" dirty="0" err="1">
                <a:solidFill>
                  <a:schemeClr val="tx1">
                    <a:lumMod val="50000"/>
                    <a:lumOff val="50000"/>
                  </a:schemeClr>
                </a:solidFill>
                <a:latin typeface="Times New Roman" panose="02020603050405020304" pitchFamily="18" charset="0"/>
                <a:cs typeface="Times New Roman" panose="02020603050405020304" pitchFamily="18" charset="0"/>
              </a:rPr>
              <a:t>mở</a:t>
            </a:r>
            <a:r>
              <a:rPr lang="en-US" sz="1600" i="1" dirty="0">
                <a:solidFill>
                  <a:schemeClr val="tx1">
                    <a:lumMod val="50000"/>
                    <a:lumOff val="50000"/>
                  </a:schemeClr>
                </a:solidFill>
                <a:latin typeface="Times New Roman" panose="02020603050405020304" pitchFamily="18" charset="0"/>
                <a:cs typeface="Times New Roman" panose="02020603050405020304" pitchFamily="18" charset="0"/>
              </a:rPr>
              <a:t> sandbox.</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304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52FF47-434F-E444-1527-2C7CA403ECE5}"/>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itle 2">
            <a:extLst>
              <a:ext uri="{FF2B5EF4-FFF2-40B4-BE49-F238E27FC236}">
                <a16:creationId xmlns:a16="http://schemas.microsoft.com/office/drawing/2014/main" id="{B2D939E9-D191-E9C2-386F-10B867B4222C}"/>
              </a:ext>
            </a:extLst>
          </p:cNvPr>
          <p:cNvSpPr>
            <a:spLocks noGrp="1"/>
          </p:cNvSpPr>
          <p:nvPr>
            <p:ph type="title"/>
          </p:nvPr>
        </p:nvSpPr>
        <p:spPr/>
        <p:txBody>
          <a:bodyPr/>
          <a:lstStyle/>
          <a:p>
            <a:r>
              <a:rPr lang="en-US" dirty="0" err="1"/>
              <a:t>Ước</a:t>
            </a:r>
            <a:r>
              <a:rPr lang="en-US" dirty="0"/>
              <a:t> </a:t>
            </a:r>
            <a:r>
              <a:rPr lang="en-US" dirty="0" err="1"/>
              <a:t>lượng</a:t>
            </a:r>
            <a:endParaRPr lang="en-US" dirty="0"/>
          </a:p>
        </p:txBody>
      </p:sp>
      <p:sp>
        <p:nvSpPr>
          <p:cNvPr id="4" name="Text Placeholder 3">
            <a:extLst>
              <a:ext uri="{FF2B5EF4-FFF2-40B4-BE49-F238E27FC236}">
                <a16:creationId xmlns:a16="http://schemas.microsoft.com/office/drawing/2014/main" id="{4B0038EC-3CD1-DAD1-13BB-CB27123A8771}"/>
              </a:ext>
            </a:extLst>
          </p:cNvPr>
          <p:cNvSpPr>
            <a:spLocks noGrp="1"/>
          </p:cNvSpPr>
          <p:nvPr>
            <p:ph type="body" sz="quarter" idx="13"/>
          </p:nvPr>
        </p:nvSpPr>
        <p:spPr/>
        <p:txBody>
          <a:bodyPr/>
          <a:lstStyle/>
          <a:p>
            <a:r>
              <a:rPr lang="en-US" sz="2000" dirty="0" err="1"/>
              <a:t>Ước</a:t>
            </a:r>
            <a:r>
              <a:rPr lang="en-US" sz="2000" dirty="0"/>
              <a:t> </a:t>
            </a:r>
            <a:r>
              <a:rPr lang="en-US" sz="2000" dirty="0" err="1"/>
              <a:t>lượng</a:t>
            </a:r>
            <a:r>
              <a:rPr lang="en-US" sz="2000" dirty="0"/>
              <a:t> </a:t>
            </a:r>
            <a:r>
              <a:rPr lang="en-US" sz="2000" dirty="0" err="1"/>
              <a:t>là</a:t>
            </a:r>
            <a:r>
              <a:rPr lang="en-US" sz="2000" dirty="0"/>
              <a:t> </a:t>
            </a:r>
            <a:r>
              <a:rPr lang="en-US" sz="2000" dirty="0" err="1"/>
              <a:t>một</a:t>
            </a:r>
            <a:r>
              <a:rPr lang="en-US" sz="2000" dirty="0"/>
              <a:t> </a:t>
            </a:r>
            <a:r>
              <a:rPr lang="en-US" sz="2000" dirty="0" err="1"/>
              <a:t>quy</a:t>
            </a:r>
            <a:r>
              <a:rPr lang="en-US" sz="2000" dirty="0"/>
              <a:t> </a:t>
            </a:r>
            <a:r>
              <a:rPr lang="en-US" sz="2000" dirty="0" err="1"/>
              <a:t>trình</a:t>
            </a:r>
            <a:r>
              <a:rPr lang="en-US" sz="2000" dirty="0"/>
              <a:t> </a:t>
            </a:r>
            <a:r>
              <a:rPr lang="en-US" sz="2000" dirty="0" err="1"/>
              <a:t>lặp</a:t>
            </a:r>
            <a:r>
              <a:rPr lang="en-US" sz="2000" dirty="0"/>
              <a:t> </a:t>
            </a:r>
            <a:r>
              <a:rPr lang="en-US" sz="2000" dirty="0" err="1"/>
              <a:t>đi</a:t>
            </a:r>
            <a:r>
              <a:rPr lang="en-US" sz="2000" dirty="0"/>
              <a:t> </a:t>
            </a:r>
            <a:r>
              <a:rPr lang="en-US" sz="2000" dirty="0" err="1"/>
              <a:t>lặp</a:t>
            </a:r>
            <a:r>
              <a:rPr lang="en-US" sz="2000" dirty="0"/>
              <a:t> </a:t>
            </a:r>
            <a:r>
              <a:rPr lang="en-US" sz="2000" dirty="0" err="1"/>
              <a:t>lại</a:t>
            </a:r>
            <a:r>
              <a:rPr lang="en-US" sz="2000" dirty="0"/>
              <a:t>, bao </a:t>
            </a:r>
            <a:r>
              <a:rPr lang="en-US" sz="2000" dirty="0" err="1"/>
              <a:t>gồm</a:t>
            </a:r>
            <a:r>
              <a:rPr lang="en-US" sz="2000" dirty="0"/>
              <a:t> 2 </a:t>
            </a:r>
            <a:r>
              <a:rPr lang="en-US" sz="2000" dirty="0" err="1"/>
              <a:t>quá</a:t>
            </a:r>
            <a:r>
              <a:rPr lang="en-US" sz="2000" dirty="0"/>
              <a:t> </a:t>
            </a:r>
            <a:r>
              <a:rPr lang="en-US" sz="2000" dirty="0" err="1"/>
              <a:t>trình</a:t>
            </a:r>
            <a:r>
              <a:rPr lang="en-US" sz="2000" dirty="0"/>
              <a:t> </a:t>
            </a:r>
            <a:r>
              <a:rPr lang="en-US" sz="2000" dirty="0" err="1"/>
              <a:t>là</a:t>
            </a:r>
            <a:r>
              <a:rPr lang="en-US" sz="2000" dirty="0"/>
              <a:t>: Thu </a:t>
            </a:r>
            <a:r>
              <a:rPr lang="en-US" sz="2000" dirty="0" err="1"/>
              <a:t>thập</a:t>
            </a:r>
            <a:r>
              <a:rPr lang="en-US" sz="2000" dirty="0"/>
              <a:t> </a:t>
            </a:r>
            <a:r>
              <a:rPr lang="en-US" sz="2000" dirty="0" err="1"/>
              <a:t>yêu</a:t>
            </a:r>
            <a:r>
              <a:rPr lang="en-US" sz="2000" dirty="0"/>
              <a:t> </a:t>
            </a:r>
            <a:r>
              <a:rPr lang="en-US" sz="2000" dirty="0" err="1"/>
              <a:t>cầu</a:t>
            </a:r>
            <a:r>
              <a:rPr lang="en-US" sz="2000" dirty="0"/>
              <a:t> </a:t>
            </a:r>
            <a:r>
              <a:rPr lang="en-US" sz="2000" dirty="0" err="1"/>
              <a:t>để</a:t>
            </a:r>
            <a:r>
              <a:rPr lang="en-US" sz="2000" dirty="0"/>
              <a:t> </a:t>
            </a:r>
            <a:r>
              <a:rPr lang="en-US" sz="2000" dirty="0" err="1"/>
              <a:t>đánh</a:t>
            </a:r>
            <a:r>
              <a:rPr lang="en-US" sz="2000" dirty="0"/>
              <a:t> </a:t>
            </a:r>
            <a:r>
              <a:rPr lang="en-US" sz="2000" dirty="0" err="1"/>
              <a:t>giá</a:t>
            </a:r>
            <a:r>
              <a:rPr lang="en-US" sz="2000" dirty="0"/>
              <a:t> </a:t>
            </a:r>
            <a:r>
              <a:rPr lang="en-US" sz="2000" dirty="0" err="1"/>
              <a:t>phạm</a:t>
            </a:r>
            <a:r>
              <a:rPr lang="en-US" sz="2000" dirty="0"/>
              <a:t> vi </a:t>
            </a:r>
            <a:r>
              <a:rPr lang="en-US" sz="2000" dirty="0" err="1"/>
              <a:t>ước</a:t>
            </a:r>
            <a:r>
              <a:rPr lang="en-US" sz="2000" dirty="0"/>
              <a:t> </a:t>
            </a:r>
            <a:r>
              <a:rPr lang="en-US" sz="2000" dirty="0" err="1"/>
              <a:t>lượng</a:t>
            </a:r>
            <a:r>
              <a:rPr lang="en-US" sz="2000" dirty="0"/>
              <a:t> </a:t>
            </a:r>
            <a:r>
              <a:rPr lang="en-US" sz="2000" dirty="0" err="1"/>
              <a:t>và</a:t>
            </a:r>
            <a:r>
              <a:rPr lang="en-US" sz="2000" dirty="0"/>
              <a:t> </a:t>
            </a:r>
            <a:r>
              <a:rPr lang="en-US" sz="2000" dirty="0" err="1"/>
              <a:t>ước</a:t>
            </a:r>
            <a:r>
              <a:rPr lang="en-US" sz="2000" dirty="0"/>
              <a:t> </a:t>
            </a:r>
            <a:r>
              <a:rPr lang="en-US" sz="2000" dirty="0" err="1"/>
              <a:t>lượng</a:t>
            </a:r>
            <a:r>
              <a:rPr lang="en-US" sz="2000" dirty="0"/>
              <a:t> </a:t>
            </a:r>
            <a:r>
              <a:rPr lang="en-US" sz="2000" dirty="0" err="1"/>
              <a:t>các</a:t>
            </a:r>
            <a:r>
              <a:rPr lang="en-US" sz="2000" dirty="0"/>
              <a:t> </a:t>
            </a:r>
            <a:r>
              <a:rPr lang="en-US" sz="2000" dirty="0" err="1"/>
              <a:t>giá</a:t>
            </a:r>
            <a:r>
              <a:rPr lang="en-US" sz="2000" dirty="0"/>
              <a:t> </a:t>
            </a:r>
            <a:r>
              <a:rPr lang="en-US" sz="2000" dirty="0" err="1"/>
              <a:t>trị</a:t>
            </a:r>
            <a:r>
              <a:rPr lang="en-US" sz="2000" dirty="0"/>
              <a:t> </a:t>
            </a:r>
            <a:r>
              <a:rPr lang="en-US" sz="2000" dirty="0" err="1"/>
              <a:t>mục</a:t>
            </a:r>
            <a:r>
              <a:rPr lang="en-US" sz="2000" dirty="0"/>
              <a:t> </a:t>
            </a:r>
            <a:r>
              <a:rPr lang="en-US" sz="2000" dirty="0" err="1"/>
              <a:t>tiêu</a:t>
            </a:r>
            <a:endParaRPr lang="en-US" sz="2000" dirty="0"/>
          </a:p>
        </p:txBody>
      </p:sp>
      <p:sp>
        <p:nvSpPr>
          <p:cNvPr id="6" name="TextBox 5">
            <a:extLst>
              <a:ext uri="{FF2B5EF4-FFF2-40B4-BE49-F238E27FC236}">
                <a16:creationId xmlns:a16="http://schemas.microsoft.com/office/drawing/2014/main" id="{7F4C1E2B-14D8-89F6-C9C2-16969EE2385A}"/>
              </a:ext>
            </a:extLst>
          </p:cNvPr>
          <p:cNvSpPr txBox="1"/>
          <p:nvPr/>
        </p:nvSpPr>
        <p:spPr>
          <a:xfrm>
            <a:off x="2286000" y="2989457"/>
            <a:ext cx="4572000" cy="369332"/>
          </a:xfrm>
          <a:prstGeom prst="rect">
            <a:avLst/>
          </a:prstGeom>
          <a:noFill/>
        </p:spPr>
        <p:txBody>
          <a:bodyPr wrap="square">
            <a:spAutoFit/>
          </a:bodyPr>
          <a:lstStyle/>
          <a:p>
            <a:pPr indent="-228600" rtl="0">
              <a:buNone/>
            </a:pPr>
            <a:endParaRPr lang="en-US" dirty="0"/>
          </a:p>
        </p:txBody>
      </p:sp>
      <p:pic>
        <p:nvPicPr>
          <p:cNvPr id="22" name="Picture 21">
            <a:extLst>
              <a:ext uri="{FF2B5EF4-FFF2-40B4-BE49-F238E27FC236}">
                <a16:creationId xmlns:a16="http://schemas.microsoft.com/office/drawing/2014/main" id="{D1E1B798-E90E-1DDD-21C1-B9FB4A229153}"/>
              </a:ext>
            </a:extLst>
          </p:cNvPr>
          <p:cNvPicPr>
            <a:picLocks noChangeAspect="1"/>
          </p:cNvPicPr>
          <p:nvPr/>
        </p:nvPicPr>
        <p:blipFill>
          <a:blip r:embed="rId2"/>
          <a:stretch>
            <a:fillRect/>
          </a:stretch>
        </p:blipFill>
        <p:spPr>
          <a:xfrm>
            <a:off x="1366294" y="2256372"/>
            <a:ext cx="6411412" cy="4077691"/>
          </a:xfrm>
          <a:prstGeom prst="rect">
            <a:avLst/>
          </a:prstGeom>
        </p:spPr>
      </p:pic>
    </p:spTree>
    <p:extLst>
      <p:ext uri="{BB962C8B-B14F-4D97-AF65-F5344CB8AC3E}">
        <p14:creationId xmlns:p14="http://schemas.microsoft.com/office/powerpoint/2010/main" val="2937690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91C1A-67B3-9182-1E4A-D0C02A1D3C0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C888D5-91A0-B0FE-CF7C-3B7CE6181296}"/>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3" name="Title 2">
            <a:extLst>
              <a:ext uri="{FF2B5EF4-FFF2-40B4-BE49-F238E27FC236}">
                <a16:creationId xmlns:a16="http://schemas.microsoft.com/office/drawing/2014/main" id="{9BAC132B-18E0-9DC0-DE44-311434740D20}"/>
              </a:ext>
            </a:extLst>
          </p:cNvPr>
          <p:cNvSpPr>
            <a:spLocks noGrp="1"/>
          </p:cNvSpPr>
          <p:nvPr>
            <p:ph type="title"/>
          </p:nvPr>
        </p:nvSpPr>
        <p:spPr/>
        <p:txBody>
          <a:bodyPr/>
          <a:lstStyle/>
          <a:p>
            <a:r>
              <a:rPr lang="en-US" dirty="0" err="1"/>
              <a:t>Ước</a:t>
            </a:r>
            <a:r>
              <a:rPr lang="en-US" dirty="0"/>
              <a:t> </a:t>
            </a:r>
            <a:r>
              <a:rPr lang="en-US" dirty="0" err="1"/>
              <a:t>lượng</a:t>
            </a:r>
            <a:endParaRPr lang="en-US" dirty="0"/>
          </a:p>
        </p:txBody>
      </p:sp>
      <p:sp>
        <p:nvSpPr>
          <p:cNvPr id="4" name="Text Placeholder 3">
            <a:extLst>
              <a:ext uri="{FF2B5EF4-FFF2-40B4-BE49-F238E27FC236}">
                <a16:creationId xmlns:a16="http://schemas.microsoft.com/office/drawing/2014/main" id="{69BF2025-8F16-B44E-3EC2-D3D6F8B21685}"/>
              </a:ext>
            </a:extLst>
          </p:cNvPr>
          <p:cNvSpPr>
            <a:spLocks noGrp="1"/>
          </p:cNvSpPr>
          <p:nvPr>
            <p:ph type="body" sz="quarter" idx="13"/>
          </p:nvPr>
        </p:nvSpPr>
        <p:spPr/>
        <p:txBody>
          <a:bodyPr/>
          <a:lstStyle/>
          <a:p>
            <a:r>
              <a:rPr lang="en-US" sz="2000" b="1" dirty="0" err="1">
                <a:latin typeface="Times New Roman" panose="02020603050405020304" pitchFamily="18" charset="0"/>
                <a:cs typeface="Times New Roman" panose="02020603050405020304" pitchFamily="18" charset="0"/>
              </a:rPr>
              <a:t>Ước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lượng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năng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suất</a:t>
            </a:r>
            <a:r>
              <a:rPr lang="en-US" sz="2000" b="1"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trình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đánh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giá</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lượng</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việc</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hoàn</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thành</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trên</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một</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đơn</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vị</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thời</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gian</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Để</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ước</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lượng</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tốt</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nên</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dùng</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b="1" dirty="0" err="1">
                <a:solidFill>
                  <a:srgbClr val="111827"/>
                </a:solidFill>
                <a:latin typeface="Times New Roman" panose="02020603050405020304" pitchFamily="18" charset="0"/>
                <a:ea typeface="Arial" pitchFamily="34" charset="-122"/>
                <a:cs typeface="Times New Roman" panose="02020603050405020304" pitchFamily="18" charset="0"/>
              </a:rPr>
              <a:t>dữ</a:t>
            </a:r>
            <a:r>
              <a:rPr lang="en-US" sz="2000" b="1"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b="1" dirty="0" err="1">
                <a:solidFill>
                  <a:srgbClr val="111827"/>
                </a:solidFill>
                <a:latin typeface="Times New Roman" panose="02020603050405020304" pitchFamily="18" charset="0"/>
                <a:ea typeface="Arial" pitchFamily="34" charset="-122"/>
                <a:cs typeface="Times New Roman" panose="02020603050405020304" pitchFamily="18" charset="0"/>
              </a:rPr>
              <a:t>liệu</a:t>
            </a:r>
            <a:r>
              <a:rPr lang="en-US" sz="2000" b="1"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b="1" dirty="0" err="1">
                <a:solidFill>
                  <a:srgbClr val="111827"/>
                </a:solidFill>
                <a:latin typeface="Times New Roman" panose="02020603050405020304" pitchFamily="18" charset="0"/>
                <a:ea typeface="Arial" pitchFamily="34" charset="-122"/>
                <a:cs typeface="Times New Roman" panose="02020603050405020304" pitchFamily="18" charset="0"/>
              </a:rPr>
              <a:t>lịch</a:t>
            </a:r>
            <a:r>
              <a:rPr lang="en-US" sz="2000" b="1"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b="1" dirty="0" err="1">
                <a:solidFill>
                  <a:srgbClr val="111827"/>
                </a:solidFill>
                <a:latin typeface="Times New Roman" panose="02020603050405020304" pitchFamily="18" charset="0"/>
                <a:ea typeface="Arial" pitchFamily="34" charset="-122"/>
                <a:cs typeface="Times New Roman" panose="02020603050405020304" pitchFamily="18" charset="0"/>
              </a:rPr>
              <a:t>sử</a:t>
            </a:r>
            <a:r>
              <a:rPr lang="en-US" sz="2000" b="1"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của</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team/</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dự</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án</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tương</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 </a:t>
            </a:r>
            <a:r>
              <a:rPr lang="en-US" sz="2000" dirty="0" err="1">
                <a:solidFill>
                  <a:srgbClr val="111827"/>
                </a:solidFill>
                <a:latin typeface="Times New Roman" panose="02020603050405020304" pitchFamily="18" charset="0"/>
                <a:ea typeface="Arial" pitchFamily="34" charset="-122"/>
                <a:cs typeface="Times New Roman" panose="02020603050405020304" pitchFamily="18" charset="0"/>
              </a:rPr>
              <a:t>tự</a:t>
            </a:r>
            <a:r>
              <a:rPr lang="en-US" sz="2000" dirty="0">
                <a:solidFill>
                  <a:srgbClr val="111827"/>
                </a:solidFill>
                <a:latin typeface="Times New Roman" panose="02020603050405020304" pitchFamily="18" charset="0"/>
                <a:ea typeface="Arial" pitchFamily="34" charset="-122"/>
                <a:cs typeface="Times New Roman" panose="02020603050405020304" pitchFamily="18" charset="0"/>
              </a:rPr>
              <a:t>.</a:t>
            </a:r>
          </a:p>
          <a:p>
            <a:r>
              <a:rPr lang="en-US" sz="2000" dirty="0" err="1">
                <a:solidFill>
                  <a:srgbClr val="111827"/>
                </a:solidFill>
                <a:latin typeface="Times New Roman" panose="02020603050405020304" pitchFamily="18" charset="0"/>
                <a:cs typeface="Times New Roman" panose="02020603050405020304" pitchFamily="18" charset="0"/>
              </a:rPr>
              <a:t>Để</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triển</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khai</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ước</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lượng</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năng</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suất</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trong</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một</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dự</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án</a:t>
            </a:r>
            <a:r>
              <a:rPr lang="en-US" sz="2000" dirty="0">
                <a:solidFill>
                  <a:srgbClr val="111827"/>
                </a:solidFill>
                <a:latin typeface="Times New Roman" panose="02020603050405020304" pitchFamily="18" charset="0"/>
                <a:cs typeface="Times New Roman" panose="02020603050405020304" pitchFamily="18" charset="0"/>
              </a:rPr>
              <a:t> CNTT </a:t>
            </a:r>
            <a:r>
              <a:rPr lang="en-US" sz="2000" dirty="0" err="1">
                <a:solidFill>
                  <a:srgbClr val="111827"/>
                </a:solidFill>
                <a:latin typeface="Times New Roman" panose="02020603050405020304" pitchFamily="18" charset="0"/>
                <a:cs typeface="Times New Roman" panose="02020603050405020304" pitchFamily="18" charset="0"/>
              </a:rPr>
              <a:t>cần</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liên</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tục</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thu</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thập</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dữ</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liệu</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cập</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nhật</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năng</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suất</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theo</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thời</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gian</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khi</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đội</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ngũ</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thay</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đổi</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công</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nghệ</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thay</a:t>
            </a:r>
            <a:r>
              <a:rPr lang="en-US" sz="2000" dirty="0">
                <a:solidFill>
                  <a:srgbClr val="111827"/>
                </a:solidFill>
                <a:latin typeface="Times New Roman" panose="02020603050405020304" pitchFamily="18" charset="0"/>
                <a:cs typeface="Times New Roman" panose="02020603050405020304" pitchFamily="18" charset="0"/>
              </a:rPr>
              <a:t> </a:t>
            </a:r>
            <a:r>
              <a:rPr lang="en-US" sz="2000" dirty="0" err="1">
                <a:solidFill>
                  <a:srgbClr val="111827"/>
                </a:solidFill>
                <a:latin typeface="Times New Roman" panose="02020603050405020304" pitchFamily="18" charset="0"/>
                <a:cs typeface="Times New Roman" panose="02020603050405020304" pitchFamily="18" charset="0"/>
              </a:rPr>
              <a:t>đổi</a:t>
            </a: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778C6ED-1C2C-D051-9C39-E5F18690426D}"/>
              </a:ext>
            </a:extLst>
          </p:cNvPr>
          <p:cNvSpPr txBox="1"/>
          <p:nvPr/>
        </p:nvSpPr>
        <p:spPr>
          <a:xfrm>
            <a:off x="2286000" y="2989457"/>
            <a:ext cx="4572000" cy="369332"/>
          </a:xfrm>
          <a:prstGeom prst="rect">
            <a:avLst/>
          </a:prstGeom>
          <a:noFill/>
        </p:spPr>
        <p:txBody>
          <a:bodyPr wrap="square">
            <a:spAutoFit/>
          </a:bodyPr>
          <a:lstStyle/>
          <a:p>
            <a:pPr indent="-228600" rtl="0">
              <a:buNone/>
            </a:pPr>
            <a:endParaRPr lang="en-US" dirty="0"/>
          </a:p>
        </p:txBody>
      </p:sp>
      <p:pic>
        <p:nvPicPr>
          <p:cNvPr id="7" name="Picture 6">
            <a:extLst>
              <a:ext uri="{FF2B5EF4-FFF2-40B4-BE49-F238E27FC236}">
                <a16:creationId xmlns:a16="http://schemas.microsoft.com/office/drawing/2014/main" id="{42C08287-97A5-498A-E087-F2BEA97FE33A}"/>
              </a:ext>
            </a:extLst>
          </p:cNvPr>
          <p:cNvPicPr>
            <a:picLocks noChangeAspect="1"/>
          </p:cNvPicPr>
          <p:nvPr/>
        </p:nvPicPr>
        <p:blipFill>
          <a:blip r:embed="rId2"/>
          <a:stretch>
            <a:fillRect/>
          </a:stretch>
        </p:blipFill>
        <p:spPr>
          <a:xfrm>
            <a:off x="1713051" y="3529584"/>
            <a:ext cx="5344271" cy="1400370"/>
          </a:xfrm>
          <a:prstGeom prst="rect">
            <a:avLst/>
          </a:prstGeom>
        </p:spPr>
      </p:pic>
    </p:spTree>
    <p:extLst>
      <p:ext uri="{BB962C8B-B14F-4D97-AF65-F5344CB8AC3E}">
        <p14:creationId xmlns:p14="http://schemas.microsoft.com/office/powerpoint/2010/main" val="2942769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119F8-A35B-9FEB-5859-60364C87058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BD0D76-A0AE-6121-0298-FCA83B6A81D8}"/>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3" name="Title 2">
            <a:extLst>
              <a:ext uri="{FF2B5EF4-FFF2-40B4-BE49-F238E27FC236}">
                <a16:creationId xmlns:a16="http://schemas.microsoft.com/office/drawing/2014/main" id="{A58424F6-7246-8A04-FB4B-F3D77C249939}"/>
              </a:ext>
            </a:extLst>
          </p:cNvPr>
          <p:cNvSpPr>
            <a:spLocks noGrp="1"/>
          </p:cNvSpPr>
          <p:nvPr>
            <p:ph type="title"/>
          </p:nvPr>
        </p:nvSpPr>
        <p:spPr/>
        <p:txBody>
          <a:bodyPr/>
          <a:lstStyle/>
          <a:p>
            <a:r>
              <a:rPr lang="en-US" dirty="0" err="1"/>
              <a:t>Ước</a:t>
            </a:r>
            <a:r>
              <a:rPr lang="en-US" dirty="0"/>
              <a:t> </a:t>
            </a:r>
            <a:r>
              <a:rPr lang="en-US" dirty="0" err="1"/>
              <a:t>lượng</a:t>
            </a:r>
            <a:endParaRPr lang="en-US" dirty="0"/>
          </a:p>
        </p:txBody>
      </p:sp>
      <p:sp>
        <p:nvSpPr>
          <p:cNvPr id="4" name="Text Placeholder 3">
            <a:extLst>
              <a:ext uri="{FF2B5EF4-FFF2-40B4-BE49-F238E27FC236}">
                <a16:creationId xmlns:a16="http://schemas.microsoft.com/office/drawing/2014/main" id="{A2BB09BB-B7C3-1F8D-F602-EF769EF8B1A0}"/>
              </a:ext>
            </a:extLst>
          </p:cNvPr>
          <p:cNvSpPr>
            <a:spLocks noGrp="1"/>
          </p:cNvSpPr>
          <p:nvPr>
            <p:ph type="body" sz="quarter" idx="13"/>
          </p:nvPr>
        </p:nvSpPr>
        <p:spPr/>
        <p:txBody>
          <a:bodyPr/>
          <a:lstStyle/>
          <a:p>
            <a:r>
              <a:rPr lang="en-US" sz="2000" b="1" dirty="0" err="1">
                <a:latin typeface="Times New Roman" panose="02020603050405020304" pitchFamily="18" charset="0"/>
                <a:cs typeface="Times New Roman" panose="02020603050405020304" pitchFamily="18" charset="0"/>
              </a:rPr>
              <a:t>Ước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lượng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nguồn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lực</a:t>
            </a: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Ước tính các dạng và số lượng tài nguyên về vật tư, con người, thiết bị.. cho dự án</a:t>
            </a:r>
            <a:r>
              <a:rPr lang="en-US" sz="2000" dirty="0">
                <a:latin typeface="Times New Roman" panose="02020603050405020304" pitchFamily="18" charset="0"/>
                <a:cs typeface="Times New Roman" panose="02020603050405020304" pitchFamily="18" charset="0"/>
              </a:rPr>
              <a:t>.</a:t>
            </a:r>
          </a:p>
          <a:p>
            <a:r>
              <a:rPr lang="en-US" sz="2000" dirty="0" err="1">
                <a:latin typeface="Times New Roman" panose="02020603050405020304" pitchFamily="18" charset="0"/>
                <a:cs typeface="Times New Roman" panose="02020603050405020304" pitchFamily="18" charset="0"/>
              </a:rPr>
              <a:t>Cần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phải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biết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rõ</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của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hoạt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động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lịch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nguồn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lực</a:t>
            </a:r>
            <a:r>
              <a:rPr lang="en-US" sz="2000" dirty="0">
                <a:latin typeface="Times New Roman" panose="02020603050405020304" pitchFamily="18" charset="0"/>
                <a:cs typeface="Times New Roman" panose="02020603050405020304" pitchFamily="18" charset="0"/>
              </a:rPr>
              <a:t> hay </a:t>
            </a:r>
            <a:r>
              <a:rPr lang="en-US" sz="2000" dirty="0" err="1">
                <a:latin typeface="Times New Roman" panose="02020603050405020304" pitchFamily="18" charset="0"/>
                <a:cs typeface="Times New Roman" panose="02020603050405020304" pitchFamily="18" charset="0"/>
              </a:rPr>
              <a:t>tài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của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tổ</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chức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đánh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yêu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cầu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nguồn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cấu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trúc</a:t>
            </a:r>
            <a:r>
              <a:rPr lang="en-US" sz="2000" dirty="0">
                <a:latin typeface="Times New Roman" panose="02020603050405020304" pitchFamily="18" charset="0"/>
                <a:cs typeface="Times New Roman" panose="02020603050405020304" pitchFamily="18" charset="0"/>
              </a:rPr>
              <a:t> chi </a:t>
            </a:r>
            <a:r>
              <a:rPr lang="en-US" sz="2000" dirty="0" err="1">
                <a:latin typeface="Times New Roman" panose="02020603050405020304" pitchFamily="18" charset="0"/>
                <a:cs typeface="Times New Roman" panose="02020603050405020304" pitchFamily="18" charset="0"/>
              </a:rPr>
              <a:t>tiết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dự</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án</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E94B7AF-C731-792B-1A63-6FB81762B493}"/>
              </a:ext>
            </a:extLst>
          </p:cNvPr>
          <p:cNvSpPr txBox="1"/>
          <p:nvPr/>
        </p:nvSpPr>
        <p:spPr>
          <a:xfrm>
            <a:off x="2286000" y="2989457"/>
            <a:ext cx="4572000" cy="369332"/>
          </a:xfrm>
          <a:prstGeom prst="rect">
            <a:avLst/>
          </a:prstGeom>
          <a:noFill/>
        </p:spPr>
        <p:txBody>
          <a:bodyPr wrap="square">
            <a:spAutoFit/>
          </a:bodyPr>
          <a:lstStyle/>
          <a:p>
            <a:pPr indent="-228600" rtl="0">
              <a:buNone/>
            </a:pPr>
            <a:endParaRPr lang="en-US" dirty="0"/>
          </a:p>
        </p:txBody>
      </p:sp>
      <p:sp>
        <p:nvSpPr>
          <p:cNvPr id="8" name="AutoShape 4" descr="Image result for estimate human resources">
            <a:extLst>
              <a:ext uri="{FF2B5EF4-FFF2-40B4-BE49-F238E27FC236}">
                <a16:creationId xmlns:a16="http://schemas.microsoft.com/office/drawing/2014/main" id="{5FA1CFCF-AFA1-DEB2-BC35-438E0A2CD8D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11" name="Picture 10">
            <a:extLst>
              <a:ext uri="{FF2B5EF4-FFF2-40B4-BE49-F238E27FC236}">
                <a16:creationId xmlns:a16="http://schemas.microsoft.com/office/drawing/2014/main" id="{39CBA8B1-19A4-3F77-9242-B692CCA6B9E9}"/>
              </a:ext>
            </a:extLst>
          </p:cNvPr>
          <p:cNvPicPr>
            <a:picLocks noChangeAspect="1"/>
          </p:cNvPicPr>
          <p:nvPr/>
        </p:nvPicPr>
        <p:blipFill>
          <a:blip r:embed="rId2"/>
          <a:stretch>
            <a:fillRect/>
          </a:stretch>
        </p:blipFill>
        <p:spPr>
          <a:xfrm>
            <a:off x="1299310" y="2651262"/>
            <a:ext cx="6542696" cy="3375912"/>
          </a:xfrm>
          <a:prstGeom prst="rect">
            <a:avLst/>
          </a:prstGeom>
        </p:spPr>
      </p:pic>
    </p:spTree>
    <p:extLst>
      <p:ext uri="{BB962C8B-B14F-4D97-AF65-F5344CB8AC3E}">
        <p14:creationId xmlns:p14="http://schemas.microsoft.com/office/powerpoint/2010/main" val="2520414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99623-E154-899B-EECE-3D64334B85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8EBF8-A1F4-A500-06B0-5463FEE5604B}"/>
              </a:ext>
            </a:extLst>
          </p:cNvPr>
          <p:cNvSpPr>
            <a:spLocks noGrp="1"/>
          </p:cNvSpPr>
          <p:nvPr>
            <p:ph type="title"/>
          </p:nvPr>
        </p:nvSpPr>
        <p:spPr>
          <a:xfrm>
            <a:off x="2095119" y="2365248"/>
            <a:ext cx="4953762" cy="2127504"/>
          </a:xfrm>
        </p:spPr>
        <p:txBody>
          <a:bodyPr/>
          <a:lstStyle/>
          <a:p>
            <a:r>
              <a:rPr lang="en-US" dirty="0"/>
              <a:t>3</a:t>
            </a:r>
            <a:br>
              <a:rPr lang="en-US" dirty="0"/>
            </a:br>
            <a:r>
              <a:rPr lang="en-US" dirty="0" err="1"/>
              <a:t>Kết</a:t>
            </a:r>
            <a:r>
              <a:rPr lang="en-US" dirty="0"/>
              <a:t> </a:t>
            </a:r>
            <a:r>
              <a:rPr lang="en-US" dirty="0" err="1"/>
              <a:t>luận</a:t>
            </a:r>
            <a:br>
              <a:rPr lang="en-US" dirty="0"/>
            </a:br>
            <a:endParaRPr lang="en-US" dirty="0"/>
          </a:p>
        </p:txBody>
      </p:sp>
    </p:spTree>
    <p:extLst>
      <p:ext uri="{BB962C8B-B14F-4D97-AF65-F5344CB8AC3E}">
        <p14:creationId xmlns:p14="http://schemas.microsoft.com/office/powerpoint/2010/main" val="3811846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F0700-9F79-CA9C-B04F-1AFCA20A598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C51C36-7AD8-4103-FDEF-79E2B9ECDBC1}"/>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3" name="Title 2">
            <a:extLst>
              <a:ext uri="{FF2B5EF4-FFF2-40B4-BE49-F238E27FC236}">
                <a16:creationId xmlns:a16="http://schemas.microsoft.com/office/drawing/2014/main" id="{5A47CED9-E13A-DF69-BE35-5BEB4794185F}"/>
              </a:ext>
            </a:extLst>
          </p:cNvPr>
          <p:cNvSpPr>
            <a:spLocks noGrp="1"/>
          </p:cNvSpPr>
          <p:nvPr>
            <p:ph type="title"/>
          </p:nvPr>
        </p:nvSpPr>
        <p:spPr/>
        <p:txBody>
          <a:bodyPr/>
          <a:lstStyle/>
          <a:p>
            <a:r>
              <a:rPr lang="en-US" dirty="0" err="1"/>
              <a:t>Kết</a:t>
            </a:r>
            <a:r>
              <a:rPr lang="en-US" dirty="0"/>
              <a:t> </a:t>
            </a:r>
            <a:r>
              <a:rPr lang="en-US" dirty="0" err="1"/>
              <a:t>luận</a:t>
            </a:r>
            <a:endParaRPr lang="en-US" dirty="0"/>
          </a:p>
        </p:txBody>
      </p:sp>
      <p:sp>
        <p:nvSpPr>
          <p:cNvPr id="4" name="Text Placeholder 3">
            <a:extLst>
              <a:ext uri="{FF2B5EF4-FFF2-40B4-BE49-F238E27FC236}">
                <a16:creationId xmlns:a16="http://schemas.microsoft.com/office/drawing/2014/main" id="{91CF5D7F-B1E6-BF24-DF53-B95D8CF55FF0}"/>
              </a:ext>
            </a:extLst>
          </p:cNvPr>
          <p:cNvSpPr>
            <a:spLocks noGrp="1"/>
          </p:cNvSpPr>
          <p:nvPr>
            <p:ph type="body" sz="quarter" idx="13"/>
          </p:nvPr>
        </p:nvSpPr>
        <p:spPr/>
        <p:txBody>
          <a:bodyPr/>
          <a:lstStyle/>
          <a:p>
            <a:r>
              <a:rPr lang="vi-VN" sz="1800" dirty="0">
                <a:latin typeface="+mj-lt"/>
              </a:rPr>
              <a:t>Trong thực tế dự án CNTT luôn có mức độ bất định cao (thay đổi yêu cầu, phụ thuộc tích hợp, năng suất đội ngũ), vì vậy lịch biểu phải được quản trị như một công cụ sống: liên tục cập nhật, theo dõi đường găng/độ co giãn, ưu tiên nguồn lực cho các công việc quyết định tiến độ, và chủ động xử lý rủi ro trễ hạn. Khi được triển khai bài bản, quản trị thời gian giúp nâng tính minh bạch, phối hợp hiệu quả giữa các bên, tối ưu sử dụng nguồn lực và tăng xác suất bàn giao đúng thời điểm với chất lượng mong đợi.</a:t>
            </a:r>
            <a:endParaRPr lang="en-US" sz="1800" dirty="0">
              <a:latin typeface="+mj-lt"/>
            </a:endParaRPr>
          </a:p>
        </p:txBody>
      </p:sp>
      <p:sp>
        <p:nvSpPr>
          <p:cNvPr id="6" name="TextBox 5">
            <a:extLst>
              <a:ext uri="{FF2B5EF4-FFF2-40B4-BE49-F238E27FC236}">
                <a16:creationId xmlns:a16="http://schemas.microsoft.com/office/drawing/2014/main" id="{4F4C7304-B8CC-C0C6-5F30-E5E64C355F93}"/>
              </a:ext>
            </a:extLst>
          </p:cNvPr>
          <p:cNvSpPr txBox="1"/>
          <p:nvPr/>
        </p:nvSpPr>
        <p:spPr>
          <a:xfrm>
            <a:off x="2286000" y="2989457"/>
            <a:ext cx="4572000" cy="369332"/>
          </a:xfrm>
          <a:prstGeom prst="rect">
            <a:avLst/>
          </a:prstGeom>
          <a:noFill/>
        </p:spPr>
        <p:txBody>
          <a:bodyPr wrap="square">
            <a:spAutoFit/>
          </a:bodyPr>
          <a:lstStyle/>
          <a:p>
            <a:pPr indent="-228600" rtl="0">
              <a:buNone/>
            </a:pPr>
            <a:endParaRPr lang="en-US" dirty="0"/>
          </a:p>
        </p:txBody>
      </p:sp>
      <p:sp>
        <p:nvSpPr>
          <p:cNvPr id="8" name="AutoShape 4" descr="Image result for estimate human resources">
            <a:extLst>
              <a:ext uri="{FF2B5EF4-FFF2-40B4-BE49-F238E27FC236}">
                <a16:creationId xmlns:a16="http://schemas.microsoft.com/office/drawing/2014/main" id="{BCD554F9-1F1A-5EFA-466D-C1D4C45D2237}"/>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 name="AutoShape 2" descr="Image result for time management">
            <a:extLst>
              <a:ext uri="{FF2B5EF4-FFF2-40B4-BE49-F238E27FC236}">
                <a16:creationId xmlns:a16="http://schemas.microsoft.com/office/drawing/2014/main" id="{086A1C5C-EA21-4C53-FD25-8DE2AD3D5E05}"/>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4ABDA7F0-86A5-F908-A9CA-C8FA3CF83E5F}"/>
              </a:ext>
            </a:extLst>
          </p:cNvPr>
          <p:cNvPicPr>
            <a:picLocks noChangeAspect="1"/>
          </p:cNvPicPr>
          <p:nvPr/>
        </p:nvPicPr>
        <p:blipFill>
          <a:blip r:embed="rId2"/>
          <a:stretch>
            <a:fillRect/>
          </a:stretch>
        </p:blipFill>
        <p:spPr>
          <a:xfrm>
            <a:off x="1838863" y="3227770"/>
            <a:ext cx="5466274" cy="2824557"/>
          </a:xfrm>
          <a:prstGeom prst="rect">
            <a:avLst/>
          </a:prstGeom>
        </p:spPr>
      </p:pic>
    </p:spTree>
    <p:extLst>
      <p:ext uri="{BB962C8B-B14F-4D97-AF65-F5344CB8AC3E}">
        <p14:creationId xmlns:p14="http://schemas.microsoft.com/office/powerpoint/2010/main" val="2549897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1BBD9-B14D-383A-A5E0-962EF328EEA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52F503-73FF-AF57-4A79-0CF9D42925B1}"/>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3" name="Title 10">
            <a:extLst>
              <a:ext uri="{FF2B5EF4-FFF2-40B4-BE49-F238E27FC236}">
                <a16:creationId xmlns:a16="http://schemas.microsoft.com/office/drawing/2014/main" id="{1F961E17-7E47-59B3-C087-DEC38B0C2072}"/>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96739283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321</TotalTime>
  <Words>1172</Words>
  <Application>Microsoft Office PowerPoint</Application>
  <PresentationFormat>On-screen Show (4:3)</PresentationFormat>
  <Paragraphs>120</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Lato</vt:lpstr>
      <vt:lpstr>Times New Roman</vt:lpstr>
      <vt:lpstr>Office Theme</vt:lpstr>
      <vt:lpstr>PowerPoint Presentation</vt:lpstr>
      <vt:lpstr>PowerPoint Presentation</vt:lpstr>
      <vt:lpstr>1 Quản lý thời gian là gì?</vt:lpstr>
      <vt:lpstr>Khái niệm</vt:lpstr>
      <vt:lpstr>2 Quy trình lập kế hoạch quản lý thời gian</vt:lpstr>
      <vt:lpstr>Quy trình</vt:lpstr>
      <vt:lpstr>Xác định các hoạt động</vt:lpstr>
      <vt:lpstr>Sắp xếp các công việc tuần tự</vt:lpstr>
      <vt:lpstr>Sắp xếp các công việc tuần tự</vt:lpstr>
      <vt:lpstr>Sắp xếp các công việc tuần tự</vt:lpstr>
      <vt:lpstr>Sắp xếp các công việc tuần tự</vt:lpstr>
      <vt:lpstr>Ước lượng</vt:lpstr>
      <vt:lpstr>Ước lượng</vt:lpstr>
      <vt:lpstr>Ước lượng</vt:lpstr>
      <vt:lpstr>3 Kết luận </vt:lpstr>
      <vt:lpstr>Kết luận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Tuấn Nghĩa Chu</cp:lastModifiedBy>
  <cp:revision>16</cp:revision>
  <dcterms:created xsi:type="dcterms:W3CDTF">2021-05-28T04:32:29Z</dcterms:created>
  <dcterms:modified xsi:type="dcterms:W3CDTF">2025-12-17T06:32:55Z</dcterms:modified>
</cp:coreProperties>
</file>