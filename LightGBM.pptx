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420" r:id="rId2"/>
    <p:sldId id="2422" r:id="rId3"/>
    <p:sldId id="2425" r:id="rId4"/>
    <p:sldId id="2423" r:id="rId5"/>
    <p:sldId id="2426" r:id="rId6"/>
    <p:sldId id="2427" r:id="rId7"/>
    <p:sldId id="2429" r:id="rId8"/>
    <p:sldId id="2430" r:id="rId9"/>
    <p:sldId id="2431" r:id="rId10"/>
    <p:sldId id="2432" r:id="rId11"/>
    <p:sldId id="2433" r:id="rId12"/>
    <p:sldId id="2434" r:id="rId13"/>
    <p:sldId id="2435" r:id="rId14"/>
    <p:sldId id="2436" r:id="rId15"/>
    <p:sldId id="2437" r:id="rId16"/>
    <p:sldId id="2439" r:id="rId17"/>
    <p:sldId id="2440" r:id="rId18"/>
    <p:sldId id="2441" r:id="rId19"/>
    <p:sldId id="2442" r:id="rId20"/>
    <p:sldId id="2443" r:id="rId21"/>
    <p:sldId id="2444" r:id="rId22"/>
    <p:sldId id="2445" r:id="rId23"/>
    <p:sldId id="2446" r:id="rId24"/>
    <p:sldId id="2447" r:id="rId25"/>
    <p:sldId id="244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CB4C"/>
    <a:srgbClr val="54BFC7"/>
    <a:srgbClr val="A1A9AD"/>
    <a:srgbClr val="E8BB16"/>
    <a:srgbClr val="CFA713"/>
    <a:srgbClr val="EDC843"/>
    <a:srgbClr val="EFEF2D"/>
    <a:srgbClr val="ECEF7D"/>
    <a:srgbClr val="32868A"/>
    <a:srgbClr val="5CCA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96CFA2-BF19-4CDA-A7BB-50F7C133BFFE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A5591D-8FC7-4045-8319-87196243F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766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5591D-8FC7-4045-8319-87196243F3F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829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5591D-8FC7-4045-8319-87196243F3F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403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CFD2B-BF0F-3CF6-4705-677E4F216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54448-1341-F108-89A4-F880CDF66E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C99F54-9D94-444B-0309-EA7A7DDB3E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7F0E5-D73F-B52C-2808-9180D3E3B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5591D-8FC7-4045-8319-87196243F3F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86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747A4-F5B5-9E71-71DD-311394F1C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7B0153-6E02-4DD3-51EA-B0A41F877B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D91383-3A8C-7A53-3388-9BF5329F56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7D250-D92B-8FAF-07EB-F48475225D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5591D-8FC7-4045-8319-87196243F3F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0812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45BFC-0753-E996-3DF1-CD433590B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07AC70-CB2F-5734-7DF0-BF98E832F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94796A-020B-0F61-7EBC-1B3BD6991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5BCBB-43FA-6192-5C67-0F779F2C52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5591D-8FC7-4045-8319-87196243F3F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233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8EACE-5C97-6F2F-134F-7D482803F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888BB7-D3EC-92D0-0BA0-CABB8B0617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5EE2C-83B2-7A0D-0B73-470BA7568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D38B5-0F06-9B79-8982-58DE16F9C1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5591D-8FC7-4045-8319-87196243F3F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401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D1168-7219-EB50-58FC-698C4F267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B2A13E-4C2D-6B88-7E01-E3D08FB66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E6967-00CD-F621-C694-D684ABCEE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C89DF-3EA6-1618-63C6-E57564178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5591D-8FC7-4045-8319-87196243F3F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3357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73BEC-9B05-22AC-FA26-35FA5C24B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D34F05-04C4-5B24-E5E5-DAA93BCCD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80FAA5-6E4B-921A-248B-1488D7315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28DDA-C61D-B13D-F6E7-1682F6BF5D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5591D-8FC7-4045-8319-87196243F3F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5234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DAE79-1EB0-AAB3-7743-4E3924F21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BD1901-10E3-8322-ED14-1A8DF3B89A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EBAD9B-CA77-2DE2-33BE-139A43A5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D3D78-52B1-DBF9-A474-445AB7A1E8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5591D-8FC7-4045-8319-87196243F3F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4936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9B508-5DA5-E354-99F0-01FA4F7F3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290D54-AC48-16EA-2F65-D4B1E412AB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9A1528-95FC-B381-FE5E-B864D8B80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D69C4-03F4-8F6E-37B2-CE213EC5A2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5591D-8FC7-4045-8319-87196243F3F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372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EA643-E6C7-2AC3-A7C9-0DE401265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CA2E05-A0CA-4996-DCB3-90060ED6D8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EB6409-B041-4F66-8715-AB2EEC2A7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30E7E-E092-F48A-B89B-17F426B397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5591D-8FC7-4045-8319-87196243F3F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8075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C2DF4-9364-5427-012C-60E5B0F41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76FD62-E1CD-26C2-1516-432EF3E444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9443B1-5372-D805-1F50-E36863900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20384-EB05-4CD9-C389-1E37F3BF3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5591D-8FC7-4045-8319-87196243F3F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585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228CF-389F-6095-A261-CFF983773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282883-EF29-557B-2D84-14B3ABDE66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B2B56-FCDE-507E-F6FD-3D88AD7A5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AB1B1-5101-4D17-9C57-70FC947D0EC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38434-8B75-F471-1858-E1539789F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B3C67-6013-FC03-CE36-2FF76A6FF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4B5F-EB9B-43DA-A1EE-48E9ADD96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59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2CB33-1FF5-CEAD-6CE5-A5A7E1506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C0D10-9926-D26A-736F-9340D958F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62BD9-82AE-F372-584B-F44ACE845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AB1B1-5101-4D17-9C57-70FC947D0EC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F2000-588E-4114-57E5-657C8FE66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001A6-7686-3E0F-F532-385DD220F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4B5F-EB9B-43DA-A1EE-48E9ADD96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86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C7E14-54C3-6726-C531-9AD932A9C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35784-D18F-6CC4-6E7A-980A6166A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13E49-B558-2009-A5CE-F3FF9F954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AB1B1-5101-4D17-9C57-70FC947D0EC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77D08-8D33-6D04-C9C7-9609FA2EF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24310-1AB1-36D4-9603-FD2CBA73C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4B5F-EB9B-43DA-A1EE-48E9ADD96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348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8FC9E-BE97-8002-74D6-637717614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F17B3-70EC-E758-AC53-3286AA846E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8AAB40-2DD5-7080-FEC7-2E6FD0EB0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0C593-349E-1A1F-A969-D97A695A5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AB1B1-5101-4D17-9C57-70FC947D0EC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B9EA8-CCF2-C0D3-F34B-2FA18E957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A7691-9D03-4851-E4D6-06691288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4B5F-EB9B-43DA-A1EE-48E9ADD96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60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D485E-A22D-179C-EFEC-F6B982F32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0DDED-31C9-2E68-1267-8F9F48D45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0BF191-FFEA-6424-A094-58C8B82A6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7CD46E-0CC4-5307-00EC-E0E3B78C54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EDCD28-FA9C-0678-2733-427C6FDE9C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3AFA50-9471-9336-A500-4E432C963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AB1B1-5101-4D17-9C57-70FC947D0EC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ED367D-0F56-6EE1-FC23-422490D7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B8A38B-7AFE-E518-492B-B12C63B50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4B5F-EB9B-43DA-A1EE-48E9ADD96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114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346DC-91AD-0874-CF0E-9E3B3E367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A65128-4B7F-BC14-D65F-0A5432B98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AB1B1-5101-4D17-9C57-70FC947D0EC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72DF16-61A3-0A8A-9575-E8B817933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1A1EE-BB75-D9C7-4B8D-03CC229F5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4B5F-EB9B-43DA-A1EE-48E9ADD96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49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D2AE6D-3CCE-032B-0A21-BFA665260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AB1B1-5101-4D17-9C57-70FC947D0EC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B0E415-4E02-6857-7D2E-5EB9C90C8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B4D20-D724-BEC6-2C4D-C8C8D22FA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4B5F-EB9B-43DA-A1EE-48E9ADD96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658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693EA-AE91-E9AB-CDD2-912E1CEC4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1B2CB-B5F5-A8BF-D6F0-E572134BD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057AA-208C-4314-36D5-E5E59985BB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A1337-5664-941B-AA2C-080909E48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AB1B1-5101-4D17-9C57-70FC947D0EC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EB985F-BCC6-1943-2EF3-BA5DFB225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46A31C-0460-EB36-82F5-945E019E9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4B5F-EB9B-43DA-A1EE-48E9ADD96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023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DCDFF-63CD-B947-CDB3-80490E811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16C3E-7E5C-E627-EE50-EC5C8AB3FC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E46196-5F66-1E93-2CC1-364F8248A9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8F313-C92E-1D6A-38C3-89C2681E4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AB1B1-5101-4D17-9C57-70FC947D0EC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7A2BDB-D59F-5EF3-3F9C-E78B5DE77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C5F4B-E256-ED96-CFC3-8CBBF73A4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4B5F-EB9B-43DA-A1EE-48E9ADD96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580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36408-69E5-7DD4-BC99-20F1FB1A8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D467D3-EED6-9AAA-340E-EABDECE4E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D87BE-DD39-D0FA-31A9-AC21621F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AB1B1-5101-4D17-9C57-70FC947D0EC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68E96-457B-F724-A7DE-46864FCA7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EBD34-625F-04C4-6D3A-6DE91D353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4B5F-EB9B-43DA-A1EE-48E9ADD96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603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BC69CB-B287-36BD-8361-B9AAD52BCE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CEFE83-D47A-55A4-84DB-9E94119B1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590B8-8EC6-73AE-95F9-632428A81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AB1B1-5101-4D17-9C57-70FC947D0EC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512C0-CA4F-31A5-5031-2F7420E98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7412D-472F-AE4C-EEA2-4F2B3623D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4B5F-EB9B-43DA-A1EE-48E9ADD96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2048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1_Blank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circle with black text&#10;&#10;AI-generated content may be incorrect.">
            <a:extLst>
              <a:ext uri="{FF2B5EF4-FFF2-40B4-BE49-F238E27FC236}">
                <a16:creationId xmlns:a16="http://schemas.microsoft.com/office/drawing/2014/main" id="{64CBB776-4BEC-9FAD-C41F-53A6A3F5C1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184361" cy="835583"/>
          </a:xfrm>
          <a:prstGeom prst="rect">
            <a:avLst/>
          </a:prstGeom>
        </p:spPr>
      </p:pic>
      <p:sp>
        <p:nvSpPr>
          <p:cNvPr id="144" name="Google Shape;144;p16"/>
          <p:cNvSpPr txBox="1">
            <a:spLocks noGrp="1"/>
          </p:cNvSpPr>
          <p:nvPr>
            <p:ph type="sldNum" idx="12"/>
          </p:nvPr>
        </p:nvSpPr>
        <p:spPr>
          <a:xfrm>
            <a:off x="11472533" y="6120400"/>
            <a:ext cx="719600" cy="7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FFB6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Raleway Thin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FFB600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FFB600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FFB600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FFB600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FFB600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FFB600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FFB600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FFB600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>
            <a:fld id="{B446B2FC-BDAF-434F-A36C-1F2F7069A7B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Google Shape;152;p18">
            <a:extLst>
              <a:ext uri="{FF2B5EF4-FFF2-40B4-BE49-F238E27FC236}">
                <a16:creationId xmlns:a16="http://schemas.microsoft.com/office/drawing/2014/main" id="{9FAE219A-8DE5-42DE-A01F-4796BBAC20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0597" y="365760"/>
            <a:ext cx="10941804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50799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5000" b="1" i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219170" lvl="1" indent="-55878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sz="4000" i="1">
                <a:solidFill>
                  <a:srgbClr val="434343"/>
                </a:solidFill>
              </a:defRPr>
            </a:lvl2pPr>
            <a:lvl3pPr marL="1828754" lvl="2" indent="-55878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sz="4000" i="1">
                <a:solidFill>
                  <a:srgbClr val="434343"/>
                </a:solidFill>
              </a:defRPr>
            </a:lvl3pPr>
            <a:lvl4pPr marL="2438339" lvl="3" indent="-55878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sz="4000" i="1">
                <a:solidFill>
                  <a:srgbClr val="434343"/>
                </a:solidFill>
              </a:defRPr>
            </a:lvl4pPr>
            <a:lvl5pPr marL="3047924" lvl="4" indent="-55878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sz="4000" i="1">
                <a:solidFill>
                  <a:srgbClr val="434343"/>
                </a:solidFill>
              </a:defRPr>
            </a:lvl5pPr>
            <a:lvl6pPr marL="3657509" lvl="5" indent="-55878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sz="4000" i="1">
                <a:solidFill>
                  <a:srgbClr val="434343"/>
                </a:solidFill>
              </a:defRPr>
            </a:lvl6pPr>
            <a:lvl7pPr marL="4267093" lvl="6" indent="-55878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sz="4000" i="1">
                <a:solidFill>
                  <a:srgbClr val="434343"/>
                </a:solidFill>
              </a:defRPr>
            </a:lvl7pPr>
            <a:lvl8pPr marL="4876678" lvl="7" indent="-55878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sz="4000" i="1">
                <a:solidFill>
                  <a:srgbClr val="434343"/>
                </a:solidFill>
              </a:defRPr>
            </a:lvl8pPr>
            <a:lvl9pPr marL="5486263" lvl="8" indent="-55878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sz="4000" i="1">
                <a:solidFill>
                  <a:srgbClr val="434343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Google Shape;152;p18">
            <a:extLst>
              <a:ext uri="{FF2B5EF4-FFF2-40B4-BE49-F238E27FC236}">
                <a16:creationId xmlns:a16="http://schemas.microsoft.com/office/drawing/2014/main" id="{D78E7B8F-9E53-45F7-BF5B-C0DEC1DF7D80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495947" y="1178560"/>
            <a:ext cx="11200109" cy="531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507999" lvl="0" indent="-457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C000"/>
              </a:buClr>
              <a:buSzPct val="100000"/>
              <a:buFont typeface="Wingdings" panose="05000000000000000000" pitchFamily="2" charset="2"/>
              <a:buChar char="Ø"/>
              <a:defRPr sz="2700" i="0">
                <a:ln>
                  <a:noFill/>
                </a:ln>
                <a:solidFill>
                  <a:srgbClr val="434343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219170" lvl="1" indent="-55878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sz="4000" i="1">
                <a:solidFill>
                  <a:srgbClr val="434343"/>
                </a:solidFill>
              </a:defRPr>
            </a:lvl2pPr>
            <a:lvl3pPr marL="1828754" lvl="2" indent="-55878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sz="4000" i="1">
                <a:solidFill>
                  <a:srgbClr val="434343"/>
                </a:solidFill>
              </a:defRPr>
            </a:lvl3pPr>
            <a:lvl4pPr marL="2438339" lvl="3" indent="-55878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sz="4000" i="1">
                <a:solidFill>
                  <a:srgbClr val="434343"/>
                </a:solidFill>
              </a:defRPr>
            </a:lvl4pPr>
            <a:lvl5pPr marL="3047924" lvl="4" indent="-55878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sz="4000" i="1">
                <a:solidFill>
                  <a:srgbClr val="434343"/>
                </a:solidFill>
              </a:defRPr>
            </a:lvl5pPr>
            <a:lvl6pPr marL="3657509" lvl="5" indent="-55878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sz="4000" i="1">
                <a:solidFill>
                  <a:srgbClr val="434343"/>
                </a:solidFill>
              </a:defRPr>
            </a:lvl6pPr>
            <a:lvl7pPr marL="4267093" lvl="6" indent="-55878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sz="4000" i="1">
                <a:solidFill>
                  <a:srgbClr val="434343"/>
                </a:solidFill>
              </a:defRPr>
            </a:lvl7pPr>
            <a:lvl8pPr marL="4876678" lvl="7" indent="-55878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sz="4000" i="1">
                <a:solidFill>
                  <a:srgbClr val="434343"/>
                </a:solidFill>
              </a:defRPr>
            </a:lvl8pPr>
            <a:lvl9pPr marL="5486263" lvl="8" indent="-55878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sz="4000" i="1">
                <a:solidFill>
                  <a:srgbClr val="43434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0834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75235C-6C47-02C0-71B6-C9EEEE274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F3FFC9-7C4D-BBB7-6D33-FC2A8594A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F1434-5B3A-E14F-D2C1-EC578561F2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DAB1B1-5101-4D17-9C57-70FC947D0EC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7886B-9448-47D7-E632-266AED4FF5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6A2F7-8A1B-43EC-3955-9674C932F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1C4B5F-EB9B-43DA-A1EE-48E9ADD96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42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F7ED5-9D7E-A271-F391-7BEE04B36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0D352C8-1859-B0FB-8969-BE2738DC7865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56C28FF-9AA6-51BC-D2EA-F9A07CFFEC70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endParaRPr lang="en-US" sz="5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7E99D53-6B12-2179-8102-11F31ABF6852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71FCC78-CBAF-3BD0-25B9-371B0C87F6D4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5159A743-BA15-97E9-FBAB-BCD220530C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868526-EC22-31F1-D0D7-B3BC73FF7BB4}"/>
              </a:ext>
            </a:extLst>
          </p:cNvPr>
          <p:cNvSpPr txBox="1"/>
          <p:nvPr/>
        </p:nvSpPr>
        <p:spPr>
          <a:xfrm>
            <a:off x="481658" y="1834589"/>
            <a:ext cx="111495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Tx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GBDTs still exhibit inefficiency and poor scalability when processing large-scale or high-dimensional datasets.</a:t>
            </a: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Tx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major reason is that for each feature they need to scan all the data instances to estimate the information gain of all possible split points 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Time Consuming.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Free Icon | Bad face">
            <a:extLst>
              <a:ext uri="{FF2B5EF4-FFF2-40B4-BE49-F238E27FC236}">
                <a16:creationId xmlns:a16="http://schemas.microsoft.com/office/drawing/2014/main" id="{74FCDAFF-DD9B-8048-BCF3-8F3260A0F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7992" y="2407482"/>
            <a:ext cx="356616" cy="356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37DE0E-A16F-3B10-C997-853B454991C0}"/>
              </a:ext>
            </a:extLst>
          </p:cNvPr>
          <p:cNvSpPr txBox="1"/>
          <p:nvPr/>
        </p:nvSpPr>
        <p:spPr>
          <a:xfrm>
            <a:off x="481658" y="3099816"/>
            <a:ext cx="108873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developed by Microsoft, address these problems by introduce 2 novel techniques: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Gradient-based One-Side Sampling (GOSS)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Exclusive Feature Bundling (EFB)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AutoShape 4">
            <a:extLst>
              <a:ext uri="{FF2B5EF4-FFF2-40B4-BE49-F238E27FC236}">
                <a16:creationId xmlns:a16="http://schemas.microsoft.com/office/drawing/2014/main" id="{F7468225-7208-B9C6-04B3-49BCAEF2D8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8" name="Picture 17" descr="A diagram of a diagram&#10;&#10;AI-generated content may be incorrect.">
            <a:extLst>
              <a:ext uri="{FF2B5EF4-FFF2-40B4-BE49-F238E27FC236}">
                <a16:creationId xmlns:a16="http://schemas.microsoft.com/office/drawing/2014/main" id="{AD2D5C5E-DE42-25B3-1D09-3F06ACE023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94" y="4010318"/>
            <a:ext cx="5045638" cy="2474156"/>
          </a:xfrm>
          <a:prstGeom prst="rect">
            <a:avLst/>
          </a:prstGeom>
        </p:spPr>
      </p:pic>
      <p:pic>
        <p:nvPicPr>
          <p:cNvPr id="21" name="Picture 20" descr="A drawing of a network&#10;&#10;AI-generated content may be incorrect.">
            <a:extLst>
              <a:ext uri="{FF2B5EF4-FFF2-40B4-BE49-F238E27FC236}">
                <a16:creationId xmlns:a16="http://schemas.microsoft.com/office/drawing/2014/main" id="{804F2F93-103F-834D-95DC-4B576EBE19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4373" y="4010318"/>
            <a:ext cx="4004691" cy="23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887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80132-B1CC-55D1-F4F8-AB19FE96E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4C4CF75-AA75-DE89-EFC0-CE5FBFD6149A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ACB462D-DB21-E043-D7A4-39C791C7CDF0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GOSS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BAA5E21-F8E0-2D97-2410-1DA6AF8C97F4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Reducing the number of data instances?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92B4537-D43B-0AB2-1AFA-99D2ACC8B596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E5B7FD1-B7B5-3224-2641-3569C74A7A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8A59C6-0D2C-5718-E8A8-0870C818DDB1}"/>
              </a:ext>
            </a:extLst>
          </p:cNvPr>
          <p:cNvSpPr txBox="1"/>
          <p:nvPr/>
        </p:nvSpPr>
        <p:spPr>
          <a:xfrm>
            <a:off x="481658" y="1834589"/>
            <a:ext cx="115792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Tx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instances with larger gradients play a more important role in the computation of information gain</a:t>
            </a:r>
          </a:p>
          <a:p>
            <a:pPr marL="285750" indent="-285750">
              <a:buClrTx/>
              <a:buFont typeface="Wingdings" panose="05000000000000000000" pitchFamily="2" charset="2"/>
              <a:buChar char="à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We can have a way to obtain quite accurate estimation of the IG with a much smaller data size.</a:t>
            </a:r>
          </a:p>
          <a:p>
            <a:pPr marL="285750" indent="-285750">
              <a:buClrTx/>
              <a:buFont typeface="Wingdings" panose="05000000000000000000" pitchFamily="2" charset="2"/>
              <a:buChar char="à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buClrTx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An instance with a small gradient shows that the training error for this instance is small and it is already well-trained.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7E17D3A-93F4-D96F-A23C-FCCA8D13CC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997632"/>
              </p:ext>
            </p:extLst>
          </p:nvPr>
        </p:nvGraphicFramePr>
        <p:xfrm>
          <a:off x="404368" y="3895360"/>
          <a:ext cx="5100320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20064">
                  <a:extLst>
                    <a:ext uri="{9D8B030D-6E8A-4147-A177-3AD203B41FA5}">
                      <a16:colId xmlns:a16="http://schemas.microsoft.com/office/drawing/2014/main" val="338745819"/>
                    </a:ext>
                  </a:extLst>
                </a:gridCol>
                <a:gridCol w="1020064">
                  <a:extLst>
                    <a:ext uri="{9D8B030D-6E8A-4147-A177-3AD203B41FA5}">
                      <a16:colId xmlns:a16="http://schemas.microsoft.com/office/drawing/2014/main" val="3723790646"/>
                    </a:ext>
                  </a:extLst>
                </a:gridCol>
                <a:gridCol w="1020064">
                  <a:extLst>
                    <a:ext uri="{9D8B030D-6E8A-4147-A177-3AD203B41FA5}">
                      <a16:colId xmlns:a16="http://schemas.microsoft.com/office/drawing/2014/main" val="3980574622"/>
                    </a:ext>
                  </a:extLst>
                </a:gridCol>
                <a:gridCol w="1020064">
                  <a:extLst>
                    <a:ext uri="{9D8B030D-6E8A-4147-A177-3AD203B41FA5}">
                      <a16:colId xmlns:a16="http://schemas.microsoft.com/office/drawing/2014/main" val="3951391042"/>
                    </a:ext>
                  </a:extLst>
                </a:gridCol>
                <a:gridCol w="1020064">
                  <a:extLst>
                    <a:ext uri="{9D8B030D-6E8A-4147-A177-3AD203B41FA5}">
                      <a16:colId xmlns:a16="http://schemas.microsoft.com/office/drawing/2014/main" val="264081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500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715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132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465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712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27395"/>
                  </a:ext>
                </a:extLst>
              </a:tr>
            </a:tbl>
          </a:graphicData>
        </a:graphic>
      </p:graphicFrame>
      <p:sp>
        <p:nvSpPr>
          <p:cNvPr id="13" name="Right Brace 12">
            <a:extLst>
              <a:ext uri="{FF2B5EF4-FFF2-40B4-BE49-F238E27FC236}">
                <a16:creationId xmlns:a16="http://schemas.microsoft.com/office/drawing/2014/main" id="{5D99579E-ED41-5AE9-A766-D5C5C352A564}"/>
              </a:ext>
            </a:extLst>
          </p:cNvPr>
          <p:cNvSpPr/>
          <p:nvPr/>
        </p:nvSpPr>
        <p:spPr>
          <a:xfrm>
            <a:off x="5641848" y="5029200"/>
            <a:ext cx="301752" cy="10912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555367-D988-61C1-DB98-650A021C4DCE}"/>
              </a:ext>
            </a:extLst>
          </p:cNvPr>
          <p:cNvSpPr txBox="1"/>
          <p:nvPr/>
        </p:nvSpPr>
        <p:spPr>
          <a:xfrm>
            <a:off x="6013704" y="5390134"/>
            <a:ext cx="3155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Instances with small gradient.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2372A6-654E-2F37-44CA-C58E55153EDC}"/>
              </a:ext>
            </a:extLst>
          </p:cNvPr>
          <p:cNvSpPr txBox="1"/>
          <p:nvPr/>
        </p:nvSpPr>
        <p:spPr>
          <a:xfrm>
            <a:off x="3599688" y="3206154"/>
            <a:ext cx="8461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removing all of this data may cause shifts in the dataset's distribution.</a:t>
            </a:r>
          </a:p>
        </p:txBody>
      </p:sp>
      <p:pic>
        <p:nvPicPr>
          <p:cNvPr id="2052" name="Picture 4" descr="Warning sign icon transparent background 12042292 PNG">
            <a:extLst>
              <a:ext uri="{FF2B5EF4-FFF2-40B4-BE49-F238E27FC236}">
                <a16:creationId xmlns:a16="http://schemas.microsoft.com/office/drawing/2014/main" id="{7FB899CA-9A99-F9AD-8A1C-50C13DA67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5606" y="3181404"/>
            <a:ext cx="394082" cy="394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Multiplication Sign 26">
            <a:extLst>
              <a:ext uri="{FF2B5EF4-FFF2-40B4-BE49-F238E27FC236}">
                <a16:creationId xmlns:a16="http://schemas.microsoft.com/office/drawing/2014/main" id="{32E04325-94D5-DFED-3130-72937E6FB1A2}"/>
              </a:ext>
            </a:extLst>
          </p:cNvPr>
          <p:cNvSpPr/>
          <p:nvPr/>
        </p:nvSpPr>
        <p:spPr>
          <a:xfrm>
            <a:off x="-207265" y="4885959"/>
            <a:ext cx="6541010" cy="152745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919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03E65-59EA-A4DB-FB4B-52E8B983C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80CEF2F-9F6C-0ECC-D446-7EF2E8D9E295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F33D556-B714-E091-B2B8-A62FE665AE49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GOSS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B526580-8076-6CD0-1F02-41C1863978AF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GOSS reduce the dataset?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9A14EC7-463B-BAA0-2697-F9017D018EA1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53E3ED8B-889B-E6D6-A733-9733349AA0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03FDB4-D770-A893-C29F-B821BFE02CB9}"/>
                  </a:ext>
                </a:extLst>
              </p:cNvPr>
              <p:cNvSpPr txBox="1"/>
              <p:nvPr/>
            </p:nvSpPr>
            <p:spPr>
              <a:xfrm>
                <a:off x="481658" y="1834589"/>
                <a:ext cx="11579278" cy="27317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Tx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we have the dataset with 5 instances and their gradients after a training loop.</a:t>
                </a:r>
              </a:p>
              <a:p>
                <a:pPr>
                  <a:buClrTx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Implement GOSS with a = 0.4 and b = 0.2</a:t>
                </a:r>
              </a:p>
              <a:p>
                <a:pPr>
                  <a:buClrTx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ClrTx/>
                </a:pP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Steps:</a:t>
                </a:r>
              </a:p>
              <a:p>
                <a:pPr marL="342900" indent="-342900">
                  <a:buClrTx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Sort the data instances according to the absolute value of their gradients.</a:t>
                </a:r>
              </a:p>
              <a:p>
                <a:pPr marL="342900" indent="-342900">
                  <a:buClrTx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Select top a * 100% instances.</a:t>
                </a:r>
              </a:p>
              <a:p>
                <a:pPr marL="342900" indent="-342900">
                  <a:buClrTx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Sampling b * 100% instances from the rest.</a:t>
                </a:r>
              </a:p>
              <a:p>
                <a:pPr marL="342900" indent="-342900">
                  <a:buClrTx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Amplify the sampled data with small gradients by a constant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calculating the IG.</a:t>
                </a:r>
              </a:p>
              <a:p>
                <a:pPr marL="342900" indent="-342900">
                  <a:buClrTx/>
                  <a:buFont typeface="+mj-lt"/>
                  <a:buAutoNum type="arabicPeriod"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03FDB4-D770-A893-C29F-B821BFE02C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58" y="1834589"/>
                <a:ext cx="11579278" cy="2731710"/>
              </a:xfrm>
              <a:prstGeom prst="rect">
                <a:avLst/>
              </a:prstGeom>
              <a:blipFill>
                <a:blip r:embed="rId3"/>
                <a:stretch>
                  <a:fillRect l="-526" t="-1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54726C1-0E8D-3264-EB42-5D40F140DB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378990"/>
              </p:ext>
            </p:extLst>
          </p:nvPr>
        </p:nvGraphicFramePr>
        <p:xfrm>
          <a:off x="1889834" y="4238292"/>
          <a:ext cx="3308095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619">
                  <a:extLst>
                    <a:ext uri="{9D8B030D-6E8A-4147-A177-3AD203B41FA5}">
                      <a16:colId xmlns:a16="http://schemas.microsoft.com/office/drawing/2014/main" val="338745819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723790646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8057462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5139104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264081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500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715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132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465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712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2739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9E8F87F-F3B9-1355-C49B-A7FC0C4E91FF}"/>
              </a:ext>
            </a:extLst>
          </p:cNvPr>
          <p:cNvSpPr txBox="1"/>
          <p:nvPr/>
        </p:nvSpPr>
        <p:spPr>
          <a:xfrm>
            <a:off x="5363089" y="4600048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225A1E-C4BE-CB85-7BFE-27ADC0251597}"/>
              </a:ext>
            </a:extLst>
          </p:cNvPr>
          <p:cNvSpPr txBox="1"/>
          <p:nvPr/>
        </p:nvSpPr>
        <p:spPr>
          <a:xfrm>
            <a:off x="5287993" y="5710439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-1.10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284709-D5BD-E6D6-8AF4-6148700BA322}"/>
              </a:ext>
            </a:extLst>
          </p:cNvPr>
          <p:cNvSpPr txBox="1"/>
          <p:nvPr/>
        </p:nvSpPr>
        <p:spPr>
          <a:xfrm>
            <a:off x="5378057" y="607006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69DC7A-AEEE-1A17-FDDD-C4F23432A0D0}"/>
              </a:ext>
            </a:extLst>
          </p:cNvPr>
          <p:cNvSpPr txBox="1"/>
          <p:nvPr/>
        </p:nvSpPr>
        <p:spPr>
          <a:xfrm>
            <a:off x="5312664" y="4981480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ABFF48-5049-0CA2-8442-4AA6A376849D}"/>
              </a:ext>
            </a:extLst>
          </p:cNvPr>
          <p:cNvSpPr txBox="1"/>
          <p:nvPr/>
        </p:nvSpPr>
        <p:spPr>
          <a:xfrm>
            <a:off x="5378057" y="5336275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0.10</a:t>
            </a:r>
          </a:p>
        </p:txBody>
      </p:sp>
    </p:spTree>
    <p:extLst>
      <p:ext uri="{BB962C8B-B14F-4D97-AF65-F5344CB8AC3E}">
        <p14:creationId xmlns:p14="http://schemas.microsoft.com/office/powerpoint/2010/main" val="1622398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70E9A-24AB-CEEC-786E-900168E01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8BAB26A-39D1-0E30-9DFC-5EF1E505F848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1A64DA0-1E9A-F127-F429-6FBE30AF9839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GOSS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7B8D06F-77C6-E2AD-7929-9062D82A6228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GOSS reduce the dataset?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E38DFC2-5DCB-2220-05B4-15B3C002058C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78D1584A-02E4-82BA-BBB5-BB424CCC0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EF9BF2-BBCD-9A50-71EF-6E9EB25D28E3}"/>
              </a:ext>
            </a:extLst>
          </p:cNvPr>
          <p:cNvSpPr txBox="1"/>
          <p:nvPr/>
        </p:nvSpPr>
        <p:spPr>
          <a:xfrm>
            <a:off x="481658" y="1834589"/>
            <a:ext cx="11579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Tx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GOSS firstly sorts the data instances according to the absolute value of their gradients.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F3D3246-E432-C502-64E1-DEC3BB6DF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891820"/>
              </p:ext>
            </p:extLst>
          </p:nvPr>
        </p:nvGraphicFramePr>
        <p:xfrm>
          <a:off x="481658" y="3182128"/>
          <a:ext cx="3308095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619">
                  <a:extLst>
                    <a:ext uri="{9D8B030D-6E8A-4147-A177-3AD203B41FA5}">
                      <a16:colId xmlns:a16="http://schemas.microsoft.com/office/drawing/2014/main" val="338745819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723790646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8057462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5139104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264081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500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715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132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465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712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2739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79E49B1-2177-5F8B-8369-520CBEB16AEB}"/>
              </a:ext>
            </a:extLst>
          </p:cNvPr>
          <p:cNvSpPr txBox="1"/>
          <p:nvPr/>
        </p:nvSpPr>
        <p:spPr>
          <a:xfrm>
            <a:off x="3904488" y="3529584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8E3BBF-8D8A-82F0-3B30-B2303376D1F6}"/>
              </a:ext>
            </a:extLst>
          </p:cNvPr>
          <p:cNvSpPr txBox="1"/>
          <p:nvPr/>
        </p:nvSpPr>
        <p:spPr>
          <a:xfrm>
            <a:off x="3898751" y="4680573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-1.10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6432E2-C6F0-47F9-D580-8D5BA8D5EFE6}"/>
              </a:ext>
            </a:extLst>
          </p:cNvPr>
          <p:cNvSpPr txBox="1"/>
          <p:nvPr/>
        </p:nvSpPr>
        <p:spPr>
          <a:xfrm>
            <a:off x="3904488" y="503783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27A0C6-1F91-FB84-DDF7-5F169D371CE9}"/>
              </a:ext>
            </a:extLst>
          </p:cNvPr>
          <p:cNvSpPr txBox="1"/>
          <p:nvPr/>
        </p:nvSpPr>
        <p:spPr>
          <a:xfrm>
            <a:off x="3904488" y="3925316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8A6B49-E4F2-9E62-21B8-80F13CF2EF4A}"/>
              </a:ext>
            </a:extLst>
          </p:cNvPr>
          <p:cNvSpPr txBox="1"/>
          <p:nvPr/>
        </p:nvSpPr>
        <p:spPr>
          <a:xfrm>
            <a:off x="3898751" y="427863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0.10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BEF33A50-B1E4-AE06-4196-A6FD284EEBAE}"/>
              </a:ext>
            </a:extLst>
          </p:cNvPr>
          <p:cNvSpPr/>
          <p:nvPr/>
        </p:nvSpPr>
        <p:spPr>
          <a:xfrm>
            <a:off x="5090696" y="4002254"/>
            <a:ext cx="1002792" cy="47040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6BFDDDC-FD3C-2957-BDCA-32E0877B4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438294"/>
              </p:ext>
            </p:extLst>
          </p:nvPr>
        </p:nvGraphicFramePr>
        <p:xfrm>
          <a:off x="6897698" y="3182128"/>
          <a:ext cx="3308095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619">
                  <a:extLst>
                    <a:ext uri="{9D8B030D-6E8A-4147-A177-3AD203B41FA5}">
                      <a16:colId xmlns:a16="http://schemas.microsoft.com/office/drawing/2014/main" val="338745819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723790646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8057462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5139104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264081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500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715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132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465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712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27395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71B35D8A-DBE8-B575-5DA1-1B759FB88EF7}"/>
              </a:ext>
            </a:extLst>
          </p:cNvPr>
          <p:cNvSpPr txBox="1"/>
          <p:nvPr/>
        </p:nvSpPr>
        <p:spPr>
          <a:xfrm>
            <a:off x="10320528" y="3529584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D2DB6F-5644-CEF0-E70B-B6A252B66D87}"/>
              </a:ext>
            </a:extLst>
          </p:cNvPr>
          <p:cNvSpPr txBox="1"/>
          <p:nvPr/>
        </p:nvSpPr>
        <p:spPr>
          <a:xfrm>
            <a:off x="10338086" y="3898916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-1.10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5173B3-C8AF-B008-3995-E33B71695C14}"/>
              </a:ext>
            </a:extLst>
          </p:cNvPr>
          <p:cNvSpPr txBox="1"/>
          <p:nvPr/>
        </p:nvSpPr>
        <p:spPr>
          <a:xfrm>
            <a:off x="10338085" y="4299172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A2B069-B819-D429-9356-3635CB056542}"/>
              </a:ext>
            </a:extLst>
          </p:cNvPr>
          <p:cNvSpPr txBox="1"/>
          <p:nvPr/>
        </p:nvSpPr>
        <p:spPr>
          <a:xfrm>
            <a:off x="10330031" y="4637580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-0.45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E65B72-C670-083F-57EC-A339ABCAB640}"/>
              </a:ext>
            </a:extLst>
          </p:cNvPr>
          <p:cNvSpPr txBox="1"/>
          <p:nvPr/>
        </p:nvSpPr>
        <p:spPr>
          <a:xfrm>
            <a:off x="10338085" y="5037836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C4D0FA-4913-E71F-EF65-3AECBA97C35D}"/>
              </a:ext>
            </a:extLst>
          </p:cNvPr>
          <p:cNvSpPr txBox="1"/>
          <p:nvPr/>
        </p:nvSpPr>
        <p:spPr>
          <a:xfrm>
            <a:off x="173246" y="35651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8D1FD8-08C6-E725-6CCA-477377C3AD36}"/>
              </a:ext>
            </a:extLst>
          </p:cNvPr>
          <p:cNvSpPr txBox="1"/>
          <p:nvPr/>
        </p:nvSpPr>
        <p:spPr>
          <a:xfrm>
            <a:off x="164781" y="39481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498BB0-202A-938D-86E2-1FA3881F5AC8}"/>
              </a:ext>
            </a:extLst>
          </p:cNvPr>
          <p:cNvSpPr txBox="1"/>
          <p:nvPr/>
        </p:nvSpPr>
        <p:spPr>
          <a:xfrm>
            <a:off x="164781" y="43410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B4D33D-F08C-DC4F-B7D4-87DFDBD1D8C1}"/>
              </a:ext>
            </a:extLst>
          </p:cNvPr>
          <p:cNvSpPr txBox="1"/>
          <p:nvPr/>
        </p:nvSpPr>
        <p:spPr>
          <a:xfrm>
            <a:off x="156002" y="471035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6849A1-32EA-0E02-E784-00CDF1EF65CF}"/>
              </a:ext>
            </a:extLst>
          </p:cNvPr>
          <p:cNvSpPr txBox="1"/>
          <p:nvPr/>
        </p:nvSpPr>
        <p:spPr>
          <a:xfrm>
            <a:off x="164781" y="50582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35B55C3-DA2F-B775-64F6-B5995F9EAE0D}"/>
              </a:ext>
            </a:extLst>
          </p:cNvPr>
          <p:cNvSpPr txBox="1"/>
          <p:nvPr/>
        </p:nvSpPr>
        <p:spPr>
          <a:xfrm>
            <a:off x="6572199" y="35651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0CEA79C-8F03-EE4D-236E-2CF21E7ABF3F}"/>
              </a:ext>
            </a:extLst>
          </p:cNvPr>
          <p:cNvSpPr txBox="1"/>
          <p:nvPr/>
        </p:nvSpPr>
        <p:spPr>
          <a:xfrm>
            <a:off x="6563734" y="394812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84B8BB-8699-3AE0-D252-B166AB8869D8}"/>
              </a:ext>
            </a:extLst>
          </p:cNvPr>
          <p:cNvSpPr txBox="1"/>
          <p:nvPr/>
        </p:nvSpPr>
        <p:spPr>
          <a:xfrm>
            <a:off x="6563734" y="43410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76801BF-C24F-ED4C-A227-7206467A452A}"/>
              </a:ext>
            </a:extLst>
          </p:cNvPr>
          <p:cNvSpPr txBox="1"/>
          <p:nvPr/>
        </p:nvSpPr>
        <p:spPr>
          <a:xfrm>
            <a:off x="6554955" y="471035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BFEA39D-E705-1307-3ECD-98CBDCD90413}"/>
              </a:ext>
            </a:extLst>
          </p:cNvPr>
          <p:cNvSpPr txBox="1"/>
          <p:nvPr/>
        </p:nvSpPr>
        <p:spPr>
          <a:xfrm>
            <a:off x="6563734" y="50582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52043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37161-CA94-ADED-3057-930B5411E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A3ECA12-B138-E5EF-906A-C2F4EB0828BA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21F6502-31AA-0C29-E4B8-AC93EA3BADB8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GOSS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CC8CA91-8F88-0E57-2C08-B99CBFF067E9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GOSS reduce the dataset?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C161D7-7D30-E739-86C4-5D48AA0AE0CE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3330862D-DCB7-106E-EA94-D22A8B7E4A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2A5253-953A-6F4E-60B6-72E8663616FE}"/>
              </a:ext>
            </a:extLst>
          </p:cNvPr>
          <p:cNvSpPr txBox="1"/>
          <p:nvPr/>
        </p:nvSpPr>
        <p:spPr>
          <a:xfrm>
            <a:off x="481658" y="1834589"/>
            <a:ext cx="11579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Tx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Select top a * 100% instances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Select 0.4 * 5 = 2 instances.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3B7D2B5-6221-4034-8BB1-277DAA2AD9B2}"/>
              </a:ext>
            </a:extLst>
          </p:cNvPr>
          <p:cNvGraphicFramePr>
            <a:graphicFrameLocks noGrp="1"/>
          </p:cNvGraphicFramePr>
          <p:nvPr/>
        </p:nvGraphicFramePr>
        <p:xfrm>
          <a:off x="481658" y="3182128"/>
          <a:ext cx="3308095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619">
                  <a:extLst>
                    <a:ext uri="{9D8B030D-6E8A-4147-A177-3AD203B41FA5}">
                      <a16:colId xmlns:a16="http://schemas.microsoft.com/office/drawing/2014/main" val="338745819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723790646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8057462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5139104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264081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500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715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132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465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712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2739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FABAAD8-F3F0-986D-5214-F8034BA89901}"/>
              </a:ext>
            </a:extLst>
          </p:cNvPr>
          <p:cNvSpPr txBox="1"/>
          <p:nvPr/>
        </p:nvSpPr>
        <p:spPr>
          <a:xfrm>
            <a:off x="3904488" y="3529584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E59717-7424-8CF8-4EC8-592F7F512320}"/>
              </a:ext>
            </a:extLst>
          </p:cNvPr>
          <p:cNvSpPr txBox="1"/>
          <p:nvPr/>
        </p:nvSpPr>
        <p:spPr>
          <a:xfrm>
            <a:off x="3898751" y="4680573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-1.10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1AE12F-395E-9BB6-B74D-2EE910CAF5D0}"/>
              </a:ext>
            </a:extLst>
          </p:cNvPr>
          <p:cNvSpPr txBox="1"/>
          <p:nvPr/>
        </p:nvSpPr>
        <p:spPr>
          <a:xfrm>
            <a:off x="3904488" y="503783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0360B5-8126-B666-160F-12AB6FF1702E}"/>
              </a:ext>
            </a:extLst>
          </p:cNvPr>
          <p:cNvSpPr txBox="1"/>
          <p:nvPr/>
        </p:nvSpPr>
        <p:spPr>
          <a:xfrm>
            <a:off x="3904488" y="3925316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CC872A-CC0D-36F1-C451-281DC31DDCEC}"/>
              </a:ext>
            </a:extLst>
          </p:cNvPr>
          <p:cNvSpPr txBox="1"/>
          <p:nvPr/>
        </p:nvSpPr>
        <p:spPr>
          <a:xfrm>
            <a:off x="3898751" y="427863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0.10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D0E92D58-B43E-662E-67DC-7D46B0275CF8}"/>
              </a:ext>
            </a:extLst>
          </p:cNvPr>
          <p:cNvSpPr/>
          <p:nvPr/>
        </p:nvSpPr>
        <p:spPr>
          <a:xfrm>
            <a:off x="5090696" y="4002254"/>
            <a:ext cx="1002792" cy="47040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A2EE3D85-1459-969E-7545-B0239D87F285}"/>
              </a:ext>
            </a:extLst>
          </p:cNvPr>
          <p:cNvGraphicFramePr>
            <a:graphicFrameLocks noGrp="1"/>
          </p:cNvGraphicFramePr>
          <p:nvPr/>
        </p:nvGraphicFramePr>
        <p:xfrm>
          <a:off x="6897698" y="3182128"/>
          <a:ext cx="3308095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619">
                  <a:extLst>
                    <a:ext uri="{9D8B030D-6E8A-4147-A177-3AD203B41FA5}">
                      <a16:colId xmlns:a16="http://schemas.microsoft.com/office/drawing/2014/main" val="338745819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723790646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8057462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5139104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264081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500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715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132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465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712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27395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8ADB5C76-121B-6A37-E364-C36CE8578C77}"/>
              </a:ext>
            </a:extLst>
          </p:cNvPr>
          <p:cNvSpPr txBox="1"/>
          <p:nvPr/>
        </p:nvSpPr>
        <p:spPr>
          <a:xfrm>
            <a:off x="10320528" y="3529584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665719-A69D-0B1F-3004-E896D33475DE}"/>
              </a:ext>
            </a:extLst>
          </p:cNvPr>
          <p:cNvSpPr txBox="1"/>
          <p:nvPr/>
        </p:nvSpPr>
        <p:spPr>
          <a:xfrm>
            <a:off x="10338086" y="3898916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-1.10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D3F220-610C-461E-E1E2-5D24956C2F8E}"/>
              </a:ext>
            </a:extLst>
          </p:cNvPr>
          <p:cNvSpPr txBox="1"/>
          <p:nvPr/>
        </p:nvSpPr>
        <p:spPr>
          <a:xfrm>
            <a:off x="10338085" y="4299172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C41AA9-E4E1-3967-D47A-20E600CA88D4}"/>
              </a:ext>
            </a:extLst>
          </p:cNvPr>
          <p:cNvSpPr txBox="1"/>
          <p:nvPr/>
        </p:nvSpPr>
        <p:spPr>
          <a:xfrm>
            <a:off x="10330031" y="4637580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-0.45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E58190-FA8E-B962-EFDC-62FA87A401F7}"/>
              </a:ext>
            </a:extLst>
          </p:cNvPr>
          <p:cNvSpPr txBox="1"/>
          <p:nvPr/>
        </p:nvSpPr>
        <p:spPr>
          <a:xfrm>
            <a:off x="10338085" y="5037836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D30314-17F5-4E40-D698-859C9FEE8A35}"/>
              </a:ext>
            </a:extLst>
          </p:cNvPr>
          <p:cNvSpPr txBox="1"/>
          <p:nvPr/>
        </p:nvSpPr>
        <p:spPr>
          <a:xfrm>
            <a:off x="173246" y="35651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B0807E-AED1-8C99-6C05-F738FE5E4354}"/>
              </a:ext>
            </a:extLst>
          </p:cNvPr>
          <p:cNvSpPr txBox="1"/>
          <p:nvPr/>
        </p:nvSpPr>
        <p:spPr>
          <a:xfrm>
            <a:off x="164781" y="39481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22767C-145C-94AF-EEA4-B57B50E92E09}"/>
              </a:ext>
            </a:extLst>
          </p:cNvPr>
          <p:cNvSpPr txBox="1"/>
          <p:nvPr/>
        </p:nvSpPr>
        <p:spPr>
          <a:xfrm>
            <a:off x="164781" y="43410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974008-845E-56D4-6144-DD7495047C6B}"/>
              </a:ext>
            </a:extLst>
          </p:cNvPr>
          <p:cNvSpPr txBox="1"/>
          <p:nvPr/>
        </p:nvSpPr>
        <p:spPr>
          <a:xfrm>
            <a:off x="156002" y="471035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58B240-07B7-E21C-8015-3BED28671A24}"/>
              </a:ext>
            </a:extLst>
          </p:cNvPr>
          <p:cNvSpPr txBox="1"/>
          <p:nvPr/>
        </p:nvSpPr>
        <p:spPr>
          <a:xfrm>
            <a:off x="164781" y="50582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0F57176-462A-A0DE-3B13-DB565A9C390E}"/>
              </a:ext>
            </a:extLst>
          </p:cNvPr>
          <p:cNvSpPr txBox="1"/>
          <p:nvPr/>
        </p:nvSpPr>
        <p:spPr>
          <a:xfrm>
            <a:off x="6572199" y="35651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54D3848-4E99-2696-FB6D-90A05A98D9DF}"/>
              </a:ext>
            </a:extLst>
          </p:cNvPr>
          <p:cNvSpPr txBox="1"/>
          <p:nvPr/>
        </p:nvSpPr>
        <p:spPr>
          <a:xfrm>
            <a:off x="6563734" y="394812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9AC9D7-624F-D23D-BD82-ADD7A33A8A87}"/>
              </a:ext>
            </a:extLst>
          </p:cNvPr>
          <p:cNvSpPr txBox="1"/>
          <p:nvPr/>
        </p:nvSpPr>
        <p:spPr>
          <a:xfrm>
            <a:off x="6563734" y="43410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C3C1580-5C20-B86A-A720-D205197E086A}"/>
              </a:ext>
            </a:extLst>
          </p:cNvPr>
          <p:cNvSpPr txBox="1"/>
          <p:nvPr/>
        </p:nvSpPr>
        <p:spPr>
          <a:xfrm>
            <a:off x="6554955" y="471035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CCCE28-D51E-72B5-5D9A-ACB47CD7FA2A}"/>
              </a:ext>
            </a:extLst>
          </p:cNvPr>
          <p:cNvSpPr txBox="1"/>
          <p:nvPr/>
        </p:nvSpPr>
        <p:spPr>
          <a:xfrm>
            <a:off x="6563734" y="50582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81E7DA-EEFC-7A01-1392-82F96EFC4F33}"/>
                  </a:ext>
                </a:extLst>
              </p:cNvPr>
              <p:cNvSpPr txBox="1"/>
              <p:nvPr/>
            </p:nvSpPr>
            <p:spPr>
              <a:xfrm>
                <a:off x="4249225" y="5936725"/>
                <a:ext cx="10185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={1, 4}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81E7DA-EEFC-7A01-1392-82F96EFC4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9225" y="5936725"/>
                <a:ext cx="1018549" cy="276999"/>
              </a:xfrm>
              <a:prstGeom prst="rect">
                <a:avLst/>
              </a:prstGeom>
              <a:blipFill>
                <a:blip r:embed="rId2"/>
                <a:stretch>
                  <a:fillRect l="-4790" t="-4444" r="-8982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5617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B1F6C-CB18-79DF-9504-1A28B2127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76ACCD5-8B0F-F162-1345-979733EA216F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3399BDA-B3F5-369D-0B69-C743DCA06056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GOSS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CA7E572-DF0A-5245-385A-34BD5B39CF72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GOSS reduce the dataset?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040A1B-E5A1-EAB4-3DF1-5B735D2E2E86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B3A6239-29D9-F289-0852-880031717C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ABD1C9-A54E-F2D8-B1B7-35C2794ED498}"/>
              </a:ext>
            </a:extLst>
          </p:cNvPr>
          <p:cNvSpPr txBox="1"/>
          <p:nvPr/>
        </p:nvSpPr>
        <p:spPr>
          <a:xfrm>
            <a:off x="481658" y="1834589"/>
            <a:ext cx="11579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Tx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Sampling b * 100% instances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Random 0.2 * 5 = 1 sample from the rest.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2CB6718-62D0-797C-4890-0054575E0E9F}"/>
              </a:ext>
            </a:extLst>
          </p:cNvPr>
          <p:cNvGraphicFramePr>
            <a:graphicFrameLocks noGrp="1"/>
          </p:cNvGraphicFramePr>
          <p:nvPr/>
        </p:nvGraphicFramePr>
        <p:xfrm>
          <a:off x="481658" y="3182128"/>
          <a:ext cx="3308095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619">
                  <a:extLst>
                    <a:ext uri="{9D8B030D-6E8A-4147-A177-3AD203B41FA5}">
                      <a16:colId xmlns:a16="http://schemas.microsoft.com/office/drawing/2014/main" val="338745819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723790646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8057462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5139104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264081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500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715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132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465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712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2739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F7A248C-C5BF-1A4B-C7DC-811B299056D8}"/>
              </a:ext>
            </a:extLst>
          </p:cNvPr>
          <p:cNvSpPr txBox="1"/>
          <p:nvPr/>
        </p:nvSpPr>
        <p:spPr>
          <a:xfrm>
            <a:off x="3904488" y="3529584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66F08B-A60B-BA2F-FEBE-B010BF4D5301}"/>
              </a:ext>
            </a:extLst>
          </p:cNvPr>
          <p:cNvSpPr txBox="1"/>
          <p:nvPr/>
        </p:nvSpPr>
        <p:spPr>
          <a:xfrm>
            <a:off x="3898751" y="4680573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-1.10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5599DA-1236-0D74-4CA2-C7434C086B2B}"/>
              </a:ext>
            </a:extLst>
          </p:cNvPr>
          <p:cNvSpPr txBox="1"/>
          <p:nvPr/>
        </p:nvSpPr>
        <p:spPr>
          <a:xfrm>
            <a:off x="3904488" y="503783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3ED325-CF14-C029-5AD9-6C29D95DD4B8}"/>
              </a:ext>
            </a:extLst>
          </p:cNvPr>
          <p:cNvSpPr txBox="1"/>
          <p:nvPr/>
        </p:nvSpPr>
        <p:spPr>
          <a:xfrm>
            <a:off x="3904488" y="3925316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7F2626-F002-AF80-30EE-087CC25B5285}"/>
              </a:ext>
            </a:extLst>
          </p:cNvPr>
          <p:cNvSpPr txBox="1"/>
          <p:nvPr/>
        </p:nvSpPr>
        <p:spPr>
          <a:xfrm>
            <a:off x="3898751" y="427863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0.10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F851F701-3370-43C5-1053-9C79E5DE4400}"/>
              </a:ext>
            </a:extLst>
          </p:cNvPr>
          <p:cNvSpPr/>
          <p:nvPr/>
        </p:nvSpPr>
        <p:spPr>
          <a:xfrm>
            <a:off x="5090696" y="4002254"/>
            <a:ext cx="1002792" cy="47040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00A9CE45-B6A1-4042-EC74-67B8630EE807}"/>
              </a:ext>
            </a:extLst>
          </p:cNvPr>
          <p:cNvGraphicFramePr>
            <a:graphicFrameLocks noGrp="1"/>
          </p:cNvGraphicFramePr>
          <p:nvPr/>
        </p:nvGraphicFramePr>
        <p:xfrm>
          <a:off x="6897698" y="3182128"/>
          <a:ext cx="3308095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619">
                  <a:extLst>
                    <a:ext uri="{9D8B030D-6E8A-4147-A177-3AD203B41FA5}">
                      <a16:colId xmlns:a16="http://schemas.microsoft.com/office/drawing/2014/main" val="338745819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723790646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8057462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5139104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264081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500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715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132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465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712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27395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292A0B31-92EF-A847-D7C2-C12F61DBFBCB}"/>
              </a:ext>
            </a:extLst>
          </p:cNvPr>
          <p:cNvSpPr txBox="1"/>
          <p:nvPr/>
        </p:nvSpPr>
        <p:spPr>
          <a:xfrm>
            <a:off x="10320528" y="3529584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88A22F-3F63-8E51-D0ED-EFFFAE1092FA}"/>
              </a:ext>
            </a:extLst>
          </p:cNvPr>
          <p:cNvSpPr txBox="1"/>
          <p:nvPr/>
        </p:nvSpPr>
        <p:spPr>
          <a:xfrm>
            <a:off x="10338086" y="3898916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-1.10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668B6A-2E8E-905F-6B66-46031933F637}"/>
              </a:ext>
            </a:extLst>
          </p:cNvPr>
          <p:cNvSpPr txBox="1"/>
          <p:nvPr/>
        </p:nvSpPr>
        <p:spPr>
          <a:xfrm>
            <a:off x="10338085" y="4299172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C0520D-B1FD-97ED-F947-D3E82BDF2C8A}"/>
              </a:ext>
            </a:extLst>
          </p:cNvPr>
          <p:cNvSpPr txBox="1"/>
          <p:nvPr/>
        </p:nvSpPr>
        <p:spPr>
          <a:xfrm>
            <a:off x="10330031" y="4637580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-0.45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CBAF1F-6E0D-9A50-CD74-6CBE7AF3511C}"/>
              </a:ext>
            </a:extLst>
          </p:cNvPr>
          <p:cNvSpPr txBox="1"/>
          <p:nvPr/>
        </p:nvSpPr>
        <p:spPr>
          <a:xfrm>
            <a:off x="10338085" y="5037836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149DE9-8B06-E6F4-8B5C-746FA3F0CA56}"/>
              </a:ext>
            </a:extLst>
          </p:cNvPr>
          <p:cNvSpPr txBox="1"/>
          <p:nvPr/>
        </p:nvSpPr>
        <p:spPr>
          <a:xfrm>
            <a:off x="173246" y="35651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EFE1FB-3471-6B82-F08D-B032AE695A2D}"/>
              </a:ext>
            </a:extLst>
          </p:cNvPr>
          <p:cNvSpPr txBox="1"/>
          <p:nvPr/>
        </p:nvSpPr>
        <p:spPr>
          <a:xfrm>
            <a:off x="164781" y="39481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BC4EAD-B850-A212-090A-9ED93A706C23}"/>
              </a:ext>
            </a:extLst>
          </p:cNvPr>
          <p:cNvSpPr txBox="1"/>
          <p:nvPr/>
        </p:nvSpPr>
        <p:spPr>
          <a:xfrm>
            <a:off x="164781" y="43410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C76F47-A81F-D10B-A673-BFF3051CE2EA}"/>
              </a:ext>
            </a:extLst>
          </p:cNvPr>
          <p:cNvSpPr txBox="1"/>
          <p:nvPr/>
        </p:nvSpPr>
        <p:spPr>
          <a:xfrm>
            <a:off x="156002" y="471035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237596-0EC6-8DD7-8AD9-08D39A816C68}"/>
              </a:ext>
            </a:extLst>
          </p:cNvPr>
          <p:cNvSpPr txBox="1"/>
          <p:nvPr/>
        </p:nvSpPr>
        <p:spPr>
          <a:xfrm>
            <a:off x="164781" y="50582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14047DD-0489-5B59-F8F5-B9B1A2268025}"/>
              </a:ext>
            </a:extLst>
          </p:cNvPr>
          <p:cNvSpPr txBox="1"/>
          <p:nvPr/>
        </p:nvSpPr>
        <p:spPr>
          <a:xfrm>
            <a:off x="6572199" y="35651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B897871-6FC7-2398-C7BF-072DF1192E43}"/>
              </a:ext>
            </a:extLst>
          </p:cNvPr>
          <p:cNvSpPr txBox="1"/>
          <p:nvPr/>
        </p:nvSpPr>
        <p:spPr>
          <a:xfrm>
            <a:off x="6563734" y="394812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F84AD2-CAB5-2D0F-A356-60300F9F759F}"/>
              </a:ext>
            </a:extLst>
          </p:cNvPr>
          <p:cNvSpPr txBox="1"/>
          <p:nvPr/>
        </p:nvSpPr>
        <p:spPr>
          <a:xfrm>
            <a:off x="6563734" y="43410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513C364-71FA-908D-1CCF-B0F1AA46E89E}"/>
              </a:ext>
            </a:extLst>
          </p:cNvPr>
          <p:cNvSpPr txBox="1"/>
          <p:nvPr/>
        </p:nvSpPr>
        <p:spPr>
          <a:xfrm>
            <a:off x="6554955" y="471035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CA9068-C651-A9A9-F137-F3E780EAA099}"/>
              </a:ext>
            </a:extLst>
          </p:cNvPr>
          <p:cNvSpPr txBox="1"/>
          <p:nvPr/>
        </p:nvSpPr>
        <p:spPr>
          <a:xfrm>
            <a:off x="6563734" y="50582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0B4795-1C12-4A2A-A501-D779ACABDEFE}"/>
                  </a:ext>
                </a:extLst>
              </p:cNvPr>
              <p:cNvSpPr txBox="1"/>
              <p:nvPr/>
            </p:nvSpPr>
            <p:spPr>
              <a:xfrm>
                <a:off x="4249225" y="5936725"/>
                <a:ext cx="10185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={1, 4}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0B4795-1C12-4A2A-A501-D779ACABD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9225" y="5936725"/>
                <a:ext cx="1018549" cy="276999"/>
              </a:xfrm>
              <a:prstGeom prst="rect">
                <a:avLst/>
              </a:prstGeom>
              <a:blipFill>
                <a:blip r:embed="rId2"/>
                <a:stretch>
                  <a:fillRect l="-4790" t="-4444" r="-8982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8DF4B57-A629-50ED-EFE9-F410DB930B22}"/>
                  </a:ext>
                </a:extLst>
              </p:cNvPr>
              <p:cNvSpPr txBox="1"/>
              <p:nvPr/>
            </p:nvSpPr>
            <p:spPr>
              <a:xfrm>
                <a:off x="1614497" y="6213724"/>
                <a:ext cx="60944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={2}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8DF4B57-A629-50ED-EFE9-F410DB930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497" y="6213724"/>
                <a:ext cx="6094476" cy="369332"/>
              </a:xfrm>
              <a:prstGeom prst="rect">
                <a:avLst/>
              </a:prstGeom>
              <a:blipFill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8960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CC4C8-730E-8663-0FAA-8D4D16A9F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B062C8B-253D-360F-A80D-39FCAA36D69B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E9FC6A2-44F3-4856-D802-46D88425EE6D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GOSS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806BAFF-C279-95E2-41EF-DD6BEDD9AE69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GOSS reduce the dataset?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C51C6F4-3B52-CF54-DEFB-0F0C525D92CE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824C1FC-7DD9-3CE3-E04F-D7D5BD3533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BBA0A3D-B974-5C7B-56B9-2385BDE563BF}"/>
                  </a:ext>
                </a:extLst>
              </p:cNvPr>
              <p:cNvSpPr txBox="1"/>
              <p:nvPr/>
            </p:nvSpPr>
            <p:spPr>
              <a:xfrm>
                <a:off x="481658" y="1834589"/>
                <a:ext cx="11579278" cy="13043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Amplify the sampled data with small gradients by a constant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1 −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calculating the IG.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0.4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0.2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=3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BBA0A3D-B974-5C7B-56B9-2385BDE56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58" y="1834589"/>
                <a:ext cx="11579278" cy="1304396"/>
              </a:xfrm>
              <a:prstGeom prst="rect">
                <a:avLst/>
              </a:prstGeom>
              <a:blipFill>
                <a:blip r:embed="rId2"/>
                <a:stretch>
                  <a:fillRect l="-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922C256-5304-7516-422C-D494BBD99A5B}"/>
              </a:ext>
            </a:extLst>
          </p:cNvPr>
          <p:cNvGraphicFramePr>
            <a:graphicFrameLocks noGrp="1"/>
          </p:cNvGraphicFramePr>
          <p:nvPr/>
        </p:nvGraphicFramePr>
        <p:xfrm>
          <a:off x="481658" y="3182128"/>
          <a:ext cx="3308095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619">
                  <a:extLst>
                    <a:ext uri="{9D8B030D-6E8A-4147-A177-3AD203B41FA5}">
                      <a16:colId xmlns:a16="http://schemas.microsoft.com/office/drawing/2014/main" val="338745819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723790646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8057462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5139104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264081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500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715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132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465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712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2739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8D67509-37BA-92F3-69D3-0A735277B8FC}"/>
              </a:ext>
            </a:extLst>
          </p:cNvPr>
          <p:cNvSpPr txBox="1"/>
          <p:nvPr/>
        </p:nvSpPr>
        <p:spPr>
          <a:xfrm>
            <a:off x="3904488" y="3529584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949666-327D-3BD4-84E3-B9E82ADA735D}"/>
              </a:ext>
            </a:extLst>
          </p:cNvPr>
          <p:cNvSpPr txBox="1"/>
          <p:nvPr/>
        </p:nvSpPr>
        <p:spPr>
          <a:xfrm>
            <a:off x="3898751" y="4680573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-1.10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BF5C40-E1DD-58EE-0B25-60BE29E9DB0D}"/>
              </a:ext>
            </a:extLst>
          </p:cNvPr>
          <p:cNvSpPr txBox="1"/>
          <p:nvPr/>
        </p:nvSpPr>
        <p:spPr>
          <a:xfrm>
            <a:off x="3904488" y="503783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60FFB7-EE24-B707-991F-36967A6D6EE9}"/>
              </a:ext>
            </a:extLst>
          </p:cNvPr>
          <p:cNvSpPr txBox="1"/>
          <p:nvPr/>
        </p:nvSpPr>
        <p:spPr>
          <a:xfrm>
            <a:off x="3904488" y="3925316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E5ECB5-7C62-3799-F1AB-1E1F1692CB2A}"/>
              </a:ext>
            </a:extLst>
          </p:cNvPr>
          <p:cNvSpPr txBox="1"/>
          <p:nvPr/>
        </p:nvSpPr>
        <p:spPr>
          <a:xfrm>
            <a:off x="3898751" y="427863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0.10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55633B3F-CC0B-4740-F10D-8F093F99762A}"/>
              </a:ext>
            </a:extLst>
          </p:cNvPr>
          <p:cNvSpPr/>
          <p:nvPr/>
        </p:nvSpPr>
        <p:spPr>
          <a:xfrm>
            <a:off x="5090696" y="4002254"/>
            <a:ext cx="1002792" cy="47040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8B72710E-3CFF-B894-683F-33B6D67D3CC3}"/>
              </a:ext>
            </a:extLst>
          </p:cNvPr>
          <p:cNvGraphicFramePr>
            <a:graphicFrameLocks noGrp="1"/>
          </p:cNvGraphicFramePr>
          <p:nvPr/>
        </p:nvGraphicFramePr>
        <p:xfrm>
          <a:off x="6897698" y="3182128"/>
          <a:ext cx="3308095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619">
                  <a:extLst>
                    <a:ext uri="{9D8B030D-6E8A-4147-A177-3AD203B41FA5}">
                      <a16:colId xmlns:a16="http://schemas.microsoft.com/office/drawing/2014/main" val="338745819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723790646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8057462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5139104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264081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500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715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132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465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712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27395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85DFBE1F-9D71-F6CA-36C1-372278BAF53C}"/>
              </a:ext>
            </a:extLst>
          </p:cNvPr>
          <p:cNvSpPr txBox="1"/>
          <p:nvPr/>
        </p:nvSpPr>
        <p:spPr>
          <a:xfrm>
            <a:off x="10320528" y="3529584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BE2F23-7FBE-2F6D-2745-DCAC8DC0193F}"/>
              </a:ext>
            </a:extLst>
          </p:cNvPr>
          <p:cNvSpPr txBox="1"/>
          <p:nvPr/>
        </p:nvSpPr>
        <p:spPr>
          <a:xfrm>
            <a:off x="10338086" y="3898916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-1.10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82A598-EDB7-0232-0BB4-310262C345CB}"/>
              </a:ext>
            </a:extLst>
          </p:cNvPr>
          <p:cNvSpPr txBox="1"/>
          <p:nvPr/>
        </p:nvSpPr>
        <p:spPr>
          <a:xfrm>
            <a:off x="10338085" y="4299172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47DAE1-037D-6B8C-5891-5EB2B6183C5A}"/>
              </a:ext>
            </a:extLst>
          </p:cNvPr>
          <p:cNvSpPr txBox="1"/>
          <p:nvPr/>
        </p:nvSpPr>
        <p:spPr>
          <a:xfrm>
            <a:off x="10330031" y="4637580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-0.45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A6F778-3CD7-A69F-D593-2FB0CEE28949}"/>
              </a:ext>
            </a:extLst>
          </p:cNvPr>
          <p:cNvSpPr txBox="1"/>
          <p:nvPr/>
        </p:nvSpPr>
        <p:spPr>
          <a:xfrm>
            <a:off x="10338085" y="5037836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803F04-4A75-A5E4-E554-0269C35E580A}"/>
              </a:ext>
            </a:extLst>
          </p:cNvPr>
          <p:cNvSpPr txBox="1"/>
          <p:nvPr/>
        </p:nvSpPr>
        <p:spPr>
          <a:xfrm>
            <a:off x="173246" y="35651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B8142F-FDC0-91E5-F244-D2E658CEFA67}"/>
              </a:ext>
            </a:extLst>
          </p:cNvPr>
          <p:cNvSpPr txBox="1"/>
          <p:nvPr/>
        </p:nvSpPr>
        <p:spPr>
          <a:xfrm>
            <a:off x="164781" y="39481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29D2D7-9BCB-1A18-535F-D87C856C3252}"/>
              </a:ext>
            </a:extLst>
          </p:cNvPr>
          <p:cNvSpPr txBox="1"/>
          <p:nvPr/>
        </p:nvSpPr>
        <p:spPr>
          <a:xfrm>
            <a:off x="164781" y="43410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427FD5-4E4A-097B-85C4-C3F1EEC649A8}"/>
              </a:ext>
            </a:extLst>
          </p:cNvPr>
          <p:cNvSpPr txBox="1"/>
          <p:nvPr/>
        </p:nvSpPr>
        <p:spPr>
          <a:xfrm>
            <a:off x="156002" y="471035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F7978A-6656-19E7-2080-9CA87E582B38}"/>
              </a:ext>
            </a:extLst>
          </p:cNvPr>
          <p:cNvSpPr txBox="1"/>
          <p:nvPr/>
        </p:nvSpPr>
        <p:spPr>
          <a:xfrm>
            <a:off x="164781" y="50582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48D7738-BC81-0519-90FD-81D8BC14C4DC}"/>
              </a:ext>
            </a:extLst>
          </p:cNvPr>
          <p:cNvSpPr txBox="1"/>
          <p:nvPr/>
        </p:nvSpPr>
        <p:spPr>
          <a:xfrm>
            <a:off x="6572199" y="35651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81215D-8A0F-D3BE-D91B-B4CE519F5410}"/>
              </a:ext>
            </a:extLst>
          </p:cNvPr>
          <p:cNvSpPr txBox="1"/>
          <p:nvPr/>
        </p:nvSpPr>
        <p:spPr>
          <a:xfrm>
            <a:off x="6563734" y="394812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4F5745-89D0-59D7-CCE3-8E8B67196B44}"/>
              </a:ext>
            </a:extLst>
          </p:cNvPr>
          <p:cNvSpPr txBox="1"/>
          <p:nvPr/>
        </p:nvSpPr>
        <p:spPr>
          <a:xfrm>
            <a:off x="6563734" y="43410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7AB8B3A-0F38-0DAC-93AB-67C991277A04}"/>
              </a:ext>
            </a:extLst>
          </p:cNvPr>
          <p:cNvSpPr txBox="1"/>
          <p:nvPr/>
        </p:nvSpPr>
        <p:spPr>
          <a:xfrm>
            <a:off x="6554955" y="471035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4C28ADF-CBDA-5732-F342-BF53956577F8}"/>
              </a:ext>
            </a:extLst>
          </p:cNvPr>
          <p:cNvSpPr txBox="1"/>
          <p:nvPr/>
        </p:nvSpPr>
        <p:spPr>
          <a:xfrm>
            <a:off x="6563734" y="50582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A73C711-BADE-A9CD-AD43-E069FC3097D8}"/>
                  </a:ext>
                </a:extLst>
              </p:cNvPr>
              <p:cNvSpPr txBox="1"/>
              <p:nvPr/>
            </p:nvSpPr>
            <p:spPr>
              <a:xfrm>
                <a:off x="647103" y="5970344"/>
                <a:ext cx="10185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={1, 4}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A73C711-BADE-A9CD-AD43-E069FC309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03" y="5970344"/>
                <a:ext cx="1018549" cy="276999"/>
              </a:xfrm>
              <a:prstGeom prst="rect">
                <a:avLst/>
              </a:prstGeom>
              <a:blipFill>
                <a:blip r:embed="rId3"/>
                <a:stretch>
                  <a:fillRect l="-4790" t="-2174" r="-8982" b="-36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89D429D-8193-E856-1F1B-A816370B3392}"/>
                  </a:ext>
                </a:extLst>
              </p:cNvPr>
              <p:cNvSpPr txBox="1"/>
              <p:nvPr/>
            </p:nvSpPr>
            <p:spPr>
              <a:xfrm>
                <a:off x="-2025580" y="6304534"/>
                <a:ext cx="60944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={2}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89D429D-8193-E856-1F1B-A816370B3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25580" y="6304534"/>
                <a:ext cx="6094476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E3A7D7-1526-A98F-D2E7-CE7ECC44503B}"/>
                  </a:ext>
                </a:extLst>
              </p:cNvPr>
              <p:cNvSpPr txBox="1"/>
              <p:nvPr/>
            </p:nvSpPr>
            <p:spPr>
              <a:xfrm>
                <a:off x="5090696" y="5843427"/>
                <a:ext cx="7104509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+3 ×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=1.20+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−1.10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+3 ×−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0.45=−1.25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E3A7D7-1526-A98F-D2E7-CE7ECC4450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0696" y="5843427"/>
                <a:ext cx="7104509" cy="6707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F46093B-280B-4ED8-56F0-0389926881DE}"/>
                  </a:ext>
                </a:extLst>
              </p:cNvPr>
              <p:cNvSpPr txBox="1"/>
              <p:nvPr/>
            </p:nvSpPr>
            <p:spPr>
              <a:xfrm>
                <a:off x="1828891" y="6108843"/>
                <a:ext cx="24974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𝑛𝑒𝑤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𝑑𝑎𝑡𝑎𝑠𝑒𝑡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∪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F46093B-280B-4ED8-56F0-038992688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91" y="6108843"/>
                <a:ext cx="2497479" cy="276999"/>
              </a:xfrm>
              <a:prstGeom prst="rect">
                <a:avLst/>
              </a:prstGeom>
              <a:blipFill>
                <a:blip r:embed="rId6"/>
                <a:stretch>
                  <a:fillRect l="-732" r="-1707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9949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745BE-4352-FADF-D722-3A7C71D8D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F6498B-B2F6-883C-BE09-EEB599975986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D39D488-A5D5-3446-9EAA-D8A996E77F81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EFB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59221DD-59D9-527F-5DB7-3BE3C4F384C9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the number of features?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404514D-366C-1C42-862C-F0A27F9BB5E0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15AB68A-376F-E1E8-D00B-B235247B50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3891C56-818D-9045-3C06-F0BFDA6DC14B}"/>
                  </a:ext>
                </a:extLst>
              </p:cNvPr>
              <p:cNvSpPr txBox="1"/>
              <p:nvPr/>
            </p:nvSpPr>
            <p:spPr>
              <a:xfrm>
                <a:off x="457736" y="1728216"/>
                <a:ext cx="11731752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High-dimensional date are usually very sparse. The sparsity of the feature space provides us a possibility of designing a nearly lossless approach to reduce the number of features.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a sparse feature space, many features are mutually exclusive (they never take nonzero values simultaneously)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a carefully designed feature scanning algorithm, we can build the same feature histograms from the feature bundles as those from individual features.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The complexity of histogram building changes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(#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𝑑𝑎𝑡𝑎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×#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𝑓𝑒𝑎𝑡𝑢𝑟𝑒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(#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𝑑𝑎𝑡𝑎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×#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𝑏𝑢𝑛𝑑𝑙𝑒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3891C56-818D-9045-3C06-F0BFDA6DC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736" y="1728216"/>
                <a:ext cx="11731752" cy="2308324"/>
              </a:xfrm>
              <a:prstGeom prst="rect">
                <a:avLst/>
              </a:prstGeom>
              <a:blipFill>
                <a:blip r:embed="rId2"/>
                <a:stretch>
                  <a:fillRect l="-416" t="-1587" b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50D12C4-CA22-0735-3C62-78BFD0327E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215245"/>
              </p:ext>
            </p:extLst>
          </p:nvPr>
        </p:nvGraphicFramePr>
        <p:xfrm>
          <a:off x="1156378" y="4242816"/>
          <a:ext cx="2574375" cy="223113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58125">
                  <a:extLst>
                    <a:ext uri="{9D8B030D-6E8A-4147-A177-3AD203B41FA5}">
                      <a16:colId xmlns:a16="http://schemas.microsoft.com/office/drawing/2014/main" val="2587807000"/>
                    </a:ext>
                  </a:extLst>
                </a:gridCol>
                <a:gridCol w="858125">
                  <a:extLst>
                    <a:ext uri="{9D8B030D-6E8A-4147-A177-3AD203B41FA5}">
                      <a16:colId xmlns:a16="http://schemas.microsoft.com/office/drawing/2014/main" val="4066306015"/>
                    </a:ext>
                  </a:extLst>
                </a:gridCol>
                <a:gridCol w="858125">
                  <a:extLst>
                    <a:ext uri="{9D8B030D-6E8A-4147-A177-3AD203B41FA5}">
                      <a16:colId xmlns:a16="http://schemas.microsoft.com/office/drawing/2014/main" val="736344993"/>
                    </a:ext>
                  </a:extLst>
                </a:gridCol>
              </a:tblGrid>
              <a:tr h="39935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200149"/>
                  </a:ext>
                </a:extLst>
              </a:tr>
              <a:tr h="61059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346560"/>
                  </a:ext>
                </a:extLst>
              </a:tr>
              <a:tr h="61059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673580"/>
                  </a:ext>
                </a:extLst>
              </a:tr>
              <a:tr h="61059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251814"/>
                  </a:ext>
                </a:extLst>
              </a:tr>
            </a:tbl>
          </a:graphicData>
        </a:graphic>
      </p:graphicFrame>
      <p:sp>
        <p:nvSpPr>
          <p:cNvPr id="22" name="Arrow: Right 21">
            <a:extLst>
              <a:ext uri="{FF2B5EF4-FFF2-40B4-BE49-F238E27FC236}">
                <a16:creationId xmlns:a16="http://schemas.microsoft.com/office/drawing/2014/main" id="{9B712A8E-F490-238A-A56E-9DC12105E621}"/>
              </a:ext>
            </a:extLst>
          </p:cNvPr>
          <p:cNvSpPr/>
          <p:nvPr/>
        </p:nvSpPr>
        <p:spPr>
          <a:xfrm>
            <a:off x="4544568" y="4882896"/>
            <a:ext cx="1261872" cy="420624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4CC8CB-AF50-038C-C275-179628003E9A}"/>
              </a:ext>
            </a:extLst>
          </p:cNvPr>
          <p:cNvSpPr txBox="1"/>
          <p:nvPr/>
        </p:nvSpPr>
        <p:spPr>
          <a:xfrm>
            <a:off x="6729984" y="4718304"/>
            <a:ext cx="5358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and B are mutually exclusive, while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(A, B) are  (A, C) are not mutually exclusive pairs</a:t>
            </a:r>
          </a:p>
        </p:txBody>
      </p:sp>
    </p:spTree>
    <p:extLst>
      <p:ext uri="{BB962C8B-B14F-4D97-AF65-F5344CB8AC3E}">
        <p14:creationId xmlns:p14="http://schemas.microsoft.com/office/powerpoint/2010/main" val="244323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CB636-B44E-8D8C-E515-12E71EF0E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AAE45E-A88E-163F-D8CD-3736746CF652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6370FF8-A1F9-DDC9-EEAF-E453C3A5AD7D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EFB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77B8DDE-34EC-AE81-1CC2-5BF905712A9E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EFB reduce the number of features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905D1E9-794F-A464-403B-21036B8A8A62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70F32203-EB98-DCC1-51D2-56F0B7123B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2461550-0735-304A-BD3A-DF9EDFD1835D}"/>
                  </a:ext>
                </a:extLst>
              </p:cNvPr>
              <p:cNvSpPr txBox="1"/>
              <p:nvPr/>
            </p:nvSpPr>
            <p:spPr>
              <a:xfrm>
                <a:off x="349322" y="1694043"/>
                <a:ext cx="11731752" cy="2893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The problem of partitioning features into a smallest number of exclusive bundles is NP-hard.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Greedy algorithm.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Steps: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Reduce the optimal bundling problem to the graph coloring problem. Features as vertices and adding edges for every two features if they are not mutually exclusive. Each edges have a weight represents total conflicts between two nodes.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Sort the features by their degrees in descending order.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Check each feature in the ordered list, and either assign it to an existing bundle with a small conflict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or create a new bundle.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2461550-0735-304A-BD3A-DF9EDFD18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322" y="1694043"/>
                <a:ext cx="11731752" cy="2893100"/>
              </a:xfrm>
              <a:prstGeom prst="rect">
                <a:avLst/>
              </a:prstGeom>
              <a:blipFill>
                <a:blip r:embed="rId2"/>
                <a:stretch>
                  <a:fillRect l="-519" t="-1266" b="-2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2D9F54C-91B3-DA91-C39E-9AF8CDEB96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698905"/>
              </p:ext>
            </p:extLst>
          </p:nvPr>
        </p:nvGraphicFramePr>
        <p:xfrm>
          <a:off x="751658" y="4724738"/>
          <a:ext cx="7889420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77884">
                  <a:extLst>
                    <a:ext uri="{9D8B030D-6E8A-4147-A177-3AD203B41FA5}">
                      <a16:colId xmlns:a16="http://schemas.microsoft.com/office/drawing/2014/main" val="3029889720"/>
                    </a:ext>
                  </a:extLst>
                </a:gridCol>
                <a:gridCol w="1577884">
                  <a:extLst>
                    <a:ext uri="{9D8B030D-6E8A-4147-A177-3AD203B41FA5}">
                      <a16:colId xmlns:a16="http://schemas.microsoft.com/office/drawing/2014/main" val="2482938873"/>
                    </a:ext>
                  </a:extLst>
                </a:gridCol>
                <a:gridCol w="1577884">
                  <a:extLst>
                    <a:ext uri="{9D8B030D-6E8A-4147-A177-3AD203B41FA5}">
                      <a16:colId xmlns:a16="http://schemas.microsoft.com/office/drawing/2014/main" val="3644324334"/>
                    </a:ext>
                  </a:extLst>
                </a:gridCol>
                <a:gridCol w="1577884">
                  <a:extLst>
                    <a:ext uri="{9D8B030D-6E8A-4147-A177-3AD203B41FA5}">
                      <a16:colId xmlns:a16="http://schemas.microsoft.com/office/drawing/2014/main" val="2194663661"/>
                    </a:ext>
                  </a:extLst>
                </a:gridCol>
                <a:gridCol w="1577884">
                  <a:extLst>
                    <a:ext uri="{9D8B030D-6E8A-4147-A177-3AD203B41FA5}">
                      <a16:colId xmlns:a16="http://schemas.microsoft.com/office/drawing/2014/main" val="2079276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49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322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48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754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71869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429FD86-A83F-5F95-BCD0-91EFF56B21D6}"/>
                  </a:ext>
                </a:extLst>
              </p:cNvPr>
              <p:cNvSpPr txBox="1"/>
              <p:nvPr/>
            </p:nvSpPr>
            <p:spPr>
              <a:xfrm>
                <a:off x="9588116" y="5282506"/>
                <a:ext cx="9373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 =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429FD86-A83F-5F95-BCD0-91EFF56B2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116" y="5282506"/>
                <a:ext cx="937378" cy="369332"/>
              </a:xfrm>
              <a:prstGeom prst="rect">
                <a:avLst/>
              </a:prstGeom>
              <a:blipFill>
                <a:blip r:embed="rId3"/>
                <a:stretch>
                  <a:fillRect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7061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A327-91E6-4A55-D6A0-468C15267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2FE063B-977E-A428-9A5E-B8FB293CBF0C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8D30D2-AEA5-FA09-C8CE-CB8ABB9DF376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EFB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46D7C69-795E-8437-8CAC-E1E54CB4B64F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EFB reduce the number of features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1B74CC6-9C46-F5E3-4758-2BBCCE917C40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2B89B112-1E2F-2A31-E737-205CE7EC7D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10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5AFAAC-294B-0DC7-6E85-1AF2B2BD4535}"/>
              </a:ext>
            </a:extLst>
          </p:cNvPr>
          <p:cNvSpPr txBox="1"/>
          <p:nvPr/>
        </p:nvSpPr>
        <p:spPr>
          <a:xfrm>
            <a:off x="481658" y="1711014"/>
            <a:ext cx="11731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graph based on dataset.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observe that there are 5 vertices (A, B, C, D, E) but only 2 edges (B, D) and (A, E).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850CD8-6233-814E-B3CB-08DEBB889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643997"/>
              </p:ext>
            </p:extLst>
          </p:nvPr>
        </p:nvGraphicFramePr>
        <p:xfrm>
          <a:off x="481658" y="3115394"/>
          <a:ext cx="4012365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02473">
                  <a:extLst>
                    <a:ext uri="{9D8B030D-6E8A-4147-A177-3AD203B41FA5}">
                      <a16:colId xmlns:a16="http://schemas.microsoft.com/office/drawing/2014/main" val="3029889720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482938873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3644324334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194663661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079276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49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322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48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754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718691"/>
                  </a:ext>
                </a:extLst>
              </a:tr>
            </a:tbl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22321727-EF0C-3E3D-5D65-D39EFA843881}"/>
              </a:ext>
            </a:extLst>
          </p:cNvPr>
          <p:cNvSpPr/>
          <p:nvPr/>
        </p:nvSpPr>
        <p:spPr>
          <a:xfrm>
            <a:off x="4965192" y="3639312"/>
            <a:ext cx="969264" cy="41148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0F78A45-BC99-4A4E-86F2-7EA7A6637D74}"/>
              </a:ext>
            </a:extLst>
          </p:cNvPr>
          <p:cNvSpPr/>
          <p:nvPr/>
        </p:nvSpPr>
        <p:spPr>
          <a:xfrm>
            <a:off x="7040880" y="3639312"/>
            <a:ext cx="420624" cy="41148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A8E3873-F9B0-7DAD-8DCC-220340FB29F8}"/>
              </a:ext>
            </a:extLst>
          </p:cNvPr>
          <p:cNvSpPr/>
          <p:nvPr/>
        </p:nvSpPr>
        <p:spPr>
          <a:xfrm>
            <a:off x="8135112" y="2765815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76B14A-5638-E0D2-4AAE-4389595C0F2F}"/>
              </a:ext>
            </a:extLst>
          </p:cNvPr>
          <p:cNvSpPr/>
          <p:nvPr/>
        </p:nvSpPr>
        <p:spPr>
          <a:xfrm>
            <a:off x="9671304" y="3383175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FDBBBD2-0B86-2B62-5225-5D55422FFAC1}"/>
              </a:ext>
            </a:extLst>
          </p:cNvPr>
          <p:cNvSpPr/>
          <p:nvPr/>
        </p:nvSpPr>
        <p:spPr>
          <a:xfrm>
            <a:off x="9232392" y="4311887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B1053DB-31B9-8DB5-75F1-00B0928973D7}"/>
              </a:ext>
            </a:extLst>
          </p:cNvPr>
          <p:cNvSpPr/>
          <p:nvPr/>
        </p:nvSpPr>
        <p:spPr>
          <a:xfrm>
            <a:off x="7697979" y="4311887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7E43868-5222-D76B-833F-208E78908394}"/>
              </a:ext>
            </a:extLst>
          </p:cNvPr>
          <p:cNvCxnSpPr>
            <a:stCxn id="19" idx="5"/>
            <a:endCxn id="24" idx="1"/>
          </p:cNvCxnSpPr>
          <p:nvPr/>
        </p:nvCxnSpPr>
        <p:spPr>
          <a:xfrm>
            <a:off x="7399905" y="3990532"/>
            <a:ext cx="359673" cy="3816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A188361-7D43-976D-2C77-CFA36304617D}"/>
              </a:ext>
            </a:extLst>
          </p:cNvPr>
          <p:cNvCxnSpPr>
            <a:stCxn id="21" idx="5"/>
            <a:endCxn id="23" idx="1"/>
          </p:cNvCxnSpPr>
          <p:nvPr/>
        </p:nvCxnSpPr>
        <p:spPr>
          <a:xfrm>
            <a:off x="8494137" y="3117035"/>
            <a:ext cx="799854" cy="12551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5A567B9-A072-A690-18F0-7BF6665A5DF1}"/>
              </a:ext>
            </a:extLst>
          </p:cNvPr>
          <p:cNvSpPr txBox="1"/>
          <p:nvPr/>
        </p:nvSpPr>
        <p:spPr>
          <a:xfrm>
            <a:off x="7605613" y="394255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ED5151-9346-E2D6-0CD9-314D9F501526}"/>
              </a:ext>
            </a:extLst>
          </p:cNvPr>
          <p:cNvSpPr txBox="1"/>
          <p:nvPr/>
        </p:nvSpPr>
        <p:spPr>
          <a:xfrm>
            <a:off x="8894064" y="355493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05243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10802-28DA-41B6-EF17-F5809F6EE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4E0EC23-2488-0B24-716F-DE57BB327A77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CE7DA3-28E5-BE42-A91E-8C1434E524DD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EFB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2C61A1F-78BF-6DD3-3083-51500D359B8E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EFB reduce the number of features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500EF1E-F312-75FB-1B36-5A1AC172F5CA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F74FDE1-3CE3-68CF-9958-9C9D84E311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11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93043D-5C39-7BA6-EDE5-053CEAD18BA8}"/>
              </a:ext>
            </a:extLst>
          </p:cNvPr>
          <p:cNvSpPr txBox="1"/>
          <p:nvPr/>
        </p:nvSpPr>
        <p:spPr>
          <a:xfrm>
            <a:off x="481658" y="1713116"/>
            <a:ext cx="11731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Sort features by their degree in descending order.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B248351-F163-62B6-7751-162E97482FE7}"/>
              </a:ext>
            </a:extLst>
          </p:cNvPr>
          <p:cNvGraphicFramePr>
            <a:graphicFrameLocks noGrp="1"/>
          </p:cNvGraphicFramePr>
          <p:nvPr/>
        </p:nvGraphicFramePr>
        <p:xfrm>
          <a:off x="481658" y="3115394"/>
          <a:ext cx="4012365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02473">
                  <a:extLst>
                    <a:ext uri="{9D8B030D-6E8A-4147-A177-3AD203B41FA5}">
                      <a16:colId xmlns:a16="http://schemas.microsoft.com/office/drawing/2014/main" val="3029889720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482938873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3644324334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194663661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079276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49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322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48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754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718691"/>
                  </a:ext>
                </a:extLst>
              </a:tr>
            </a:tbl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E619FEDB-A19F-96A4-1A84-182AF68F6E78}"/>
              </a:ext>
            </a:extLst>
          </p:cNvPr>
          <p:cNvSpPr/>
          <p:nvPr/>
        </p:nvSpPr>
        <p:spPr>
          <a:xfrm>
            <a:off x="4965192" y="3639312"/>
            <a:ext cx="969264" cy="41148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3988398-2591-37AF-FA0C-2844E65E0119}"/>
              </a:ext>
            </a:extLst>
          </p:cNvPr>
          <p:cNvSpPr/>
          <p:nvPr/>
        </p:nvSpPr>
        <p:spPr>
          <a:xfrm>
            <a:off x="7040880" y="3639312"/>
            <a:ext cx="420624" cy="41148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39A72EA-A239-33EF-A13D-7992EDAC2E3E}"/>
              </a:ext>
            </a:extLst>
          </p:cNvPr>
          <p:cNvSpPr/>
          <p:nvPr/>
        </p:nvSpPr>
        <p:spPr>
          <a:xfrm>
            <a:off x="8135112" y="2765815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1AB8EC5-B0EA-647D-E60A-E2A66CF44C9B}"/>
              </a:ext>
            </a:extLst>
          </p:cNvPr>
          <p:cNvSpPr/>
          <p:nvPr/>
        </p:nvSpPr>
        <p:spPr>
          <a:xfrm>
            <a:off x="9671304" y="3383175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2D77B28-E15E-8218-D0E5-A609C67731EB}"/>
              </a:ext>
            </a:extLst>
          </p:cNvPr>
          <p:cNvSpPr/>
          <p:nvPr/>
        </p:nvSpPr>
        <p:spPr>
          <a:xfrm>
            <a:off x="9232392" y="4311887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AF5245D-FBF8-9FDA-B99C-1D6075672FD5}"/>
              </a:ext>
            </a:extLst>
          </p:cNvPr>
          <p:cNvSpPr/>
          <p:nvPr/>
        </p:nvSpPr>
        <p:spPr>
          <a:xfrm>
            <a:off x="7697979" y="4311887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4F4A23A-1403-D14C-9B0E-A813F0AA7365}"/>
              </a:ext>
            </a:extLst>
          </p:cNvPr>
          <p:cNvCxnSpPr>
            <a:stCxn id="19" idx="5"/>
            <a:endCxn id="24" idx="1"/>
          </p:cNvCxnSpPr>
          <p:nvPr/>
        </p:nvCxnSpPr>
        <p:spPr>
          <a:xfrm>
            <a:off x="7399905" y="3990532"/>
            <a:ext cx="359673" cy="3816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586AA5C-8A37-6D1E-E046-28940D57B045}"/>
              </a:ext>
            </a:extLst>
          </p:cNvPr>
          <p:cNvCxnSpPr>
            <a:stCxn id="21" idx="5"/>
            <a:endCxn id="23" idx="1"/>
          </p:cNvCxnSpPr>
          <p:nvPr/>
        </p:nvCxnSpPr>
        <p:spPr>
          <a:xfrm>
            <a:off x="8494137" y="3117035"/>
            <a:ext cx="799854" cy="12551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57B0645-9019-704A-85F4-B965D8D73111}"/>
              </a:ext>
            </a:extLst>
          </p:cNvPr>
          <p:cNvSpPr txBox="1"/>
          <p:nvPr/>
        </p:nvSpPr>
        <p:spPr>
          <a:xfrm>
            <a:off x="1814418" y="5163957"/>
            <a:ext cx="130837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Deg(A)  = 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Deg(B) = 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Deg(C) = 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Deg(D) = 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Deg(E) = 1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59CB180-AACC-136D-DC67-4CA53CFB5318}"/>
              </a:ext>
            </a:extLst>
          </p:cNvPr>
          <p:cNvCxnSpPr/>
          <p:nvPr/>
        </p:nvCxnSpPr>
        <p:spPr>
          <a:xfrm>
            <a:off x="3255264" y="5815584"/>
            <a:ext cx="9692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1AB42C9-FA8B-4DDA-460F-B8270787A57A}"/>
                  </a:ext>
                </a:extLst>
              </p:cNvPr>
              <p:cNvSpPr txBox="1"/>
              <p:nvPr/>
            </p:nvSpPr>
            <p:spPr>
              <a:xfrm>
                <a:off x="4430741" y="5677084"/>
                <a:ext cx="13472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1AB42C9-FA8B-4DDA-460F-B8270787A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0741" y="5677084"/>
                <a:ext cx="1347228" cy="276999"/>
              </a:xfrm>
              <a:prstGeom prst="rect">
                <a:avLst/>
              </a:prstGeom>
              <a:blipFill>
                <a:blip r:embed="rId2"/>
                <a:stretch>
                  <a:fillRect l="-6335" t="-2174" r="-5882" b="-36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5589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8591F-4DD9-F9FD-C53C-FFE96BD1B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F3CDD6-08DC-DD94-B8AE-B5B0DF7EB18E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C5C7A1-9709-C2E6-662E-D27D79221550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EFB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4B9B808-FFB4-D9A3-7EDE-6EE45645F773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EFB reduce the number of features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34799D8-AAEC-AD83-07E3-34DADBE2A4D7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211818BC-AE38-1292-6748-4B4D6A37C5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12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52EB77-B636-A15E-A900-9AF7A06584C7}"/>
              </a:ext>
            </a:extLst>
          </p:cNvPr>
          <p:cNvSpPr txBox="1"/>
          <p:nvPr/>
        </p:nvSpPr>
        <p:spPr>
          <a:xfrm>
            <a:off x="481658" y="1718651"/>
            <a:ext cx="11731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3.Greedily assign it to an existing bundle or create a new bundle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6B4675C-B0E7-1403-BAD6-01BCAC2F3B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122863"/>
              </p:ext>
            </p:extLst>
          </p:nvPr>
        </p:nvGraphicFramePr>
        <p:xfrm>
          <a:off x="469121" y="2428934"/>
          <a:ext cx="4012365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02473">
                  <a:extLst>
                    <a:ext uri="{9D8B030D-6E8A-4147-A177-3AD203B41FA5}">
                      <a16:colId xmlns:a16="http://schemas.microsoft.com/office/drawing/2014/main" val="3029889720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482938873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3644324334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194663661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079276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49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322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48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754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718691"/>
                  </a:ext>
                </a:extLst>
              </a:tr>
            </a:tbl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360F8FEC-960D-2AA5-9005-FEDA23C469A3}"/>
              </a:ext>
            </a:extLst>
          </p:cNvPr>
          <p:cNvSpPr/>
          <p:nvPr/>
        </p:nvSpPr>
        <p:spPr>
          <a:xfrm>
            <a:off x="4857020" y="3177295"/>
            <a:ext cx="969264" cy="41148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1BC924B-62EB-BB68-3E8F-CBBABD2A5AFE}"/>
              </a:ext>
            </a:extLst>
          </p:cNvPr>
          <p:cNvSpPr/>
          <p:nvPr/>
        </p:nvSpPr>
        <p:spPr>
          <a:xfrm>
            <a:off x="6995160" y="3199079"/>
            <a:ext cx="420624" cy="4114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C6D3846-FFEA-69A5-1C2B-45F6F6703E87}"/>
              </a:ext>
            </a:extLst>
          </p:cNvPr>
          <p:cNvSpPr/>
          <p:nvPr/>
        </p:nvSpPr>
        <p:spPr>
          <a:xfrm>
            <a:off x="8089392" y="2325582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63FF610-A116-2438-D8A7-DA50DF2B95F2}"/>
              </a:ext>
            </a:extLst>
          </p:cNvPr>
          <p:cNvSpPr/>
          <p:nvPr/>
        </p:nvSpPr>
        <p:spPr>
          <a:xfrm>
            <a:off x="9625584" y="2942942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941ABE6-FADF-4CD6-1AF4-617BC9768838}"/>
              </a:ext>
            </a:extLst>
          </p:cNvPr>
          <p:cNvSpPr/>
          <p:nvPr/>
        </p:nvSpPr>
        <p:spPr>
          <a:xfrm>
            <a:off x="9186672" y="3871654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FD6598E-397D-5BE2-F964-F705B294811A}"/>
              </a:ext>
            </a:extLst>
          </p:cNvPr>
          <p:cNvSpPr/>
          <p:nvPr/>
        </p:nvSpPr>
        <p:spPr>
          <a:xfrm>
            <a:off x="7652259" y="3871654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85A1F8A-231B-2D0B-0C6F-6BB0380F7319}"/>
              </a:ext>
            </a:extLst>
          </p:cNvPr>
          <p:cNvCxnSpPr>
            <a:stCxn id="19" idx="5"/>
            <a:endCxn id="24" idx="1"/>
          </p:cNvCxnSpPr>
          <p:nvPr/>
        </p:nvCxnSpPr>
        <p:spPr>
          <a:xfrm>
            <a:off x="7354185" y="3550299"/>
            <a:ext cx="359673" cy="3816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2E7C1E4-1FE2-054E-70ED-82039F2596C1}"/>
              </a:ext>
            </a:extLst>
          </p:cNvPr>
          <p:cNvCxnSpPr>
            <a:stCxn id="21" idx="5"/>
            <a:endCxn id="23" idx="1"/>
          </p:cNvCxnSpPr>
          <p:nvPr/>
        </p:nvCxnSpPr>
        <p:spPr>
          <a:xfrm>
            <a:off x="8448417" y="2676802"/>
            <a:ext cx="799854" cy="12551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0E04C36-B4B3-EC18-0BC7-AFDECDB7D549}"/>
              </a:ext>
            </a:extLst>
          </p:cNvPr>
          <p:cNvSpPr txBox="1"/>
          <p:nvPr/>
        </p:nvSpPr>
        <p:spPr>
          <a:xfrm>
            <a:off x="1156378" y="5175504"/>
            <a:ext cx="66891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Init: Bundles = {},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BundlesConflict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 create new bundle B1 = {A} with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BundlesConflict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[B1] = 0</a:t>
            </a:r>
          </a:p>
        </p:txBody>
      </p:sp>
    </p:spTree>
    <p:extLst>
      <p:ext uri="{BB962C8B-B14F-4D97-AF65-F5344CB8AC3E}">
        <p14:creationId xmlns:p14="http://schemas.microsoft.com/office/powerpoint/2010/main" val="4277545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97B86-A94C-F9E7-3CCC-9E6F88909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1A679FC-94F5-01D0-238D-6C3712F6E275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630F8B3-DDAB-27C0-CE4D-E8754A51C65A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EFB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6A427BA-2156-4AD4-B8CB-D35332906221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EFB reduce the number of features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B35B467-FA6B-5E19-095A-58F066E4574B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7008C475-29E9-4815-486F-1F6545B022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13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5151F1-DE5C-301A-D8CD-B8C008687450}"/>
              </a:ext>
            </a:extLst>
          </p:cNvPr>
          <p:cNvSpPr txBox="1"/>
          <p:nvPr/>
        </p:nvSpPr>
        <p:spPr>
          <a:xfrm>
            <a:off x="481658" y="1729732"/>
            <a:ext cx="11731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3.Greedily assign it to an existing bundle or create a new bundle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2667C69-A338-1B42-227C-1A07A7398252}"/>
              </a:ext>
            </a:extLst>
          </p:cNvPr>
          <p:cNvGraphicFramePr>
            <a:graphicFrameLocks noGrp="1"/>
          </p:cNvGraphicFramePr>
          <p:nvPr/>
        </p:nvGraphicFramePr>
        <p:xfrm>
          <a:off x="469121" y="2428934"/>
          <a:ext cx="4012365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02473">
                  <a:extLst>
                    <a:ext uri="{9D8B030D-6E8A-4147-A177-3AD203B41FA5}">
                      <a16:colId xmlns:a16="http://schemas.microsoft.com/office/drawing/2014/main" val="3029889720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482938873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3644324334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194663661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079276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49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322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48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754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718691"/>
                  </a:ext>
                </a:extLst>
              </a:tr>
            </a:tbl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4FA89B15-C284-1580-A1D8-A7BC14EAA04C}"/>
              </a:ext>
            </a:extLst>
          </p:cNvPr>
          <p:cNvSpPr/>
          <p:nvPr/>
        </p:nvSpPr>
        <p:spPr>
          <a:xfrm>
            <a:off x="4857020" y="3177295"/>
            <a:ext cx="969264" cy="41148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A0A6355-9922-DFF4-D9B7-B716C5E30C75}"/>
              </a:ext>
            </a:extLst>
          </p:cNvPr>
          <p:cNvSpPr/>
          <p:nvPr/>
        </p:nvSpPr>
        <p:spPr>
          <a:xfrm>
            <a:off x="6995160" y="3199079"/>
            <a:ext cx="420624" cy="4114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E4FBDC1-7FA9-51D6-E523-11D9AC2FE361}"/>
              </a:ext>
            </a:extLst>
          </p:cNvPr>
          <p:cNvSpPr/>
          <p:nvPr/>
        </p:nvSpPr>
        <p:spPr>
          <a:xfrm>
            <a:off x="8089392" y="2325582"/>
            <a:ext cx="420624" cy="41148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FC74375-7DE3-192D-9CF9-6361C1957F95}"/>
              </a:ext>
            </a:extLst>
          </p:cNvPr>
          <p:cNvSpPr/>
          <p:nvPr/>
        </p:nvSpPr>
        <p:spPr>
          <a:xfrm>
            <a:off x="9625584" y="2942942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2497CC4-F64F-600E-A9F6-AF971CD7E622}"/>
              </a:ext>
            </a:extLst>
          </p:cNvPr>
          <p:cNvSpPr/>
          <p:nvPr/>
        </p:nvSpPr>
        <p:spPr>
          <a:xfrm>
            <a:off x="9186672" y="3871654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C8F7014-7E03-9553-181B-F938361E9CFD}"/>
              </a:ext>
            </a:extLst>
          </p:cNvPr>
          <p:cNvSpPr/>
          <p:nvPr/>
        </p:nvSpPr>
        <p:spPr>
          <a:xfrm>
            <a:off x="7652259" y="3871654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EDFF08-24A7-D084-4034-77C0C8E64FF8}"/>
              </a:ext>
            </a:extLst>
          </p:cNvPr>
          <p:cNvCxnSpPr>
            <a:stCxn id="19" idx="5"/>
            <a:endCxn id="24" idx="1"/>
          </p:cNvCxnSpPr>
          <p:nvPr/>
        </p:nvCxnSpPr>
        <p:spPr>
          <a:xfrm>
            <a:off x="7354185" y="3550299"/>
            <a:ext cx="359673" cy="3816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DE73D95-D1CD-0FD3-5719-5A5D075F4698}"/>
              </a:ext>
            </a:extLst>
          </p:cNvPr>
          <p:cNvCxnSpPr>
            <a:stCxn id="21" idx="5"/>
            <a:endCxn id="23" idx="1"/>
          </p:cNvCxnSpPr>
          <p:nvPr/>
        </p:nvCxnSpPr>
        <p:spPr>
          <a:xfrm>
            <a:off x="8448417" y="2676802"/>
            <a:ext cx="799854" cy="12551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80C64A1-EF73-1C26-8389-AACC55B53D47}"/>
                  </a:ext>
                </a:extLst>
              </p:cNvPr>
              <p:cNvSpPr txBox="1"/>
              <p:nvPr/>
            </p:nvSpPr>
            <p:spPr>
              <a:xfrm>
                <a:off x="1156378" y="5175504"/>
                <a:ext cx="668917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Bundles : {B1 = {A}},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BundlesConflict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{B1: 0}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B: conflict with B1 = 0 &lt;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 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Merge B with B1.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 Bundles : {B1 = {A, B}}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80C64A1-EF73-1C26-8389-AACC55B53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378" y="5175504"/>
                <a:ext cx="6689174" cy="1200329"/>
              </a:xfrm>
              <a:prstGeom prst="rect">
                <a:avLst/>
              </a:prstGeom>
              <a:blipFill>
                <a:blip r:embed="rId2"/>
                <a:stretch>
                  <a:fillRect l="-820" t="-25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8134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10351-2FFE-77AE-4C41-11ABF85F6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4F4686-D94B-D6E6-A058-A7F5FF1E5017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255F150-9C2F-2792-4663-E73776C298C0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EFB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66B938E-5A26-A9EA-AA7B-9BA805A47468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EFB reduce the number of features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63FE366-B927-ABB7-D715-C20C3F922B10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7E64A5CD-8EDF-3E61-B61C-FD061D974A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14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AD4DD1-6CB1-E51E-33EC-3006EA74CA4B}"/>
              </a:ext>
            </a:extLst>
          </p:cNvPr>
          <p:cNvSpPr txBox="1"/>
          <p:nvPr/>
        </p:nvSpPr>
        <p:spPr>
          <a:xfrm>
            <a:off x="481658" y="1709664"/>
            <a:ext cx="11731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3.Greedily assign it to an existing bundle or create a new bundle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DE7590E-D6C5-A569-56AD-F8F3FFE05515}"/>
              </a:ext>
            </a:extLst>
          </p:cNvPr>
          <p:cNvGraphicFramePr>
            <a:graphicFrameLocks noGrp="1"/>
          </p:cNvGraphicFramePr>
          <p:nvPr/>
        </p:nvGraphicFramePr>
        <p:xfrm>
          <a:off x="469121" y="2428934"/>
          <a:ext cx="4012365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02473">
                  <a:extLst>
                    <a:ext uri="{9D8B030D-6E8A-4147-A177-3AD203B41FA5}">
                      <a16:colId xmlns:a16="http://schemas.microsoft.com/office/drawing/2014/main" val="3029889720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482938873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3644324334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194663661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079276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49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322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48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754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718691"/>
                  </a:ext>
                </a:extLst>
              </a:tr>
            </a:tbl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FFD684DA-FA9C-50D9-AAFC-07667F084C0E}"/>
              </a:ext>
            </a:extLst>
          </p:cNvPr>
          <p:cNvSpPr/>
          <p:nvPr/>
        </p:nvSpPr>
        <p:spPr>
          <a:xfrm>
            <a:off x="4857020" y="3177295"/>
            <a:ext cx="969264" cy="41148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E6584D2-9BC9-F51F-2511-54877C4A7CEA}"/>
              </a:ext>
            </a:extLst>
          </p:cNvPr>
          <p:cNvSpPr/>
          <p:nvPr/>
        </p:nvSpPr>
        <p:spPr>
          <a:xfrm>
            <a:off x="6995160" y="3199079"/>
            <a:ext cx="420624" cy="4114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755B841-D201-0D7D-9F1C-100B2A43A51F}"/>
              </a:ext>
            </a:extLst>
          </p:cNvPr>
          <p:cNvSpPr/>
          <p:nvPr/>
        </p:nvSpPr>
        <p:spPr>
          <a:xfrm>
            <a:off x="8089392" y="2325582"/>
            <a:ext cx="420624" cy="41148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A242960-B081-0B99-DF58-73574B1B0093}"/>
              </a:ext>
            </a:extLst>
          </p:cNvPr>
          <p:cNvSpPr/>
          <p:nvPr/>
        </p:nvSpPr>
        <p:spPr>
          <a:xfrm>
            <a:off x="9625584" y="2942942"/>
            <a:ext cx="420624" cy="41148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9515D13-FEA3-72BD-2CF2-AE62F7B41CFA}"/>
              </a:ext>
            </a:extLst>
          </p:cNvPr>
          <p:cNvSpPr/>
          <p:nvPr/>
        </p:nvSpPr>
        <p:spPr>
          <a:xfrm>
            <a:off x="9186672" y="3871654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2896D09-404B-7221-B493-720035006326}"/>
              </a:ext>
            </a:extLst>
          </p:cNvPr>
          <p:cNvSpPr/>
          <p:nvPr/>
        </p:nvSpPr>
        <p:spPr>
          <a:xfrm>
            <a:off x="7652259" y="3871654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CF14EDB-7225-C444-EDC0-DD5496FC8081}"/>
              </a:ext>
            </a:extLst>
          </p:cNvPr>
          <p:cNvCxnSpPr>
            <a:stCxn id="19" idx="5"/>
            <a:endCxn id="24" idx="1"/>
          </p:cNvCxnSpPr>
          <p:nvPr/>
        </p:nvCxnSpPr>
        <p:spPr>
          <a:xfrm>
            <a:off x="7354185" y="3550299"/>
            <a:ext cx="359673" cy="3816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D04C527-1F26-ED43-26C6-43990A8A2118}"/>
              </a:ext>
            </a:extLst>
          </p:cNvPr>
          <p:cNvCxnSpPr>
            <a:stCxn id="21" idx="5"/>
            <a:endCxn id="23" idx="1"/>
          </p:cNvCxnSpPr>
          <p:nvPr/>
        </p:nvCxnSpPr>
        <p:spPr>
          <a:xfrm>
            <a:off x="8448417" y="2676802"/>
            <a:ext cx="799854" cy="12551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350E55A-6BFC-7291-42A9-69E0E172D50F}"/>
                  </a:ext>
                </a:extLst>
              </p:cNvPr>
              <p:cNvSpPr txBox="1"/>
              <p:nvPr/>
            </p:nvSpPr>
            <p:spPr>
              <a:xfrm>
                <a:off x="1156378" y="5175504"/>
                <a:ext cx="958782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Bundles : {B1 = {A, B}},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BundlesConflict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{B1: 0}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C: Conflict with B1 = {A, B} = 0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0 +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BundlesConflict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[B1] = 0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Merge C with B1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 Bundles: {B1 = {A, B, C}};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BundlesConflict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: {B1: 0}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350E55A-6BFC-7291-42A9-69E0E172D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378" y="5175504"/>
                <a:ext cx="9587822" cy="1477328"/>
              </a:xfrm>
              <a:prstGeom prst="rect">
                <a:avLst/>
              </a:prstGeom>
              <a:blipFill>
                <a:blip r:embed="rId2"/>
                <a:stretch>
                  <a:fillRect l="-572" t="-2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0535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CCDC2-3999-B02D-BEA8-3E18A9F9F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839826E-E547-C22B-6BFB-4CAC818AEC77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591AD86-E84E-1654-48CF-DA2246EA63E2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EFB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9916F2E-92FD-B168-ABB8-8031D86CE027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EFB reduce the number of features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577A9BB-D6F5-6159-4DE9-AC988B578324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2D98968-2D9A-483F-0C06-BB5D535C78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15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ADCA16-0612-F8D7-DAEB-A9AA85117824}"/>
              </a:ext>
            </a:extLst>
          </p:cNvPr>
          <p:cNvSpPr txBox="1"/>
          <p:nvPr/>
        </p:nvSpPr>
        <p:spPr>
          <a:xfrm>
            <a:off x="460248" y="1752689"/>
            <a:ext cx="11731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3.Greedily assign it to an existing bundle or create a new bundle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594727-2D10-A2FB-3FCB-91BABC5CB94B}"/>
              </a:ext>
            </a:extLst>
          </p:cNvPr>
          <p:cNvGraphicFramePr>
            <a:graphicFrameLocks noGrp="1"/>
          </p:cNvGraphicFramePr>
          <p:nvPr/>
        </p:nvGraphicFramePr>
        <p:xfrm>
          <a:off x="469121" y="2428934"/>
          <a:ext cx="4012365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02473">
                  <a:extLst>
                    <a:ext uri="{9D8B030D-6E8A-4147-A177-3AD203B41FA5}">
                      <a16:colId xmlns:a16="http://schemas.microsoft.com/office/drawing/2014/main" val="3029889720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482938873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3644324334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194663661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079276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49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322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48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754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718691"/>
                  </a:ext>
                </a:extLst>
              </a:tr>
            </a:tbl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ADFFED07-DEE9-69AF-EC63-B48F0F2C25BA}"/>
              </a:ext>
            </a:extLst>
          </p:cNvPr>
          <p:cNvSpPr/>
          <p:nvPr/>
        </p:nvSpPr>
        <p:spPr>
          <a:xfrm>
            <a:off x="4857020" y="3177295"/>
            <a:ext cx="969264" cy="41148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E7C80DA-01CE-70F5-6380-04D37D86B6D3}"/>
              </a:ext>
            </a:extLst>
          </p:cNvPr>
          <p:cNvSpPr/>
          <p:nvPr/>
        </p:nvSpPr>
        <p:spPr>
          <a:xfrm>
            <a:off x="6995160" y="3199079"/>
            <a:ext cx="420624" cy="4114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A9D71F5-BE2F-0C3E-8C10-A0CE245EF853}"/>
              </a:ext>
            </a:extLst>
          </p:cNvPr>
          <p:cNvSpPr/>
          <p:nvPr/>
        </p:nvSpPr>
        <p:spPr>
          <a:xfrm>
            <a:off x="8089392" y="2325582"/>
            <a:ext cx="420624" cy="41148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EE08769-D70C-62DA-3AD8-F6928EF2DC85}"/>
              </a:ext>
            </a:extLst>
          </p:cNvPr>
          <p:cNvSpPr/>
          <p:nvPr/>
        </p:nvSpPr>
        <p:spPr>
          <a:xfrm>
            <a:off x="9625584" y="2942942"/>
            <a:ext cx="420624" cy="41148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F51E486-D4DE-941F-3D14-91F5438D4254}"/>
              </a:ext>
            </a:extLst>
          </p:cNvPr>
          <p:cNvSpPr/>
          <p:nvPr/>
        </p:nvSpPr>
        <p:spPr>
          <a:xfrm>
            <a:off x="9186672" y="3871654"/>
            <a:ext cx="420624" cy="41148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30C5E60-5246-24E1-6CD9-E575A40BD0CE}"/>
              </a:ext>
            </a:extLst>
          </p:cNvPr>
          <p:cNvSpPr/>
          <p:nvPr/>
        </p:nvSpPr>
        <p:spPr>
          <a:xfrm>
            <a:off x="7652259" y="3871654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9C523F3-713C-010A-30BE-3C6200D7CBB1}"/>
              </a:ext>
            </a:extLst>
          </p:cNvPr>
          <p:cNvCxnSpPr>
            <a:stCxn id="19" idx="5"/>
            <a:endCxn id="24" idx="1"/>
          </p:cNvCxnSpPr>
          <p:nvPr/>
        </p:nvCxnSpPr>
        <p:spPr>
          <a:xfrm>
            <a:off x="7354185" y="3550299"/>
            <a:ext cx="359673" cy="3816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5534EC-55E6-D1F7-8CB8-6734268E3634}"/>
              </a:ext>
            </a:extLst>
          </p:cNvPr>
          <p:cNvCxnSpPr>
            <a:stCxn id="21" idx="5"/>
            <a:endCxn id="23" idx="1"/>
          </p:cNvCxnSpPr>
          <p:nvPr/>
        </p:nvCxnSpPr>
        <p:spPr>
          <a:xfrm>
            <a:off x="8448417" y="2676802"/>
            <a:ext cx="799854" cy="12551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049782-846F-9BA6-DA26-C0BB8E9B4580}"/>
                  </a:ext>
                </a:extLst>
              </p:cNvPr>
              <p:cNvSpPr txBox="1"/>
              <p:nvPr/>
            </p:nvSpPr>
            <p:spPr>
              <a:xfrm>
                <a:off x="1156378" y="5175504"/>
                <a:ext cx="1006331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Bundles : {B1 = {A, B}},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BundlesConflict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{B1: 0}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D: Conflict with B1 = {A, B, C} = 1 (B)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1 +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BundlesConflict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[B1] = 1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≤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Merge D with B1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 Bundles: {B1 = {A, B, C, D}};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BundlesConflict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: {B1: 1}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049782-846F-9BA6-DA26-C0BB8E9B4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378" y="5175504"/>
                <a:ext cx="10063310" cy="1477328"/>
              </a:xfrm>
              <a:prstGeom prst="rect">
                <a:avLst/>
              </a:prstGeom>
              <a:blipFill>
                <a:blip r:embed="rId3"/>
                <a:stretch>
                  <a:fillRect l="-545" t="-2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1892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ACAE5-3BA9-A969-3E68-DEBBD639F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DB2D75-8467-06A7-D5E4-2956E6F58526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CDF3AAB-4E46-B8A0-3B39-E1EF9FAE8326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EFB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232C10C-60BD-B30E-5FDD-74F1A2FF4207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EFB reduce the number of features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03980E7-C395-BC0D-9DA6-E6588706AA86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7568CB0-15B0-EB7E-99DE-D8D3234828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16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A00652-C5FF-F6A4-12C9-D19ECFC8D3D0}"/>
              </a:ext>
            </a:extLst>
          </p:cNvPr>
          <p:cNvSpPr txBox="1"/>
          <p:nvPr/>
        </p:nvSpPr>
        <p:spPr>
          <a:xfrm>
            <a:off x="481658" y="1704154"/>
            <a:ext cx="11731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3.Greedily assign it to an existing bundle or create a new bundle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0CBC414-9845-0C77-6C1A-8965091613F5}"/>
              </a:ext>
            </a:extLst>
          </p:cNvPr>
          <p:cNvGraphicFramePr>
            <a:graphicFrameLocks noGrp="1"/>
          </p:cNvGraphicFramePr>
          <p:nvPr/>
        </p:nvGraphicFramePr>
        <p:xfrm>
          <a:off x="469121" y="2428934"/>
          <a:ext cx="4012365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02473">
                  <a:extLst>
                    <a:ext uri="{9D8B030D-6E8A-4147-A177-3AD203B41FA5}">
                      <a16:colId xmlns:a16="http://schemas.microsoft.com/office/drawing/2014/main" val="3029889720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482938873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3644324334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194663661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079276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49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322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48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754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718691"/>
                  </a:ext>
                </a:extLst>
              </a:tr>
            </a:tbl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721EA1BA-730A-42B2-9C28-8C4B0FA1F3E6}"/>
              </a:ext>
            </a:extLst>
          </p:cNvPr>
          <p:cNvSpPr/>
          <p:nvPr/>
        </p:nvSpPr>
        <p:spPr>
          <a:xfrm>
            <a:off x="4857020" y="3177295"/>
            <a:ext cx="969264" cy="41148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E41228F-5763-7FFE-EB02-4E68A62F6059}"/>
              </a:ext>
            </a:extLst>
          </p:cNvPr>
          <p:cNvSpPr/>
          <p:nvPr/>
        </p:nvSpPr>
        <p:spPr>
          <a:xfrm>
            <a:off x="6995160" y="3199079"/>
            <a:ext cx="420624" cy="4114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C160A10-74B2-610F-F92C-3E40825ABEA6}"/>
              </a:ext>
            </a:extLst>
          </p:cNvPr>
          <p:cNvSpPr/>
          <p:nvPr/>
        </p:nvSpPr>
        <p:spPr>
          <a:xfrm>
            <a:off x="8089392" y="2325582"/>
            <a:ext cx="420624" cy="41148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938F05F-6BAF-B915-02FD-807FC801F78A}"/>
              </a:ext>
            </a:extLst>
          </p:cNvPr>
          <p:cNvSpPr/>
          <p:nvPr/>
        </p:nvSpPr>
        <p:spPr>
          <a:xfrm>
            <a:off x="9625584" y="2942942"/>
            <a:ext cx="420624" cy="41148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D8543BA-EE60-C8E2-BCDE-8637A0494882}"/>
              </a:ext>
            </a:extLst>
          </p:cNvPr>
          <p:cNvSpPr/>
          <p:nvPr/>
        </p:nvSpPr>
        <p:spPr>
          <a:xfrm>
            <a:off x="9186672" y="3871654"/>
            <a:ext cx="420624" cy="41148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E46FDA4-5863-8925-C585-76BAF63BB07D}"/>
              </a:ext>
            </a:extLst>
          </p:cNvPr>
          <p:cNvSpPr/>
          <p:nvPr/>
        </p:nvSpPr>
        <p:spPr>
          <a:xfrm>
            <a:off x="7652259" y="3871654"/>
            <a:ext cx="420624" cy="41148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7636FE0-6023-0868-FBE5-683BB2387A8F}"/>
              </a:ext>
            </a:extLst>
          </p:cNvPr>
          <p:cNvCxnSpPr>
            <a:stCxn id="19" idx="5"/>
            <a:endCxn id="24" idx="1"/>
          </p:cNvCxnSpPr>
          <p:nvPr/>
        </p:nvCxnSpPr>
        <p:spPr>
          <a:xfrm>
            <a:off x="7354185" y="3550299"/>
            <a:ext cx="359673" cy="3816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2DA717-45F1-996C-649B-9E407A32B957}"/>
              </a:ext>
            </a:extLst>
          </p:cNvPr>
          <p:cNvCxnSpPr>
            <a:stCxn id="21" idx="5"/>
            <a:endCxn id="23" idx="1"/>
          </p:cNvCxnSpPr>
          <p:nvPr/>
        </p:nvCxnSpPr>
        <p:spPr>
          <a:xfrm>
            <a:off x="8448417" y="2676802"/>
            <a:ext cx="799854" cy="12551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BA767DC-4919-13E9-FB45-15643B28C189}"/>
                  </a:ext>
                </a:extLst>
              </p:cNvPr>
              <p:cNvSpPr txBox="1"/>
              <p:nvPr/>
            </p:nvSpPr>
            <p:spPr>
              <a:xfrm>
                <a:off x="751658" y="4899034"/>
                <a:ext cx="1055947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Bundles : {B1 = {A, B, C, D}},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BundlesConflict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{B1: 1}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E: Conflict with B1 = {A, B, C, D} = 1 (A)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1 +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BundlesConflict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[B1] = 2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≤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Cannot merge E with B1  Create new bundle B2 = {E}.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 Bundles: {B1 = {A, B, C, D}, B2{E}};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BundlesConflict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: {B1: 1, B2: 0}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BA767DC-4919-13E9-FB45-15643B28C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58" y="4899034"/>
                <a:ext cx="10559470" cy="1754326"/>
              </a:xfrm>
              <a:prstGeom prst="rect">
                <a:avLst/>
              </a:prstGeom>
              <a:blipFill>
                <a:blip r:embed="rId3"/>
                <a:stretch>
                  <a:fillRect l="-462" t="-2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836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F9CC2-111F-E095-E3D6-64A6DCFB5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D73A99-CE01-7186-7199-971610F6C5A1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F008BDD-44BF-52AC-5A16-9E7A706A31E9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Classification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D4D47B4-9A61-21D6-C746-56D4E8A73D81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Libraries + Load Dataset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E0B19CA-066C-0229-2CCF-FD00BD147A3C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2592384-B89E-DADC-511F-28E1715583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535CFE-1E4D-A793-BF36-1A36BCEF6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25" y="1809524"/>
            <a:ext cx="4667901" cy="16194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08D36E9-3575-420F-8FAE-93209F4FA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126" y="1809524"/>
            <a:ext cx="2934109" cy="70494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4787E97-DFC6-A52C-B42F-BB9B65714B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225" y="3981350"/>
            <a:ext cx="10148147" cy="263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25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EDEDC-3835-9868-8349-2C178D622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7A61F0-2826-AE0F-8CAF-E6EDFA7E7884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7719A56-143F-DFF4-0972-A9879B7AACBF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Classification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610DDB7-6F75-EFB1-1618-3FB942019C77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9A3EBE7-C5FF-5AB4-4230-135832B4FBB6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14A72DB9-869C-4009-498D-30FC1B0212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18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FC0E96-4425-1E44-7450-D73339673A66}"/>
              </a:ext>
            </a:extLst>
          </p:cNvPr>
          <p:cNvSpPr txBox="1"/>
          <p:nvPr/>
        </p:nvSpPr>
        <p:spPr>
          <a:xfrm>
            <a:off x="481658" y="1837944"/>
            <a:ext cx="11214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Class Balance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834280-CF1B-897D-9A45-28DCCF116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42" y="2280180"/>
            <a:ext cx="4820323" cy="248637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AE06D1C-63C6-3F24-0533-7C7C907F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937" y="2207276"/>
            <a:ext cx="4520225" cy="3372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613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517E9-51D9-052F-8DCF-184E86E37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AFEE1A2-3DDC-1E2F-B49F-B7385D7624F7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F1069BB-1E64-5810-3F69-8BB62B044345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Classification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75426E7-1D6A-D841-C75B-1AB5504DFD69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88932B7-6637-4364-B0DE-5BC975EC3E0C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552A86FD-0CDF-D608-71D6-E978193DD1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19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320E9D-4CBA-891F-0DDC-6763A8450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210" y="2860808"/>
            <a:ext cx="6716062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295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F13CF-BB66-91A7-7040-6A0BDF1D4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AA13EB-9D3E-0F85-993A-CC369E51F2E4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343B135-498D-768C-61A8-46D67A4AD03A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Classification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ADCB575-E6FA-3ACC-8F2A-702DB5F04F16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Evaluation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4C4A607-6553-65C9-F097-EFB7659EB914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179886AE-47EC-4745-54CA-44F1412A75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20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A4A1C-947A-CCDD-68D7-D097B6AE47DD}"/>
              </a:ext>
            </a:extLst>
          </p:cNvPr>
          <p:cNvSpPr txBox="1"/>
          <p:nvPr/>
        </p:nvSpPr>
        <p:spPr>
          <a:xfrm>
            <a:off x="356780" y="2850250"/>
            <a:ext cx="52576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Params: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FF0000"/>
                </a:solidFill>
              </a:rPr>
              <a:t>data_sample_strategy</a:t>
            </a:r>
            <a:r>
              <a:rPr lang="en-US" dirty="0"/>
              <a:t>=“</a:t>
            </a:r>
            <a:r>
              <a:rPr lang="en-US" dirty="0" err="1"/>
              <a:t>goss</a:t>
            </a:r>
            <a:r>
              <a:rPr lang="en-US" dirty="0"/>
              <a:t>” </a:t>
            </a:r>
            <a:r>
              <a:rPr lang="en-US" dirty="0">
                <a:sym typeface="Wingdings" panose="05000000000000000000" pitchFamily="2" charset="2"/>
              </a:rPr>
              <a:t> using </a:t>
            </a:r>
            <a:r>
              <a:rPr lang="en-US" b="1" i="1" dirty="0" err="1">
                <a:sym typeface="Wingdings" panose="05000000000000000000" pitchFamily="2" charset="2"/>
              </a:rPr>
              <a:t>goss</a:t>
            </a:r>
            <a:r>
              <a:rPr lang="en-US" dirty="0">
                <a:sym typeface="Wingdings" panose="05000000000000000000" pitchFamily="2" charset="2"/>
              </a:rPr>
              <a:t> instead of </a:t>
            </a:r>
            <a:r>
              <a:rPr lang="en-US" dirty="0"/>
              <a:t>Randomly Bagging Sampling.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FF0000"/>
                </a:solidFill>
              </a:rPr>
              <a:t>enable_bundle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= True </a:t>
            </a:r>
            <a:r>
              <a:rPr lang="en-US" dirty="0">
                <a:sym typeface="Wingdings" panose="05000000000000000000" pitchFamily="2" charset="2"/>
              </a:rPr>
              <a:t> Allow </a:t>
            </a:r>
            <a:r>
              <a:rPr lang="en-US" b="1" i="1" dirty="0">
                <a:sym typeface="Wingdings" panose="05000000000000000000" pitchFamily="2" charset="2"/>
              </a:rPr>
              <a:t>EFB.</a:t>
            </a:r>
            <a:endParaRPr lang="en-US" b="1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5E6060-0CE4-25AC-7C00-4BC1155E1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58" y="2205577"/>
            <a:ext cx="6430272" cy="3715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EC027F-93EA-EA0E-DED6-52872A546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58" y="5041198"/>
            <a:ext cx="4744112" cy="14480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D5DD69A-5A00-1DCA-8B86-0CEE457248FA}"/>
              </a:ext>
            </a:extLst>
          </p:cNvPr>
          <p:cNvSpPr txBox="1"/>
          <p:nvPr/>
        </p:nvSpPr>
        <p:spPr>
          <a:xfrm>
            <a:off x="896112" y="1764792"/>
            <a:ext cx="3197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model and training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E30C2C3-A61E-8D16-AC56-81315D94A9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4416" y="2656988"/>
            <a:ext cx="6287377" cy="9907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90E6C7A-BD23-EADE-2762-CC751B028F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0673" y="4079374"/>
            <a:ext cx="9098816" cy="78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45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BB5F8-CF59-B4E7-9D56-5FD6BB1BE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000FFCD-880A-A99B-2045-6031F4ABDFC6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6CFCA62-CF4F-F6F8-1E8B-BB353A164A20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Classification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9A0E767-62FE-1AF5-9F12-24D3BFD1FDDA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Evaluation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E76ABD9-1668-ECB5-8976-0331C4481834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28FDAF71-651F-008E-95D3-B37508E31D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21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B74169-5022-495A-6CAD-9C44FDF38A78}"/>
              </a:ext>
            </a:extLst>
          </p:cNvPr>
          <p:cNvSpPr txBox="1"/>
          <p:nvPr/>
        </p:nvSpPr>
        <p:spPr>
          <a:xfrm>
            <a:off x="896112" y="1764792"/>
            <a:ext cx="1520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28A48B-4FD5-34DC-DCFF-A98964C82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5906" y="2302204"/>
            <a:ext cx="4782217" cy="20005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4C5837-F1AC-1670-A95C-24A0612763F4}"/>
              </a:ext>
            </a:extLst>
          </p:cNvPr>
          <p:cNvSpPr txBox="1"/>
          <p:nvPr/>
        </p:nvSpPr>
        <p:spPr>
          <a:xfrm>
            <a:off x="1064012" y="4846320"/>
            <a:ext cx="2793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with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F7ABD4-6B6C-8FC9-8B81-350182CC78AE}"/>
              </a:ext>
            </a:extLst>
          </p:cNvPr>
          <p:cNvSpPr txBox="1"/>
          <p:nvPr/>
        </p:nvSpPr>
        <p:spPr>
          <a:xfrm>
            <a:off x="1254228" y="5215652"/>
            <a:ext cx="45115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Time: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Training time: 0.0943 seconds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Training time: 0.0273 seconds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6B4258-9825-C382-95D4-131814E4D1FC}"/>
              </a:ext>
            </a:extLst>
          </p:cNvPr>
          <p:cNvSpPr txBox="1"/>
          <p:nvPr/>
        </p:nvSpPr>
        <p:spPr>
          <a:xfrm>
            <a:off x="6426217" y="5215652"/>
            <a:ext cx="47292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Test ACC: 0.9629629629629629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Test ACC: 0.9444444444444444</a:t>
            </a:r>
          </a:p>
        </p:txBody>
      </p:sp>
    </p:spTree>
    <p:extLst>
      <p:ext uri="{BB962C8B-B14F-4D97-AF65-F5344CB8AC3E}">
        <p14:creationId xmlns:p14="http://schemas.microsoft.com/office/powerpoint/2010/main" val="7305145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67AC0-5144-5AE0-05F7-8A51E0097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A61417-3F77-7F3E-40A7-E03EFEF92CED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F7BB4CB-6E6C-C3BE-424A-F0259B30D505}"/>
              </a:ext>
            </a:extLst>
          </p:cNvPr>
          <p:cNvSpPr txBox="1">
            <a:spLocks/>
          </p:cNvSpPr>
          <p:nvPr/>
        </p:nvSpPr>
        <p:spPr>
          <a:xfrm>
            <a:off x="0" y="48733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Regression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D181D71-CD9A-435C-C14D-B5FD0617E860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Dataset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8341F53-D44E-271A-CCD3-F89C8F4A9230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02AB30E4-E654-D7F9-55F3-5829ABB74F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22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7EBB8C-54AD-1D2C-0F45-5D3EDDC5C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58" y="1630324"/>
            <a:ext cx="8140630" cy="510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2063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B3D01-DBC2-EEE8-7BBA-5111F5D62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4AC502B-CEF2-059F-7291-1B2E53D609C1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D27E2D1-A373-C868-9A4E-59B70B61B2C2}"/>
              </a:ext>
            </a:extLst>
          </p:cNvPr>
          <p:cNvSpPr txBox="1">
            <a:spLocks/>
          </p:cNvSpPr>
          <p:nvPr/>
        </p:nvSpPr>
        <p:spPr>
          <a:xfrm>
            <a:off x="0" y="48733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Regression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5797AC6-527C-BCB4-2DF3-FCAE36B0AD36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E002957-21A3-1C62-CF53-B61B6DF1ACD2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A761724-BB8E-48DB-938F-F59942B21B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23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397499-9460-EBAE-6037-90F969D20E56}"/>
              </a:ext>
            </a:extLst>
          </p:cNvPr>
          <p:cNvSpPr txBox="1"/>
          <p:nvPr/>
        </p:nvSpPr>
        <p:spPr>
          <a:xfrm>
            <a:off x="868680" y="1630324"/>
            <a:ext cx="2434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for null value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752E57-DCA8-C2B3-5303-042E8927B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58" y="2170324"/>
            <a:ext cx="8345065" cy="11336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C1ABC4-A019-2C96-C1A2-EAE76434C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658" y="3303957"/>
            <a:ext cx="2041858" cy="3529138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B99FAEE9-C30F-DAD5-E71B-3EADBE62A007}"/>
              </a:ext>
            </a:extLst>
          </p:cNvPr>
          <p:cNvSpPr/>
          <p:nvPr/>
        </p:nvSpPr>
        <p:spPr>
          <a:xfrm>
            <a:off x="4050792" y="4443984"/>
            <a:ext cx="1234440" cy="475488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7C69C1-66DB-2DFE-CE7A-E51D6B46B4C3}"/>
              </a:ext>
            </a:extLst>
          </p:cNvPr>
          <p:cNvSpPr txBox="1"/>
          <p:nvPr/>
        </p:nvSpPr>
        <p:spPr>
          <a:xfrm>
            <a:off x="5843016" y="4718304"/>
            <a:ext cx="2630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 to fill the null value</a:t>
            </a:r>
          </a:p>
        </p:txBody>
      </p:sp>
    </p:spTree>
    <p:extLst>
      <p:ext uri="{BB962C8B-B14F-4D97-AF65-F5344CB8AC3E}">
        <p14:creationId xmlns:p14="http://schemas.microsoft.com/office/powerpoint/2010/main" val="33120485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0E32F-674B-B602-BB6F-F8D8615ED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2E93F23-2D4E-CA39-A40F-2D9BD60B4EEE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F54EE5E-0322-B3AF-95DC-A2A506D7ADF2}"/>
              </a:ext>
            </a:extLst>
          </p:cNvPr>
          <p:cNvSpPr txBox="1">
            <a:spLocks/>
          </p:cNvSpPr>
          <p:nvPr/>
        </p:nvSpPr>
        <p:spPr>
          <a:xfrm>
            <a:off x="0" y="48733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Regression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C2DC1A-2ABC-8766-1F86-977D5FC2C19D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DAC8E4A-D5CF-12C9-9D36-3718E93621A8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A52F73C-3749-4384-A2A2-9679772EB1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24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2418FC-B962-42A2-10C7-7CD0333C7387}"/>
              </a:ext>
            </a:extLst>
          </p:cNvPr>
          <p:cNvSpPr txBox="1"/>
          <p:nvPr/>
        </p:nvSpPr>
        <p:spPr>
          <a:xfrm>
            <a:off x="868680" y="1630324"/>
            <a:ext cx="10469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for null value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object type, we use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ffill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 to fill the data.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1369D5-B361-E20C-BA26-09EAA2093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57" y="2468495"/>
            <a:ext cx="4143953" cy="3810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3AB447-D103-A9CA-47C8-28EBA6C19B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58" y="3003045"/>
            <a:ext cx="4143954" cy="3905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A094C3A-9721-3F61-94AA-76A0E4B745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657" y="3543045"/>
            <a:ext cx="4143953" cy="39058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248ED8F-8A59-2F21-C135-9A6A17DE3299}"/>
              </a:ext>
            </a:extLst>
          </p:cNvPr>
          <p:cNvSpPr txBox="1"/>
          <p:nvPr/>
        </p:nvSpPr>
        <p:spPr>
          <a:xfrm>
            <a:off x="1021658" y="4257790"/>
            <a:ext cx="6657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numeric type, fill the null value with the median or with 0 value.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426F540-0340-EA0D-AB5F-282BAD291B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657" y="4896041"/>
            <a:ext cx="6620799" cy="40010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F86B726-205A-E01F-FC58-4D913C7D93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657" y="5385617"/>
            <a:ext cx="6087325" cy="39058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A6DF452-D020-64C6-2225-F17AF2596F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657" y="5887036"/>
            <a:ext cx="5106113" cy="37152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6C08629-E816-60CF-F13A-560106A2AC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657" y="6369402"/>
            <a:ext cx="5630061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273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2273D-438C-419D-1562-6EC16421B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52B23E-071F-D8A4-EC39-BB15F5556952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4B47002-3678-E4C8-0E99-55F9BF16B793}"/>
              </a:ext>
            </a:extLst>
          </p:cNvPr>
          <p:cNvSpPr txBox="1">
            <a:spLocks/>
          </p:cNvSpPr>
          <p:nvPr/>
        </p:nvSpPr>
        <p:spPr>
          <a:xfrm>
            <a:off x="0" y="48733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Regression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410EC61-AC41-C5D3-73CA-EDCB60E93F0B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Evaluation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CB188D8-456E-B479-EAEF-2CD834381A40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40C95F0-EBFE-60B0-86B3-726524DAE9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25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38442F-3C76-AFA4-91B8-6278C875096B}"/>
              </a:ext>
            </a:extLst>
          </p:cNvPr>
          <p:cNvSpPr txBox="1"/>
          <p:nvPr/>
        </p:nvSpPr>
        <p:spPr>
          <a:xfrm>
            <a:off x="868680" y="1630324"/>
            <a:ext cx="10469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the model and Training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6AEB71-EEBE-7FE2-556F-267990FC8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59" y="2082362"/>
            <a:ext cx="7258486" cy="23826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D30FDDC-3C68-FE71-9FCE-B3AB1F6D1403}"/>
              </a:ext>
            </a:extLst>
          </p:cNvPr>
          <p:cNvSpPr txBox="1"/>
          <p:nvPr/>
        </p:nvSpPr>
        <p:spPr>
          <a:xfrm>
            <a:off x="1021658" y="5226685"/>
            <a:ext cx="1520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C535B0-46B0-A904-84D6-AEB38D0128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2010" y="4650154"/>
            <a:ext cx="2953990" cy="205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844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</TotalTime>
  <Words>1753</Words>
  <Application>Microsoft Office PowerPoint</Application>
  <PresentationFormat>Widescreen</PresentationFormat>
  <Paragraphs>548</Paragraphs>
  <Slides>25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Aptos</vt:lpstr>
      <vt:lpstr>Aptos Display</vt:lpstr>
      <vt:lpstr>Arial</vt:lpstr>
      <vt:lpstr>Cambria Math</vt:lpstr>
      <vt:lpstr>Raleway Thin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 Quang Hien</dc:creator>
  <cp:lastModifiedBy>Chu Tuan Nghia 20225056</cp:lastModifiedBy>
  <cp:revision>10</cp:revision>
  <dcterms:created xsi:type="dcterms:W3CDTF">2025-09-10T02:39:27Z</dcterms:created>
  <dcterms:modified xsi:type="dcterms:W3CDTF">2025-09-13T02:36:03Z</dcterms:modified>
</cp:coreProperties>
</file>