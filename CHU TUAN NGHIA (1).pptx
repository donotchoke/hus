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6" r:id="rId5"/>
    <p:sldId id="261" r:id="rId6"/>
    <p:sldId id="259" r:id="rId7"/>
    <p:sldId id="269" r:id="rId8"/>
    <p:sldId id="274" r:id="rId9"/>
    <p:sldId id="275" r:id="rId10"/>
    <p:sldId id="277" r:id="rId11"/>
    <p:sldId id="262" r:id="rId12"/>
    <p:sldId id="273" r:id="rId13"/>
    <p:sldId id="263" r:id="rId14"/>
    <p:sldId id="278" r:id="rId15"/>
    <p:sldId id="264" r:id="rId16"/>
    <p:sldId id="265" r:id="rId17"/>
    <p:sldId id="266" r:id="rId18"/>
    <p:sldId id="279" r:id="rId19"/>
    <p:sldId id="268" r:id="rId20"/>
  </p:sldIdLst>
  <p:sldSz cx="18288000" cy="10287000"/>
  <p:notesSz cx="6858000" cy="9144000"/>
  <p:embeddedFontLst>
    <p:embeddedFont>
      <p:font typeface="Sarabun" panose="020B0604020202020204" charset="-34"/>
      <p:regular r:id="rId22"/>
    </p:embeddedFont>
    <p:embeddedFont>
      <p:font typeface="Sarabun Bold" panose="020B0604020202020204" charset="-34"/>
      <p:regular r:id="rId23"/>
    </p:embeddedFont>
    <p:embeddedFont>
      <p:font typeface="Sarabun Thin" panose="020B0604020202020204" charset="-3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A46AC-C855-24BB-D400-F897B7304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EE1559-6472-43A1-E451-884CE59BA3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0B5E32-3353-03C6-9E59-B479038E26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88E69E1-157A-6190-8D0C-3F3DC100DB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D586542-FC00-6E82-9618-A474921ED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D5B83-A72E-0F7D-6C9D-A084A9B6E5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18378-B5EE-01BE-177D-6A63DB748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79012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F1981-A96D-F79C-3E43-7B29BCBDF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8BCAE3-C14C-B29C-A9E7-C083E3BE98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47E4B-B6AD-3787-016F-0C1DB0D3F22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3556199-CBD9-5A8A-0D50-4DA128F8E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7F7AB7D-CDEA-EAD1-99B5-10AB30488A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37DE2-85CE-59DD-1781-FCB093F992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C4EC8-220E-8D28-3710-0E5FE8958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73627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E1682-8CFA-7D18-1371-8EED03E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ECC87A-57E4-1B6D-8A6E-988AA2CA66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02B3E5-2485-4A40-4CFA-C5AA3E02D07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DFA11B3-F68D-FAC1-C56F-211782EEF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E8A27DD-DF04-C9E3-4F59-23BE05B2F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1C17F-05C3-BEBD-C97A-D0E06F97CE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90AAD-11AC-7A54-55C3-8ADAA1F30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02633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A5F0-303F-74B2-9E70-1BB9C41E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169E61-1C78-85EC-D8EA-DEAC48AB7D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16417-5A7C-0218-AD7D-80A60B4825F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DB03D73-DF08-EE75-0717-AE12453168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41AAC9E-A572-F5FD-F839-724984EDA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7E1A4-10A9-5814-8419-9C838C5C3B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4C3B8-8389-0AC1-F98E-75E071CC3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74605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2F1AF-059F-BE4D-8CD4-11CDF354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76464-DC6E-52FD-2011-32FC9A4AC8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83D2A-EAE4-5221-CC6D-8A0EDBBA822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CC04BD6-E15E-D0C5-E20A-491AD4C30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9C777E-3517-D81F-C6AF-7DF76936E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E2977-0EF0-B553-4512-9BD4239847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8E02A-B511-796C-80A4-55689CB25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89236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EFE2B-C6A4-5BCD-98AB-EEAF23CE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69A794-19C2-6BA4-FFA2-CB3B017B34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6B070E-C11D-DE2C-7710-26267C81775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1EDECA2-4D02-2ECE-9F02-467AFCED43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2C245E-7291-0172-0A74-12E5F3FA3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8E728-5D7E-33E4-ABC0-E4F7194130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1E0E1-3976-440C-1FD8-646C381CE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193519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B3463-5CEE-91E7-D6D5-159B525E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869403-983E-EEBD-72EB-3EA661D3E5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1A381-B6EF-3786-A926-A7C08AE8145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A0267E9-9FB4-7C7D-D4D4-B2D3AE044B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6090268-8A81-06A2-0A94-621DF9CCE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AE282-5ED5-7084-D347-7283C8B46E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1AE20-C9D9-2F23-4D9E-EE2167B4A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17369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A85BA-B90A-3272-0F52-157B3459F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6AC2E0-372C-C778-BFBE-4E1124F7E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679EE-061C-ED6A-23D9-820BD716759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7E8E013-BF80-1598-BB5B-906A101C1E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FDA71BF-233C-5F16-1AC0-2853DE3A7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E32F8-AE8E-CCC4-0BE9-514B69FE52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E3B0B-ED35-E2C7-A98E-762F473DC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24607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9050" y="0"/>
            <a:ext cx="18324238" cy="10287000"/>
            <a:chOff x="0" y="0"/>
            <a:chExt cx="2443231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32261" cy="13716000"/>
            </a:xfrm>
            <a:custGeom>
              <a:avLst/>
              <a:gdLst/>
              <a:ahLst/>
              <a:cxnLst/>
              <a:rect l="l" t="t" r="r" b="b"/>
              <a:pathLst>
                <a:path w="24432261" h="13716000">
                  <a:moveTo>
                    <a:pt x="0" y="0"/>
                  </a:moveTo>
                  <a:lnTo>
                    <a:pt x="24432261" y="0"/>
                  </a:lnTo>
                  <a:lnTo>
                    <a:pt x="2443226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1" t="-2185" r="-139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400300" y="6858000"/>
            <a:ext cx="342900" cy="342900"/>
            <a:chOff x="0" y="0"/>
            <a:chExt cx="4572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525" y="0"/>
            <a:ext cx="18324238" cy="10287000"/>
            <a:chOff x="0" y="0"/>
            <a:chExt cx="24432318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32261" cy="13716000"/>
            </a:xfrm>
            <a:custGeom>
              <a:avLst/>
              <a:gdLst/>
              <a:ahLst/>
              <a:cxnLst/>
              <a:rect l="l" t="t" r="r" b="b"/>
              <a:pathLst>
                <a:path w="24432261" h="13716000">
                  <a:moveTo>
                    <a:pt x="0" y="0"/>
                  </a:moveTo>
                  <a:lnTo>
                    <a:pt x="24432261" y="0"/>
                  </a:lnTo>
                  <a:lnTo>
                    <a:pt x="24432261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FEFEFE">
                    <a:alpha val="0"/>
                  </a:srgbClr>
                </a:gs>
                <a:gs pos="40000">
                  <a:srgbClr val="DE8792">
                    <a:alpha val="53000"/>
                  </a:srgbClr>
                </a:gs>
                <a:gs pos="67000">
                  <a:srgbClr val="FF0000">
                    <a:alpha val="91000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510000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743807" y="9662896"/>
            <a:ext cx="169545" cy="27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2">
                <a:solidFill>
                  <a:srgbClr val="888A96"/>
                </a:solidFill>
                <a:latin typeface="Sarabun"/>
                <a:ea typeface="Sarabun"/>
                <a:cs typeface="Sarabun"/>
                <a:sym typeface="Sarabun"/>
              </a:rPr>
              <a:t>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202120" y="0"/>
            <a:ext cx="15980472" cy="1431278"/>
            <a:chOff x="0" y="0"/>
            <a:chExt cx="22707600" cy="20337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07600" cy="2033788"/>
            </a:xfrm>
            <a:custGeom>
              <a:avLst/>
              <a:gdLst/>
              <a:ahLst/>
              <a:cxnLst/>
              <a:rect l="l" t="t" r="r" b="b"/>
              <a:pathLst>
                <a:path w="22707600" h="2033788">
                  <a:moveTo>
                    <a:pt x="0" y="0"/>
                  </a:moveTo>
                  <a:lnTo>
                    <a:pt x="22707600" y="0"/>
                  </a:lnTo>
                  <a:lnTo>
                    <a:pt x="22707600" y="2033788"/>
                  </a:lnTo>
                  <a:lnTo>
                    <a:pt x="0" y="2033788"/>
                  </a:lnTo>
                  <a:close/>
                </a:path>
              </a:pathLst>
            </a:custGeom>
            <a:solidFill>
              <a:srgbClr val="76717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16542" y="186632"/>
            <a:ext cx="16496810" cy="1183862"/>
            <a:chOff x="0" y="0"/>
            <a:chExt cx="13933168" cy="9998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33168" cy="999887"/>
            </a:xfrm>
            <a:custGeom>
              <a:avLst/>
              <a:gdLst/>
              <a:ahLst/>
              <a:cxnLst/>
              <a:rect l="l" t="t" r="r" b="b"/>
              <a:pathLst>
                <a:path w="13933168" h="999887">
                  <a:moveTo>
                    <a:pt x="0" y="0"/>
                  </a:moveTo>
                  <a:lnTo>
                    <a:pt x="13933168" y="0"/>
                  </a:lnTo>
                  <a:lnTo>
                    <a:pt x="13933168" y="999887"/>
                  </a:lnTo>
                  <a:lnTo>
                    <a:pt x="0" y="9998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3933168" cy="9903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99"/>
                </a:lnSpc>
              </a:pPr>
              <a:r>
                <a:rPr lang="en-US" sz="3999" b="1" spc="-9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Trung tâm Nền tảng công nghệ &amp; Chuyển đổi số - Viettel Networks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48287" y="3546143"/>
            <a:ext cx="13530065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spc="-25" dirty="0" err="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Đề</a:t>
            </a:r>
            <a:r>
              <a:rPr lang="en-US" sz="6000" spc="-25" dirty="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tài</a:t>
            </a:r>
            <a:r>
              <a:rPr lang="en-US" sz="6000" spc="-25" dirty="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:</a:t>
            </a:r>
          </a:p>
          <a:p>
            <a:pPr algn="ctr">
              <a:lnSpc>
                <a:spcPts val="7200"/>
              </a:lnSpc>
            </a:pPr>
            <a:r>
              <a:rPr lang="en-US" sz="6000" spc="-25" dirty="0" err="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Mã</a:t>
            </a:r>
            <a:r>
              <a:rPr lang="en-US" sz="6000" spc="-25" dirty="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hóa</a:t>
            </a:r>
            <a:r>
              <a:rPr lang="en-US" sz="6000" spc="-25" dirty="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đầu</a:t>
            </a:r>
            <a:r>
              <a:rPr lang="en-US" sz="6000" spc="-25" dirty="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cuối</a:t>
            </a:r>
            <a:r>
              <a:rPr lang="en-US" sz="6000" spc="-25" dirty="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trong</a:t>
            </a:r>
            <a:r>
              <a:rPr lang="en-US" sz="6000" spc="-25" dirty="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hệ</a:t>
            </a:r>
            <a:r>
              <a:rPr lang="en-US" sz="6000" spc="-25" dirty="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thống</a:t>
            </a:r>
            <a:r>
              <a:rPr lang="en-US" sz="6000" spc="-25" dirty="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6000" spc="-25" dirty="0" err="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nhắn</a:t>
            </a:r>
            <a:r>
              <a:rPr lang="en-US" sz="6000" spc="-25" dirty="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 tin </a:t>
            </a:r>
            <a:r>
              <a:rPr lang="en-US" sz="6000" spc="-25" dirty="0" err="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Mattermost</a:t>
            </a:r>
            <a:endParaRPr lang="en-US" sz="6000" spc="-25" dirty="0">
              <a:solidFill>
                <a:srgbClr val="FFFFFF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algn="ctr">
              <a:lnSpc>
                <a:spcPts val="7200"/>
              </a:lnSpc>
            </a:pPr>
            <a:r>
              <a:rPr lang="en-US" sz="6000" spc="-25" dirty="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Viettel Digital Talent 2025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4555509" y="8439150"/>
            <a:ext cx="3829807" cy="1738400"/>
            <a:chOff x="0" y="0"/>
            <a:chExt cx="3135876" cy="1423416"/>
          </a:xfrm>
        </p:grpSpPr>
        <p:sp>
          <p:nvSpPr>
            <p:cNvPr id="16" name="Freeform 16" descr="Graphical user interface  Description automatically generated with low confidence"/>
            <p:cNvSpPr/>
            <p:nvPr/>
          </p:nvSpPr>
          <p:spPr>
            <a:xfrm>
              <a:off x="0" y="0"/>
              <a:ext cx="3135884" cy="1423416"/>
            </a:xfrm>
            <a:custGeom>
              <a:avLst/>
              <a:gdLst/>
              <a:ahLst/>
              <a:cxnLst/>
              <a:rect l="l" t="t" r="r" b="b"/>
              <a:pathLst>
                <a:path w="3135884" h="1423416">
                  <a:moveTo>
                    <a:pt x="0" y="0"/>
                  </a:moveTo>
                  <a:lnTo>
                    <a:pt x="3135884" y="0"/>
                  </a:lnTo>
                  <a:lnTo>
                    <a:pt x="3135884" y="1423416"/>
                  </a:lnTo>
                  <a:lnTo>
                    <a:pt x="0" y="1423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35204" y="9811013"/>
            <a:ext cx="3733803" cy="27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22">
                <a:solidFill>
                  <a:srgbClr val="000000"/>
                </a:solidFill>
                <a:latin typeface="Sarabun Thin"/>
                <a:ea typeface="Sarabun Thin"/>
                <a:cs typeface="Sarabun Thin"/>
                <a:sym typeface="Sarabun Thin"/>
              </a:rPr>
              <a:t>HÀ NỘI T4/2025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8636" y="2019300"/>
            <a:ext cx="9317901" cy="1380250"/>
            <a:chOff x="0" y="0"/>
            <a:chExt cx="12423868" cy="18403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23902" cy="1840357"/>
            </a:xfrm>
            <a:custGeom>
              <a:avLst/>
              <a:gdLst/>
              <a:ahLst/>
              <a:cxnLst/>
              <a:rect l="l" t="t" r="r" b="b"/>
              <a:pathLst>
                <a:path w="12423902" h="1840357">
                  <a:moveTo>
                    <a:pt x="0" y="0"/>
                  </a:moveTo>
                  <a:lnTo>
                    <a:pt x="12423902" y="0"/>
                  </a:lnTo>
                  <a:lnTo>
                    <a:pt x="12423902" y="1840357"/>
                  </a:lnTo>
                  <a:lnTo>
                    <a:pt x="0" y="184035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4875438" y="2365327"/>
            <a:ext cx="680669" cy="680672"/>
            <a:chOff x="0" y="0"/>
            <a:chExt cx="907558" cy="9075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7542" cy="907542"/>
            </a:xfrm>
            <a:custGeom>
              <a:avLst/>
              <a:gdLst/>
              <a:ahLst/>
              <a:cxnLst/>
              <a:rect l="l" t="t" r="r" b="b"/>
              <a:pathLst>
                <a:path w="907542" h="907542">
                  <a:moveTo>
                    <a:pt x="0" y="0"/>
                  </a:moveTo>
                  <a:lnTo>
                    <a:pt x="907542" y="0"/>
                  </a:lnTo>
                  <a:lnTo>
                    <a:pt x="907542" y="907542"/>
                  </a:lnTo>
                  <a:lnTo>
                    <a:pt x="0" y="907542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35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4202079" y="2187961"/>
            <a:ext cx="1035399" cy="1035401"/>
            <a:chOff x="0" y="0"/>
            <a:chExt cx="1380532" cy="13805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0490" cy="1380490"/>
            </a:xfrm>
            <a:custGeom>
              <a:avLst/>
              <a:gdLst/>
              <a:ahLst/>
              <a:cxnLst/>
              <a:rect l="l" t="t" r="r" b="b"/>
              <a:pathLst>
                <a:path w="1380490" h="1380490">
                  <a:moveTo>
                    <a:pt x="0" y="0"/>
                  </a:moveTo>
                  <a:lnTo>
                    <a:pt x="1380490" y="0"/>
                  </a:lnTo>
                  <a:lnTo>
                    <a:pt x="1380490" y="1380490"/>
                  </a:lnTo>
                  <a:lnTo>
                    <a:pt x="0" y="1380490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810000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03040" y="341107"/>
            <a:ext cx="11853774" cy="776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NỘI DUNG CHÍNH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49118" y="2289924"/>
            <a:ext cx="486084" cy="776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688636" y="3831066"/>
            <a:ext cx="9317901" cy="1380250"/>
            <a:chOff x="0" y="0"/>
            <a:chExt cx="12423868" cy="18403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23902" cy="1840357"/>
            </a:xfrm>
            <a:custGeom>
              <a:avLst/>
              <a:gdLst/>
              <a:ahLst/>
              <a:cxnLst/>
              <a:rect l="l" t="t" r="r" b="b"/>
              <a:pathLst>
                <a:path w="12423902" h="1840357">
                  <a:moveTo>
                    <a:pt x="0" y="0"/>
                  </a:moveTo>
                  <a:lnTo>
                    <a:pt x="12423902" y="0"/>
                  </a:lnTo>
                  <a:lnTo>
                    <a:pt x="12423902" y="1840357"/>
                  </a:lnTo>
                  <a:lnTo>
                    <a:pt x="0" y="184035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-2700000">
            <a:off x="4875437" y="4177093"/>
            <a:ext cx="680668" cy="680672"/>
            <a:chOff x="0" y="0"/>
            <a:chExt cx="907558" cy="9075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7542" cy="907542"/>
            </a:xfrm>
            <a:custGeom>
              <a:avLst/>
              <a:gdLst/>
              <a:ahLst/>
              <a:cxnLst/>
              <a:rect l="l" t="t" r="r" b="b"/>
              <a:pathLst>
                <a:path w="907542" h="907542">
                  <a:moveTo>
                    <a:pt x="0" y="0"/>
                  </a:moveTo>
                  <a:lnTo>
                    <a:pt x="907542" y="0"/>
                  </a:lnTo>
                  <a:lnTo>
                    <a:pt x="907542" y="907542"/>
                  </a:lnTo>
                  <a:lnTo>
                    <a:pt x="0" y="907542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35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 rot="2700000">
            <a:off x="4202078" y="3999727"/>
            <a:ext cx="1035399" cy="1035401"/>
            <a:chOff x="0" y="0"/>
            <a:chExt cx="1380532" cy="13805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0490" cy="1380490"/>
            </a:xfrm>
            <a:custGeom>
              <a:avLst/>
              <a:gdLst/>
              <a:ahLst/>
              <a:cxnLst/>
              <a:rect l="l" t="t" r="r" b="b"/>
              <a:pathLst>
                <a:path w="1380490" h="1380490">
                  <a:moveTo>
                    <a:pt x="0" y="0"/>
                  </a:moveTo>
                  <a:lnTo>
                    <a:pt x="1380490" y="0"/>
                  </a:lnTo>
                  <a:lnTo>
                    <a:pt x="1380490" y="1380490"/>
                  </a:lnTo>
                  <a:lnTo>
                    <a:pt x="0" y="1380490"/>
                  </a:lnTo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449116" y="4101690"/>
            <a:ext cx="486084" cy="776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74287" y="2427383"/>
            <a:ext cx="7581270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ĐẶT VẤN ĐỀ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13395" y="4263045"/>
            <a:ext cx="7177808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ĐỀ XUẤT GIẢI PHÁP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065100" y="1161662"/>
            <a:ext cx="1623526" cy="68579"/>
            <a:chOff x="0" y="0"/>
            <a:chExt cx="2164702" cy="914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 rot="-23405">
            <a:off x="571182" y="433639"/>
            <a:ext cx="1867610" cy="826392"/>
            <a:chOff x="0" y="0"/>
            <a:chExt cx="2490146" cy="11018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90089" cy="1101852"/>
            </a:xfrm>
            <a:custGeom>
              <a:avLst/>
              <a:gdLst/>
              <a:ahLst/>
              <a:cxnLst/>
              <a:rect l="l" t="t" r="r" b="b"/>
              <a:pathLst>
                <a:path w="2490089" h="1101852">
                  <a:moveTo>
                    <a:pt x="0" y="0"/>
                  </a:moveTo>
                  <a:lnTo>
                    <a:pt x="2490089" y="0"/>
                  </a:lnTo>
                  <a:lnTo>
                    <a:pt x="2490089" y="1101852"/>
                  </a:lnTo>
                  <a:lnTo>
                    <a:pt x="0" y="1101852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490146" cy="1101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1</a:t>
              </a:r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688634" y="5635953"/>
            <a:ext cx="9317901" cy="1380250"/>
            <a:chOff x="0" y="0"/>
            <a:chExt cx="12423868" cy="18403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423902" cy="1840357"/>
            </a:xfrm>
            <a:custGeom>
              <a:avLst/>
              <a:gdLst/>
              <a:ahLst/>
              <a:cxnLst/>
              <a:rect l="l" t="t" r="r" b="b"/>
              <a:pathLst>
                <a:path w="12423902" h="1840357">
                  <a:moveTo>
                    <a:pt x="0" y="0"/>
                  </a:moveTo>
                  <a:lnTo>
                    <a:pt x="12423902" y="0"/>
                  </a:lnTo>
                  <a:lnTo>
                    <a:pt x="12423902" y="1840357"/>
                  </a:lnTo>
                  <a:lnTo>
                    <a:pt x="0" y="184035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 rot="-2700000">
            <a:off x="4875435" y="5981980"/>
            <a:ext cx="680669" cy="680672"/>
            <a:chOff x="0" y="0"/>
            <a:chExt cx="907558" cy="90756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07542" cy="907542"/>
            </a:xfrm>
            <a:custGeom>
              <a:avLst/>
              <a:gdLst/>
              <a:ahLst/>
              <a:cxnLst/>
              <a:rect l="l" t="t" r="r" b="b"/>
              <a:pathLst>
                <a:path w="907542" h="907542">
                  <a:moveTo>
                    <a:pt x="0" y="0"/>
                  </a:moveTo>
                  <a:lnTo>
                    <a:pt x="907542" y="0"/>
                  </a:lnTo>
                  <a:lnTo>
                    <a:pt x="907542" y="907542"/>
                  </a:lnTo>
                  <a:lnTo>
                    <a:pt x="0" y="907542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35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 rot="2700000">
            <a:off x="4202076" y="5804615"/>
            <a:ext cx="1035399" cy="1035401"/>
            <a:chOff x="0" y="0"/>
            <a:chExt cx="1380532" cy="138053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80490" cy="1380490"/>
            </a:xfrm>
            <a:custGeom>
              <a:avLst/>
              <a:gdLst/>
              <a:ahLst/>
              <a:cxnLst/>
              <a:rect l="l" t="t" r="r" b="b"/>
              <a:pathLst>
                <a:path w="1380490" h="1380490">
                  <a:moveTo>
                    <a:pt x="0" y="0"/>
                  </a:moveTo>
                  <a:lnTo>
                    <a:pt x="1380490" y="0"/>
                  </a:lnTo>
                  <a:lnTo>
                    <a:pt x="1380490" y="1380490"/>
                  </a:lnTo>
                  <a:lnTo>
                    <a:pt x="0" y="1380490"/>
                  </a:lnTo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4449114" y="5906576"/>
            <a:ext cx="486084" cy="776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913394" y="6067931"/>
            <a:ext cx="7177808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KẾT QUẢ ĐÃ LÀM ĐƯỢC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4609654" y="7514139"/>
            <a:ext cx="9317927" cy="1380267"/>
            <a:chOff x="-105308" y="-61035"/>
            <a:chExt cx="12423903" cy="1840357"/>
          </a:xfrm>
        </p:grpSpPr>
        <p:sp>
          <p:nvSpPr>
            <p:cNvPr id="37" name="Freeform 37"/>
            <p:cNvSpPr/>
            <p:nvPr/>
          </p:nvSpPr>
          <p:spPr>
            <a:xfrm>
              <a:off x="-105308" y="-61035"/>
              <a:ext cx="12423903" cy="1840357"/>
            </a:xfrm>
            <a:custGeom>
              <a:avLst/>
              <a:gdLst/>
              <a:ahLst/>
              <a:cxnLst/>
              <a:rect l="l" t="t" r="r" b="b"/>
              <a:pathLst>
                <a:path w="12423902" h="1840357">
                  <a:moveTo>
                    <a:pt x="0" y="0"/>
                  </a:moveTo>
                  <a:lnTo>
                    <a:pt x="12423902" y="0"/>
                  </a:lnTo>
                  <a:lnTo>
                    <a:pt x="12423902" y="1840357"/>
                  </a:lnTo>
                  <a:lnTo>
                    <a:pt x="0" y="184035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 rot="2700000">
            <a:off x="4202076" y="7728577"/>
            <a:ext cx="1035399" cy="1035401"/>
            <a:chOff x="0" y="0"/>
            <a:chExt cx="1380532" cy="138053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80490" cy="1380490"/>
            </a:xfrm>
            <a:custGeom>
              <a:avLst/>
              <a:gdLst/>
              <a:ahLst/>
              <a:cxnLst/>
              <a:rect l="l" t="t" r="r" b="b"/>
              <a:pathLst>
                <a:path w="1380490" h="1380490">
                  <a:moveTo>
                    <a:pt x="0" y="0"/>
                  </a:moveTo>
                  <a:lnTo>
                    <a:pt x="1380490" y="0"/>
                  </a:lnTo>
                  <a:lnTo>
                    <a:pt x="1380490" y="1380490"/>
                  </a:lnTo>
                  <a:lnTo>
                    <a:pt x="0" y="1380490"/>
                  </a:lnTo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4449114" y="7830539"/>
            <a:ext cx="48608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913394" y="7991894"/>
            <a:ext cx="7177808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ĐÁNH GIÁ KẾT QUẢ</a:t>
            </a:r>
          </a:p>
        </p:txBody>
      </p:sp>
      <p:sp>
        <p:nvSpPr>
          <p:cNvPr id="46" name="TextBox 40">
            <a:extLst>
              <a:ext uri="{FF2B5EF4-FFF2-40B4-BE49-F238E27FC236}">
                <a16:creationId xmlns:a16="http://schemas.microsoft.com/office/drawing/2014/main" id="{DEF07250-173E-B81E-52ED-C2D9BC9CFF17}"/>
              </a:ext>
            </a:extLst>
          </p:cNvPr>
          <p:cNvSpPr txBox="1"/>
          <p:nvPr/>
        </p:nvSpPr>
        <p:spPr>
          <a:xfrm>
            <a:off x="4561103" y="8771148"/>
            <a:ext cx="48608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5</a:t>
            </a:r>
          </a:p>
        </p:txBody>
      </p:sp>
      <p:sp>
        <p:nvSpPr>
          <p:cNvPr id="55" name="TextBox 40">
            <a:extLst>
              <a:ext uri="{FF2B5EF4-FFF2-40B4-BE49-F238E27FC236}">
                <a16:creationId xmlns:a16="http://schemas.microsoft.com/office/drawing/2014/main" id="{577DF97E-D005-1A97-2FAF-CAA59948540C}"/>
              </a:ext>
            </a:extLst>
          </p:cNvPr>
          <p:cNvSpPr txBox="1"/>
          <p:nvPr/>
        </p:nvSpPr>
        <p:spPr>
          <a:xfrm>
            <a:off x="4561078" y="8882026"/>
            <a:ext cx="48608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06800" y="7620000"/>
            <a:ext cx="3962550" cy="3962550"/>
            <a:chOff x="0" y="0"/>
            <a:chExt cx="5283400" cy="5283400"/>
          </a:xfrm>
        </p:grpSpPr>
        <p:sp>
          <p:nvSpPr>
            <p:cNvPr id="3" name="Freeform 3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81200" y="7620000"/>
            <a:ext cx="3962550" cy="3962550"/>
            <a:chOff x="0" y="0"/>
            <a:chExt cx="5283400" cy="5283400"/>
          </a:xfrm>
        </p:grpSpPr>
        <p:sp>
          <p:nvSpPr>
            <p:cNvPr id="5" name="Freeform 5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62800" y="-1365570"/>
            <a:ext cx="3962550" cy="3962550"/>
            <a:chOff x="0" y="0"/>
            <a:chExt cx="5283400" cy="5283400"/>
          </a:xfrm>
        </p:grpSpPr>
        <p:sp>
          <p:nvSpPr>
            <p:cNvPr id="7" name="Freeform 7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6AC0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67600" y="4592067"/>
            <a:ext cx="8048775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spc="-1" dirty="0">
                <a:solidFill>
                  <a:srgbClr val="EE0033"/>
                </a:solidFill>
                <a:latin typeface="Sarabun"/>
                <a:ea typeface="Sarabun"/>
                <a:cs typeface="Sarabun"/>
                <a:sym typeface="Sarabun"/>
              </a:rPr>
              <a:t>ĐẶT VẤN ĐỀ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10034" y="4109608"/>
            <a:ext cx="2648361" cy="2229096"/>
            <a:chOff x="0" y="0"/>
            <a:chExt cx="3531148" cy="2972128"/>
          </a:xfrm>
        </p:grpSpPr>
        <p:sp>
          <p:nvSpPr>
            <p:cNvPr id="10" name="Freeform 10"/>
            <p:cNvSpPr/>
            <p:nvPr/>
          </p:nvSpPr>
          <p:spPr>
            <a:xfrm>
              <a:off x="25400" y="25400"/>
              <a:ext cx="3480308" cy="2921381"/>
            </a:xfrm>
            <a:custGeom>
              <a:avLst/>
              <a:gdLst/>
              <a:ahLst/>
              <a:cxnLst/>
              <a:rect l="l" t="t" r="r" b="b"/>
              <a:pathLst>
                <a:path w="3480308" h="2921381">
                  <a:moveTo>
                    <a:pt x="0" y="0"/>
                  </a:moveTo>
                  <a:lnTo>
                    <a:pt x="3480308" y="0"/>
                  </a:lnTo>
                  <a:lnTo>
                    <a:pt x="3480308" y="2921381"/>
                  </a:lnTo>
                  <a:lnTo>
                    <a:pt x="0" y="29213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3531108" cy="2972181"/>
            </a:xfrm>
            <a:custGeom>
              <a:avLst/>
              <a:gdLst/>
              <a:ahLst/>
              <a:cxnLst/>
              <a:rect l="l" t="t" r="r" b="b"/>
              <a:pathLst>
                <a:path w="3531108" h="2972181">
                  <a:moveTo>
                    <a:pt x="25400" y="0"/>
                  </a:moveTo>
                  <a:lnTo>
                    <a:pt x="3505708" y="0"/>
                  </a:lnTo>
                  <a:cubicBezTo>
                    <a:pt x="3519678" y="0"/>
                    <a:pt x="3531108" y="11430"/>
                    <a:pt x="3531108" y="25400"/>
                  </a:cubicBezTo>
                  <a:lnTo>
                    <a:pt x="3531108" y="2946781"/>
                  </a:lnTo>
                  <a:cubicBezTo>
                    <a:pt x="3531108" y="2960751"/>
                    <a:pt x="3519678" y="2972181"/>
                    <a:pt x="3505708" y="2972181"/>
                  </a:cubicBezTo>
                  <a:lnTo>
                    <a:pt x="25400" y="2972181"/>
                  </a:lnTo>
                  <a:cubicBezTo>
                    <a:pt x="11430" y="2972181"/>
                    <a:pt x="0" y="2960751"/>
                    <a:pt x="0" y="294678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46781"/>
                  </a:lnTo>
                  <a:lnTo>
                    <a:pt x="25400" y="2946781"/>
                  </a:lnTo>
                  <a:lnTo>
                    <a:pt x="25400" y="2921381"/>
                  </a:lnTo>
                  <a:lnTo>
                    <a:pt x="3505708" y="2921381"/>
                  </a:lnTo>
                  <a:lnTo>
                    <a:pt x="3505708" y="2946781"/>
                  </a:lnTo>
                  <a:lnTo>
                    <a:pt x="3480308" y="2946781"/>
                  </a:lnTo>
                  <a:lnTo>
                    <a:pt x="3480308" y="25400"/>
                  </a:lnTo>
                  <a:lnTo>
                    <a:pt x="3505708" y="25400"/>
                  </a:lnTo>
                  <a:lnTo>
                    <a:pt x="350570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F003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531148" cy="2972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880"/>
                </a:lnSpc>
              </a:pPr>
              <a:r>
                <a:rPr lang="en-US" sz="9900" b="1">
                  <a:solidFill>
                    <a:srgbClr val="EF0032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5821-95EE-47C2-3C72-E46CD521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3C648C7D-E849-9BB4-1308-32AA117AF247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 err="1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Đặt</a:t>
            </a: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  <a:r>
              <a:rPr lang="en-US" sz="4200" b="1" dirty="0" err="1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vấn</a:t>
            </a: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  <a:r>
              <a:rPr lang="en-US" sz="4200" b="1" dirty="0" err="1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đề</a:t>
            </a:r>
            <a:endParaRPr lang="en-US" sz="4200" b="1" dirty="0">
              <a:solidFill>
                <a:srgbClr val="3F3F3F"/>
              </a:solidFill>
              <a:latin typeface="Sarabun Bold"/>
              <a:ea typeface="Sarabun Bold"/>
              <a:cs typeface="Sarabun Bold"/>
              <a:sym typeface="Sarabun Bold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539223A-7438-83B2-9F1A-0A7EB9E31654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5823388-56B7-6987-EE05-75A3366F14D5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DA78C41C-B4F1-3B48-8F04-2A77340137CC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1D7062-228D-DF44-A4FC-369345AD3D9D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DBAF904-886D-637C-47D9-CA6955B9D39A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AC0F7F1-4516-2FDC-A183-BB5F6B6F9A54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0EB6492-A214-0B14-95D8-FFD01C0CFE62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3DE1348-B3F8-9F66-7A42-DB78FF418565}"/>
              </a:ext>
            </a:extLst>
          </p:cNvPr>
          <p:cNvSpPr txBox="1"/>
          <p:nvPr/>
        </p:nvSpPr>
        <p:spPr>
          <a:xfrm>
            <a:off x="568390" y="1943100"/>
            <a:ext cx="1695761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Mattermost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kệnh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yêu cầu bảo mật nâng lên mức “người gửi-người nhận” trở thành trọng tâm.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Sử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dụng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đầu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cuối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trong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nền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tảng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chat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Mattermost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Tx/>
              <a:buChar char="-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marL="457200" indent="-457200">
              <a:buFontTx/>
              <a:buChar char="-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marL="457200" indent="-457200">
              <a:buFontTx/>
              <a:buChar char="-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721BE9-DCED-F797-E131-9D226818E49C}"/>
              </a:ext>
            </a:extLst>
          </p:cNvPr>
          <p:cNvGrpSpPr>
            <a:grpSpLocks noChangeAspect="1"/>
          </p:cNvGrpSpPr>
          <p:nvPr/>
        </p:nvGrpSpPr>
        <p:grpSpPr>
          <a:xfrm>
            <a:off x="15971869" y="9588023"/>
            <a:ext cx="1875758" cy="398622"/>
            <a:chOff x="0" y="0"/>
            <a:chExt cx="2501011" cy="531495"/>
          </a:xfrm>
        </p:grpSpPr>
        <p:sp>
          <p:nvSpPr>
            <p:cNvPr id="12" name="Freeform 27">
              <a:extLst>
                <a:ext uri="{FF2B5EF4-FFF2-40B4-BE49-F238E27FC236}">
                  <a16:creationId xmlns:a16="http://schemas.microsoft.com/office/drawing/2014/main" id="{F2574059-F3C7-7A8C-07BE-968B0CB52FD5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2438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06800" y="7620000"/>
            <a:ext cx="3962550" cy="3962550"/>
            <a:chOff x="0" y="0"/>
            <a:chExt cx="5283400" cy="5283400"/>
          </a:xfrm>
        </p:grpSpPr>
        <p:sp>
          <p:nvSpPr>
            <p:cNvPr id="3" name="Freeform 3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81200" y="7620000"/>
            <a:ext cx="3962550" cy="3962550"/>
            <a:chOff x="0" y="0"/>
            <a:chExt cx="5283400" cy="5283400"/>
          </a:xfrm>
        </p:grpSpPr>
        <p:sp>
          <p:nvSpPr>
            <p:cNvPr id="5" name="Freeform 5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62800" y="-1365570"/>
            <a:ext cx="3962550" cy="3962550"/>
            <a:chOff x="0" y="0"/>
            <a:chExt cx="5283400" cy="5283400"/>
          </a:xfrm>
        </p:grpSpPr>
        <p:sp>
          <p:nvSpPr>
            <p:cNvPr id="7" name="Freeform 7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6AC0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51118" y="4879209"/>
            <a:ext cx="9465281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spc="-1" dirty="0">
                <a:solidFill>
                  <a:srgbClr val="EE0033"/>
                </a:solidFill>
                <a:latin typeface="Sarabun"/>
                <a:ea typeface="Sarabun"/>
                <a:cs typeface="Sarabun"/>
                <a:sym typeface="Sarabun"/>
              </a:rPr>
              <a:t>ĐỀ XUẤT GIẢI PHÁP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10034" y="4109609"/>
            <a:ext cx="2648361" cy="2653627"/>
            <a:chOff x="0" y="0"/>
            <a:chExt cx="3531148" cy="3538169"/>
          </a:xfrm>
        </p:grpSpPr>
        <p:sp>
          <p:nvSpPr>
            <p:cNvPr id="10" name="Freeform 10"/>
            <p:cNvSpPr/>
            <p:nvPr/>
          </p:nvSpPr>
          <p:spPr>
            <a:xfrm>
              <a:off x="25400" y="30237"/>
              <a:ext cx="3480308" cy="3477757"/>
            </a:xfrm>
            <a:custGeom>
              <a:avLst/>
              <a:gdLst/>
              <a:ahLst/>
              <a:cxnLst/>
              <a:rect l="l" t="t" r="r" b="b"/>
              <a:pathLst>
                <a:path w="3480308" h="3477757">
                  <a:moveTo>
                    <a:pt x="0" y="0"/>
                  </a:moveTo>
                  <a:lnTo>
                    <a:pt x="3480308" y="0"/>
                  </a:lnTo>
                  <a:lnTo>
                    <a:pt x="3480308" y="3477758"/>
                  </a:lnTo>
                  <a:lnTo>
                    <a:pt x="0" y="3477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3531108" cy="3538222"/>
            </a:xfrm>
            <a:custGeom>
              <a:avLst/>
              <a:gdLst/>
              <a:ahLst/>
              <a:cxnLst/>
              <a:rect l="l" t="t" r="r" b="b"/>
              <a:pathLst>
                <a:path w="3531108" h="3538222">
                  <a:moveTo>
                    <a:pt x="25400" y="0"/>
                  </a:moveTo>
                  <a:lnTo>
                    <a:pt x="3505708" y="0"/>
                  </a:lnTo>
                  <a:cubicBezTo>
                    <a:pt x="3519678" y="0"/>
                    <a:pt x="3531108" y="13607"/>
                    <a:pt x="3531108" y="30237"/>
                  </a:cubicBezTo>
                  <a:lnTo>
                    <a:pt x="3531108" y="3507995"/>
                  </a:lnTo>
                  <a:cubicBezTo>
                    <a:pt x="3531108" y="3524626"/>
                    <a:pt x="3519678" y="3538222"/>
                    <a:pt x="3505708" y="3538222"/>
                  </a:cubicBezTo>
                  <a:lnTo>
                    <a:pt x="25400" y="3538222"/>
                  </a:lnTo>
                  <a:cubicBezTo>
                    <a:pt x="11430" y="3538222"/>
                    <a:pt x="0" y="3524626"/>
                    <a:pt x="0" y="3507995"/>
                  </a:cubicBezTo>
                  <a:lnTo>
                    <a:pt x="0" y="30237"/>
                  </a:lnTo>
                  <a:cubicBezTo>
                    <a:pt x="0" y="13607"/>
                    <a:pt x="11430" y="0"/>
                    <a:pt x="25400" y="0"/>
                  </a:cubicBezTo>
                  <a:moveTo>
                    <a:pt x="25400" y="60475"/>
                  </a:moveTo>
                  <a:lnTo>
                    <a:pt x="25400" y="30237"/>
                  </a:lnTo>
                  <a:lnTo>
                    <a:pt x="50800" y="30237"/>
                  </a:lnTo>
                  <a:lnTo>
                    <a:pt x="50800" y="3507995"/>
                  </a:lnTo>
                  <a:lnTo>
                    <a:pt x="25400" y="3507995"/>
                  </a:lnTo>
                  <a:lnTo>
                    <a:pt x="25400" y="3477757"/>
                  </a:lnTo>
                  <a:lnTo>
                    <a:pt x="3505708" y="3477757"/>
                  </a:lnTo>
                  <a:lnTo>
                    <a:pt x="3505708" y="3507995"/>
                  </a:lnTo>
                  <a:lnTo>
                    <a:pt x="3480308" y="3507995"/>
                  </a:lnTo>
                  <a:lnTo>
                    <a:pt x="3480308" y="30237"/>
                  </a:lnTo>
                  <a:lnTo>
                    <a:pt x="3505708" y="30237"/>
                  </a:lnTo>
                  <a:lnTo>
                    <a:pt x="3505708" y="60475"/>
                  </a:lnTo>
                  <a:lnTo>
                    <a:pt x="25400" y="60475"/>
                  </a:lnTo>
                  <a:close/>
                </a:path>
              </a:pathLst>
            </a:custGeom>
            <a:solidFill>
              <a:srgbClr val="EF003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531148" cy="353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880"/>
                </a:lnSpc>
              </a:pPr>
              <a:r>
                <a:rPr lang="en-US" sz="9900" b="1">
                  <a:solidFill>
                    <a:srgbClr val="EF0032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E2EE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905500" y="907021"/>
            <a:ext cx="13013209" cy="34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GIỚI THIỆU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AD9207-9253-BA65-69BC-F4F1C9755344}"/>
              </a:ext>
            </a:extLst>
          </p:cNvPr>
          <p:cNvSpPr txBox="1"/>
          <p:nvPr/>
        </p:nvSpPr>
        <p:spPr>
          <a:xfrm>
            <a:off x="568390" y="1943100"/>
            <a:ext cx="1735031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marL="285750" indent="-285750">
              <a:buFontTx/>
              <a:buChar char="-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suốt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2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E2EE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vẹn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A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B.</a:t>
            </a:r>
          </a:p>
        </p:txBody>
      </p:sp>
      <p:pic>
        <p:nvPicPr>
          <p:cNvPr id="17" name="Picture 16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91BB8EB3-8995-66F7-6073-AA8FBF768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84" y="5143500"/>
            <a:ext cx="5595085" cy="4745693"/>
          </a:xfrm>
          <a:prstGeom prst="rect">
            <a:avLst/>
          </a:prstGeom>
        </p:spPr>
      </p:pic>
      <p:pic>
        <p:nvPicPr>
          <p:cNvPr id="1026" name="Picture 2" descr="Qtox End To End Encryption Hoolicanvas - vrogue.co">
            <a:extLst>
              <a:ext uri="{FF2B5EF4-FFF2-40B4-BE49-F238E27FC236}">
                <a16:creationId xmlns:a16="http://schemas.microsoft.com/office/drawing/2014/main" id="{3438357F-DB95-0401-7410-3D24778AF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90" y="5145615"/>
            <a:ext cx="8794827" cy="494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4886C-947D-8A76-3136-111F7E86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386E877D-8D34-5566-D882-F83BDEE0DB56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E2EE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87A18DD-C36A-DAC2-A2B2-E6CB2507FD8E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7ADDA54-2F4D-39F3-0F01-9CA4C0E33BB8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6978B74D-A067-1E27-B509-A49416D89B0A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B891768-856D-654D-D6EA-C5F320AD3BED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6217F55-AFC8-10C2-425A-66FDBC6EACFA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3D3D152-5496-DEF5-90D9-11FD40D9432D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339BCAC-B2A0-11E7-A5C2-5EC9F7625339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1E399ED5-925B-B5A0-8A57-A372302746CF}"/>
              </a:ext>
            </a:extLst>
          </p:cNvPr>
          <p:cNvSpPr txBox="1"/>
          <p:nvPr/>
        </p:nvSpPr>
        <p:spPr>
          <a:xfrm>
            <a:off x="4905500" y="907021"/>
            <a:ext cx="13013209" cy="34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 err="1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Cách</a:t>
            </a: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 WhatsApp, Messenger </a:t>
            </a:r>
            <a:r>
              <a:rPr lang="en-US" sz="2400" b="1" dirty="0" err="1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triển</a:t>
            </a: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  <a:r>
              <a:rPr lang="en-US" sz="2400" b="1" dirty="0" err="1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khai</a:t>
            </a: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 E2EE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D1B777-90CF-748B-FDB0-0F3DFFA906F4}"/>
              </a:ext>
            </a:extLst>
          </p:cNvPr>
          <p:cNvSpPr txBox="1"/>
          <p:nvPr/>
        </p:nvSpPr>
        <p:spPr>
          <a:xfrm>
            <a:off x="736983" y="1714500"/>
            <a:ext cx="171817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Protocol</a:t>
            </a:r>
          </a:p>
          <a:p>
            <a:pPr marL="457200" indent="-4572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 Protocol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Curve25519: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Elliptic,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X25519, Ed25519.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Prekeys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Keys (IK):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Prekeys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Time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Prekeys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Diffie Hellman Key Agreement: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Triple Diffie Hellman Key Agreement: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HMAC SHA256: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Ratchet: “ratchet”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Double Ratchet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ratchet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symmetric-key ratchet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Diffie-Hellman ratchet.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Symmetric-key ratchet: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backward secrecy.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Diffie-Hellman ratchet: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forward secrecy.</a:t>
            </a:r>
          </a:p>
        </p:txBody>
      </p:sp>
      <p:pic>
        <p:nvPicPr>
          <p:cNvPr id="2050" name="Picture 2" descr="text">
            <a:extLst>
              <a:ext uri="{FF2B5EF4-FFF2-40B4-BE49-F238E27FC236}">
                <a16:creationId xmlns:a16="http://schemas.microsoft.com/office/drawing/2014/main" id="{F687C738-0776-F338-1B06-5F4590D35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627426"/>
            <a:ext cx="6726621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ext">
            <a:extLst>
              <a:ext uri="{FF2B5EF4-FFF2-40B4-BE49-F238E27FC236}">
                <a16:creationId xmlns:a16="http://schemas.microsoft.com/office/drawing/2014/main" id="{D969C40B-88C5-6393-C012-84B0217C6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0380" y="5802224"/>
            <a:ext cx="5370637" cy="4603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E8C1D09-042C-3B52-3094-2E4B2CC0494F}"/>
              </a:ext>
            </a:extLst>
          </p:cNvPr>
          <p:cNvGrpSpPr>
            <a:grpSpLocks noChangeAspect="1"/>
          </p:cNvGrpSpPr>
          <p:nvPr/>
        </p:nvGrpSpPr>
        <p:grpSpPr>
          <a:xfrm>
            <a:off x="16306800" y="9715500"/>
            <a:ext cx="1875758" cy="398622"/>
            <a:chOff x="0" y="0"/>
            <a:chExt cx="2501011" cy="531495"/>
          </a:xfrm>
        </p:grpSpPr>
        <p:sp>
          <p:nvSpPr>
            <p:cNvPr id="3" name="Freeform 27">
              <a:extLst>
                <a:ext uri="{FF2B5EF4-FFF2-40B4-BE49-F238E27FC236}">
                  <a16:creationId xmlns:a16="http://schemas.microsoft.com/office/drawing/2014/main" id="{6E45821B-0A3B-4FBA-B7BD-E151B302CE32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0563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74839-D47B-1DD4-B615-C70A1E5F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CF89679-4088-2D4E-448F-3E35B4B04FE7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E2EE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E88F425-2903-9A10-3410-6ECB5055DFA7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2138CD4-7A56-B524-A6F6-285EA30DAEF9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0B104B2-78D6-83D9-2372-DFC453D6ABF0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385FEE7-19C2-D522-1CBA-704277E71EEA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D997797-EEE2-6113-8C71-74498D0279E0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EEA4C1C-C263-A391-2BF5-147A312B5F41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E22C6C1-53A1-39AD-3E44-CEF1E6A36F75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38FDAB9-6891-4345-4AFF-32F415A7979C}"/>
              </a:ext>
            </a:extLst>
          </p:cNvPr>
          <p:cNvSpPr txBox="1"/>
          <p:nvPr/>
        </p:nvSpPr>
        <p:spPr>
          <a:xfrm>
            <a:off x="4905500" y="907021"/>
            <a:ext cx="13013209" cy="34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 err="1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Cách</a:t>
            </a: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 WhatsApp, Messenger </a:t>
            </a:r>
            <a:r>
              <a:rPr lang="en-US" sz="2400" b="1" dirty="0" err="1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triển</a:t>
            </a: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  <a:r>
              <a:rPr lang="en-US" sz="2400" b="1" dirty="0" err="1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khai</a:t>
            </a: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 E2EE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781A8-115B-69F0-92BD-ECA29E1EDC02}"/>
              </a:ext>
            </a:extLst>
          </p:cNvPr>
          <p:cNvSpPr txBox="1"/>
          <p:nvPr/>
        </p:nvSpPr>
        <p:spPr>
          <a:xfrm>
            <a:off x="736983" y="1714500"/>
            <a:ext cx="17181726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Protocol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 Protocol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Publishing Keys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IK, SPK, OPKs,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SPK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Sign(Encode(SPK), IK)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IK)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OPKs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upload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AutoNum type="arabicPeriod" startAt="2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X3DH,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server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3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633859-8909-D323-8C1B-E0346E17D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5295900"/>
            <a:ext cx="5029200" cy="247371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4D1C367-ECCA-4CF9-5B87-38B833FC38FE}"/>
              </a:ext>
            </a:extLst>
          </p:cNvPr>
          <p:cNvGrpSpPr>
            <a:grpSpLocks noChangeAspect="1"/>
          </p:cNvGrpSpPr>
          <p:nvPr/>
        </p:nvGrpSpPr>
        <p:grpSpPr>
          <a:xfrm>
            <a:off x="16083894" y="9732823"/>
            <a:ext cx="1875758" cy="398622"/>
            <a:chOff x="0" y="0"/>
            <a:chExt cx="2501011" cy="531495"/>
          </a:xfrm>
        </p:grpSpPr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3D9D74DE-AFF7-9A80-ABA7-83DFDFEFE2BA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5467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01835-4FA7-35CA-46DA-88F7FD164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0FC5CDDC-67A8-897F-355A-C273DD4E73E7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E2EE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165D1DF-D881-2CB3-CCA5-CD3D6C2D7055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178A8B-0865-6929-E305-BD5D2D11A8D7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0111937-29F0-69CD-6694-B83FC6E0EEF0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A29A1B-B7F8-9B7A-7DBB-ADCAA15D7213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D72B7F3-28ED-FADA-71B6-DA70A55E5DD4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1D74713-F47C-E654-2C0B-D079F3A64986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D13E2BE-EF3E-C915-AE2F-44C0F8CC44E1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5353289-F840-936B-0977-37C8D75D0873}"/>
              </a:ext>
            </a:extLst>
          </p:cNvPr>
          <p:cNvSpPr txBox="1"/>
          <p:nvPr/>
        </p:nvSpPr>
        <p:spPr>
          <a:xfrm>
            <a:off x="4905500" y="907021"/>
            <a:ext cx="13013209" cy="34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EA3545"/>
                </a:solidFill>
                <a:latin typeface="Sarabun Bold"/>
                <a:ea typeface="Sarabun Bold"/>
                <a:cs typeface="Sarabun Bold"/>
                <a:sym typeface="Sarabun Bold"/>
              </a:rPr>
              <a:t>Double Ratchet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E970E3-EC52-5096-5199-9DB3BB831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1621437"/>
            <a:ext cx="5640669" cy="77585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078370C-C9EA-1D0C-2E71-4ED7B4CA98DD}"/>
              </a:ext>
            </a:extLst>
          </p:cNvPr>
          <p:cNvSpPr txBox="1"/>
          <p:nvPr/>
        </p:nvSpPr>
        <p:spPr>
          <a:xfrm>
            <a:off x="568390" y="1943100"/>
            <a:ext cx="872801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Bud: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Key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Bud,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Diffie Hellman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Sending Chain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Bud,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Key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Adam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Private Key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DH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Receiving Chain (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Sending Chain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Adam).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tơi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Public, Private Key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Key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Adam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Sending Chain</a:t>
            </a:r>
          </a:p>
          <a:p>
            <a:pPr marL="342900" indent="-342900">
              <a:buFont typeface="+mj-lt"/>
              <a:buAutoNum type="arabicPeriod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Sending, Receiving Chain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Symmetric-key Ratchet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 Key,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BACD157-2D32-2CD9-70EE-2DC2F5AF6E29}"/>
              </a:ext>
            </a:extLst>
          </p:cNvPr>
          <p:cNvGrpSpPr>
            <a:grpSpLocks noChangeAspect="1"/>
          </p:cNvGrpSpPr>
          <p:nvPr/>
        </p:nvGrpSpPr>
        <p:grpSpPr>
          <a:xfrm>
            <a:off x="16230600" y="9749557"/>
            <a:ext cx="1875758" cy="398622"/>
            <a:chOff x="0" y="0"/>
            <a:chExt cx="2501011" cy="531495"/>
          </a:xfrm>
        </p:grpSpPr>
        <p:sp>
          <p:nvSpPr>
            <p:cNvPr id="3" name="Freeform 27">
              <a:extLst>
                <a:ext uri="{FF2B5EF4-FFF2-40B4-BE49-F238E27FC236}">
                  <a16:creationId xmlns:a16="http://schemas.microsoft.com/office/drawing/2014/main" id="{2A0926F9-563F-D427-22D8-3C4C66333347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0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340DB-A854-E700-A3B1-209567A7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D3E4CE8-5464-5B65-C332-E519D57FB703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HƯỚNG TRIỂN KHAI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1F66147-95B1-2CAF-0567-040D36AE453C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3292F9D-380E-A633-345F-22AAD6468978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E98190C-B96F-DFAA-8341-2DBFF91B3177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19255DE-01B1-E201-A10A-9598C1475792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20EF5F2-B3C5-7F21-F4CD-23349F83ACEF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5DD3C44-54CB-5103-6C5B-3BA48B57DAB6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95337EB-FFEF-A5AC-981E-EC162FE6EBA0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78ED339-74A2-9A98-7882-1040FDADFFCC}"/>
              </a:ext>
            </a:extLst>
          </p:cNvPr>
          <p:cNvSpPr txBox="1"/>
          <p:nvPr/>
        </p:nvSpPr>
        <p:spPr>
          <a:xfrm>
            <a:off x="568390" y="1943100"/>
            <a:ext cx="1695761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Upload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Tx/>
              <a:buChar char="-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(Lưu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IndexedDB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upload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server.</a:t>
            </a:r>
          </a:p>
          <a:p>
            <a:pPr marL="342900" indent="-342900">
              <a:buFontTx/>
              <a:buChar char="-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F0F8D9B-301A-8A5F-0A5D-A37C0E67A5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9B523A-77B5-6CB3-B201-77C248A13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74" y="4573227"/>
            <a:ext cx="5420126" cy="4488915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9ACF5D-2D2D-35B0-0D28-7B6516161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5520008"/>
            <a:ext cx="10256869" cy="259535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A0C7A07-6023-AFA7-A5C5-9CA703B75ADA}"/>
              </a:ext>
            </a:extLst>
          </p:cNvPr>
          <p:cNvGrpSpPr>
            <a:grpSpLocks noChangeAspect="1"/>
          </p:cNvGrpSpPr>
          <p:nvPr/>
        </p:nvGrpSpPr>
        <p:grpSpPr>
          <a:xfrm>
            <a:off x="16230600" y="9715500"/>
            <a:ext cx="1875758" cy="398622"/>
            <a:chOff x="0" y="0"/>
            <a:chExt cx="2501011" cy="531495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F7D49B04-B5CA-D61B-F12A-EABA72EB02ED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6629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HƯỚNG TRIỂN KHAI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21F38DA-749B-58C2-C057-6FF7F74CB0EC}"/>
              </a:ext>
            </a:extLst>
          </p:cNvPr>
          <p:cNvSpPr txBox="1"/>
          <p:nvPr/>
        </p:nvSpPr>
        <p:spPr>
          <a:xfrm>
            <a:off x="568390" y="1403441"/>
            <a:ext cx="1726241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Mattermost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Coi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Channel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 Sender Key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nhóm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thừa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1-1. Khi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muốn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message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Sender Key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mọi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qua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1-1.</a:t>
            </a:r>
          </a:p>
          <a:p>
            <a:pPr marL="285750" indent="-285750">
              <a:buFontTx/>
              <a:buChar char="-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Quá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diễn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Sinh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ngẫu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Chain Key 32 Bytes.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ngẫu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cặp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Signature Key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qua Curve25519.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hợp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32 bytes Chain Key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Public Key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cặp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Signature Key  Sender Key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Sender Key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từng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qua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1-1.</a:t>
            </a:r>
          </a:p>
          <a:p>
            <a:pPr marL="514350" indent="-514350">
              <a:buAutoNum type="arabicPeriod" startAt="2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lấy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Message Key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Chain Key,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Chain Key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mới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thuật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AES-256.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Signature Key.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server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server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fan-out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mọi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3" name="Picture 12" descr="A diagram of a network&#10;&#10;AI-generated content may be incorrect.">
            <a:extLst>
              <a:ext uri="{FF2B5EF4-FFF2-40B4-BE49-F238E27FC236}">
                <a16:creationId xmlns:a16="http://schemas.microsoft.com/office/drawing/2014/main" id="{4C157EF2-78FE-6550-E6CA-6254FE938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00" y="3040694"/>
            <a:ext cx="4607700" cy="3532261"/>
          </a:xfrm>
          <a:prstGeom prst="rect">
            <a:avLst/>
          </a:prstGeom>
        </p:spPr>
      </p:pic>
      <p:pic>
        <p:nvPicPr>
          <p:cNvPr id="17" name="Picture 16" descr="A diagram of a server&#10;&#10;AI-generated content may be incorrect.">
            <a:extLst>
              <a:ext uri="{FF2B5EF4-FFF2-40B4-BE49-F238E27FC236}">
                <a16:creationId xmlns:a16="http://schemas.microsoft.com/office/drawing/2014/main" id="{F91EC0BC-9EAC-86E0-C0A5-4C51DE6CC4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121" y="6535992"/>
            <a:ext cx="6400800" cy="372825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ECCAF24-B77D-EA1B-9109-2AF25BFAACDC}"/>
              </a:ext>
            </a:extLst>
          </p:cNvPr>
          <p:cNvGrpSpPr>
            <a:grpSpLocks noChangeAspect="1"/>
          </p:cNvGrpSpPr>
          <p:nvPr/>
        </p:nvGrpSpPr>
        <p:grpSpPr>
          <a:xfrm>
            <a:off x="16230600" y="9794837"/>
            <a:ext cx="1875758" cy="398622"/>
            <a:chOff x="0" y="0"/>
            <a:chExt cx="2501011" cy="531495"/>
          </a:xfrm>
        </p:grpSpPr>
        <p:sp>
          <p:nvSpPr>
            <p:cNvPr id="3" name="Freeform 27">
              <a:extLst>
                <a:ext uri="{FF2B5EF4-FFF2-40B4-BE49-F238E27FC236}">
                  <a16:creationId xmlns:a16="http://schemas.microsoft.com/office/drawing/2014/main" id="{06A03D2B-0934-4B7A-839B-45AD82F95B45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82071-BCAF-7348-870D-8D1281FA7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C81189-29E6-CDED-28B4-42CB4B0185F4}"/>
              </a:ext>
            </a:extLst>
          </p:cNvPr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140FAFF-1CE6-A74F-E9AB-659D96ADE749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85872C12-A888-B855-F8FF-B1C3961B3091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HƯỚNG TRIỂN KHAI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8A10E5C-1603-AD56-C78A-EEF398BC4935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E288ECF-BBD5-2A5E-14B4-A0E3F1B2E21C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891D2B7-5A32-9ED9-85AB-4F58314F4192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8F9171-6A0B-9944-3ADA-7FEC3E854B95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979BCB7-8AA2-4DCD-3E02-BF0FD51AD6F3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1FB7820-4D2C-FAF0-AC29-BB7522AD4ACC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24FF415-287A-5F0B-1D57-7B0A85D52777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2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6156A1E-D241-86D1-836E-42A19F84D81A}"/>
              </a:ext>
            </a:extLst>
          </p:cNvPr>
          <p:cNvSpPr txBox="1"/>
          <p:nvPr/>
        </p:nvSpPr>
        <p:spPr>
          <a:xfrm>
            <a:off x="550193" y="1943100"/>
            <a:ext cx="172624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Lưu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trữ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+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tìm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kiếm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+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lưu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IndexedDB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phía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dùng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Các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truy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lấy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về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+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tế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).</a:t>
            </a:r>
          </a:p>
          <a:p>
            <a:pPr marL="285750" indent="-285750"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Việc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lưu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phép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tìm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kiếm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phía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18" name="Picture 1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30084A1-AC07-BE9B-782D-FCEC8B1FB7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760" y="4054278"/>
            <a:ext cx="12023799" cy="578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04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06800" y="7620000"/>
            <a:ext cx="3962550" cy="3962550"/>
            <a:chOff x="0" y="0"/>
            <a:chExt cx="5283400" cy="5283400"/>
          </a:xfrm>
        </p:grpSpPr>
        <p:sp>
          <p:nvSpPr>
            <p:cNvPr id="3" name="Freeform 3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81200" y="7620000"/>
            <a:ext cx="3962550" cy="3962550"/>
            <a:chOff x="0" y="0"/>
            <a:chExt cx="5283400" cy="5283400"/>
          </a:xfrm>
        </p:grpSpPr>
        <p:sp>
          <p:nvSpPr>
            <p:cNvPr id="5" name="Freeform 5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62800" y="-1365570"/>
            <a:ext cx="3962550" cy="3962550"/>
            <a:chOff x="0" y="0"/>
            <a:chExt cx="5283400" cy="5283400"/>
          </a:xfrm>
        </p:grpSpPr>
        <p:sp>
          <p:nvSpPr>
            <p:cNvPr id="7" name="Freeform 7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6AC0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51118" y="4879209"/>
            <a:ext cx="9770081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spc="-1" dirty="0">
                <a:solidFill>
                  <a:srgbClr val="EE0033"/>
                </a:solidFill>
                <a:latin typeface="Sarabun"/>
                <a:ea typeface="Sarabun"/>
                <a:cs typeface="Sarabun"/>
                <a:sym typeface="Sarabun"/>
              </a:rPr>
              <a:t>KẾT QUẢ ĐÃ LÀM ĐƯỢC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10034" y="4109609"/>
            <a:ext cx="2648361" cy="2653627"/>
            <a:chOff x="0" y="0"/>
            <a:chExt cx="3531148" cy="3538169"/>
          </a:xfrm>
        </p:grpSpPr>
        <p:sp>
          <p:nvSpPr>
            <p:cNvPr id="10" name="Freeform 10"/>
            <p:cNvSpPr/>
            <p:nvPr/>
          </p:nvSpPr>
          <p:spPr>
            <a:xfrm>
              <a:off x="25400" y="30237"/>
              <a:ext cx="3480308" cy="3477757"/>
            </a:xfrm>
            <a:custGeom>
              <a:avLst/>
              <a:gdLst/>
              <a:ahLst/>
              <a:cxnLst/>
              <a:rect l="l" t="t" r="r" b="b"/>
              <a:pathLst>
                <a:path w="3480308" h="3477757">
                  <a:moveTo>
                    <a:pt x="0" y="0"/>
                  </a:moveTo>
                  <a:lnTo>
                    <a:pt x="3480308" y="0"/>
                  </a:lnTo>
                  <a:lnTo>
                    <a:pt x="3480308" y="3477758"/>
                  </a:lnTo>
                  <a:lnTo>
                    <a:pt x="0" y="3477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3531108" cy="3538222"/>
            </a:xfrm>
            <a:custGeom>
              <a:avLst/>
              <a:gdLst/>
              <a:ahLst/>
              <a:cxnLst/>
              <a:rect l="l" t="t" r="r" b="b"/>
              <a:pathLst>
                <a:path w="3531108" h="3538222">
                  <a:moveTo>
                    <a:pt x="25400" y="0"/>
                  </a:moveTo>
                  <a:lnTo>
                    <a:pt x="3505708" y="0"/>
                  </a:lnTo>
                  <a:cubicBezTo>
                    <a:pt x="3519678" y="0"/>
                    <a:pt x="3531108" y="13607"/>
                    <a:pt x="3531108" y="30237"/>
                  </a:cubicBezTo>
                  <a:lnTo>
                    <a:pt x="3531108" y="3507995"/>
                  </a:lnTo>
                  <a:cubicBezTo>
                    <a:pt x="3531108" y="3524626"/>
                    <a:pt x="3519678" y="3538222"/>
                    <a:pt x="3505708" y="3538222"/>
                  </a:cubicBezTo>
                  <a:lnTo>
                    <a:pt x="25400" y="3538222"/>
                  </a:lnTo>
                  <a:cubicBezTo>
                    <a:pt x="11430" y="3538222"/>
                    <a:pt x="0" y="3524626"/>
                    <a:pt x="0" y="3507995"/>
                  </a:cubicBezTo>
                  <a:lnTo>
                    <a:pt x="0" y="30237"/>
                  </a:lnTo>
                  <a:cubicBezTo>
                    <a:pt x="0" y="13607"/>
                    <a:pt x="11430" y="0"/>
                    <a:pt x="25400" y="0"/>
                  </a:cubicBezTo>
                  <a:moveTo>
                    <a:pt x="25400" y="60475"/>
                  </a:moveTo>
                  <a:lnTo>
                    <a:pt x="25400" y="30237"/>
                  </a:lnTo>
                  <a:lnTo>
                    <a:pt x="50800" y="30237"/>
                  </a:lnTo>
                  <a:lnTo>
                    <a:pt x="50800" y="3507995"/>
                  </a:lnTo>
                  <a:lnTo>
                    <a:pt x="25400" y="3507995"/>
                  </a:lnTo>
                  <a:lnTo>
                    <a:pt x="25400" y="3477757"/>
                  </a:lnTo>
                  <a:lnTo>
                    <a:pt x="3505708" y="3477757"/>
                  </a:lnTo>
                  <a:lnTo>
                    <a:pt x="3505708" y="3507995"/>
                  </a:lnTo>
                  <a:lnTo>
                    <a:pt x="3480308" y="3507995"/>
                  </a:lnTo>
                  <a:lnTo>
                    <a:pt x="3480308" y="30237"/>
                  </a:lnTo>
                  <a:lnTo>
                    <a:pt x="3505708" y="30237"/>
                  </a:lnTo>
                  <a:lnTo>
                    <a:pt x="3505708" y="60475"/>
                  </a:lnTo>
                  <a:lnTo>
                    <a:pt x="25400" y="60475"/>
                  </a:lnTo>
                  <a:close/>
                </a:path>
              </a:pathLst>
            </a:custGeom>
            <a:solidFill>
              <a:srgbClr val="EF003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531148" cy="353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880"/>
                </a:lnSpc>
              </a:pPr>
              <a:r>
                <a:rPr lang="en-US" sz="9900" b="1">
                  <a:solidFill>
                    <a:srgbClr val="EF0032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44E14-B1B5-137C-7EE0-4DE60B56C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31A226-4ADC-F8F3-5AD3-BD06683BF977}"/>
              </a:ext>
            </a:extLst>
          </p:cNvPr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122F10A-EB76-293C-F18B-8D66C16A989D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DBD42E94-840B-0BC2-A1AE-FD41509D8D73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KẾT QUẢ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D37E7FB-54CD-2472-D38E-7F2B32A2B3F6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3B216D-4AAF-A57A-35BE-CCABD3FDFE50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6248F5C3-5BCE-4220-FC60-9D17A037EE85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D2EBBD-014F-94D5-9535-3E4D121A968A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22318FF-4EE2-64B2-1F4D-49B75C334B0A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13EDD9D-B12C-B0B1-9FF2-AC4A60883D1F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3BFAAAC-1334-BFF6-B456-83519E75F0C8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3</a:t>
              </a:r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AB74FECF-9ADA-4833-AB08-44F305BBF980}"/>
              </a:ext>
            </a:extLst>
          </p:cNvPr>
          <p:cNvSpPr txBox="1"/>
          <p:nvPr/>
        </p:nvSpPr>
        <p:spPr>
          <a:xfrm>
            <a:off x="152400" y="1660557"/>
            <a:ext cx="17754600" cy="8083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7071" lvl="1" indent="-438536" algn="l">
              <a:lnSpc>
                <a:spcPts val="4874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Triển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khai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sinh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khóa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người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dùng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và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upload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các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khóa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công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khai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lên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phía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server: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Đăng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ký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3 API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phục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vụ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cho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xoay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quanh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việc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upload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khóa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+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Lấy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khóa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của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người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dùng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khác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về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phục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vụ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cho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việc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tạo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session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Mỗi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đăng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nhập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cần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kiểm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tra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đăng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ký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khóa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upload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lên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server (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nếu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cần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).</a:t>
            </a:r>
          </a:p>
          <a:p>
            <a:pPr marL="438535" lvl="1" algn="l">
              <a:lnSpc>
                <a:spcPts val="4874"/>
              </a:lnSpc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Sarabun"/>
              <a:cs typeface="Times New Roman" panose="02020603050405020304" pitchFamily="18" charset="0"/>
              <a:sym typeface="Sarabun"/>
            </a:endParaRPr>
          </a:p>
          <a:p>
            <a:pPr marL="895735" lvl="1" indent="-457200" algn="l">
              <a:lnSpc>
                <a:spcPts val="4874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Tạo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phiên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giải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mã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mã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hóa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tin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nhắn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: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Khi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gửi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đầu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tiên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thực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hiện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lấy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khóa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của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người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dùng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kia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về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tạo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khóa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cần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thiết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.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Sử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dụng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Sender Key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của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bản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thân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mã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hóa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truyền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.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Với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nhận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được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đang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online (qua WebSocket),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thực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hiện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giải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mã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trực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tiếp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lưu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indexedDB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render UI.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Với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chưa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đọc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lấy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thông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qua API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hoặc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trong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một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trường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hợp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scroll up/down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thì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sẽ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giải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mã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lần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lượt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lưu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indexedDB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.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Cần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đảm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bảo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chỉ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được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giải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mã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1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lần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duy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nhất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(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có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thể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tính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đến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việc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xóa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khỏi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DB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phía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server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tránh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xét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2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lần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).</a:t>
            </a:r>
          </a:p>
          <a:p>
            <a:pPr marL="895735" lvl="1" indent="-457200" algn="l">
              <a:lnSpc>
                <a:spcPts val="4874"/>
              </a:lnSpc>
              <a:buFontTx/>
              <a:buChar char="-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Sarabun"/>
              <a:cs typeface="Times New Roman" panose="02020603050405020304" pitchFamily="18" charset="0"/>
              <a:sym typeface="Sarabun"/>
            </a:endParaRPr>
          </a:p>
          <a:p>
            <a:pPr marL="781435" lvl="1" indent="-342900" algn="l">
              <a:lnSpc>
                <a:spcPts val="4874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Lưu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trữ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tin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nhắn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+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Tìm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kiếm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:</a:t>
            </a:r>
          </a:p>
          <a:p>
            <a:pPr marL="438535" lvl="1" algn="l">
              <a:lnSpc>
                <a:spcPts val="4874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-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Sử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dụng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thư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viện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Dexie + Mini search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phục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vụ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lưu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trữ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tin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nhắn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trên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indexedDB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đánh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chỉ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mục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tìm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kiếm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Sarabun"/>
                <a:cs typeface="Times New Roman" panose="02020603050405020304" pitchFamily="18" charset="0"/>
                <a:sym typeface="Sarabun"/>
              </a:rPr>
              <a:t>.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Sarabun"/>
              <a:cs typeface="Times New Roman" panose="02020603050405020304" pitchFamily="18" charset="0"/>
              <a:sym typeface="Sarabun"/>
            </a:endParaRPr>
          </a:p>
        </p:txBody>
      </p:sp>
    </p:spTree>
    <p:extLst>
      <p:ext uri="{BB962C8B-B14F-4D97-AF65-F5344CB8AC3E}">
        <p14:creationId xmlns:p14="http://schemas.microsoft.com/office/powerpoint/2010/main" val="2037537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KẾT QUẢ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3</a:t>
              </a:r>
            </a:p>
          </p:txBody>
        </p:sp>
      </p:grpSp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95302432-79F1-F532-4A45-CCB5EB259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03" y="3565634"/>
            <a:ext cx="6473145" cy="22750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AA409C-E7A3-72CC-E246-F94770517092}"/>
              </a:ext>
            </a:extLst>
          </p:cNvPr>
          <p:cNvSpPr txBox="1"/>
          <p:nvPr/>
        </p:nvSpPr>
        <p:spPr>
          <a:xfrm>
            <a:off x="2743200" y="7689857"/>
            <a:ext cx="1575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EDCFB1-3294-FEBA-706E-1894B8522C0B}"/>
              </a:ext>
            </a:extLst>
          </p:cNvPr>
          <p:cNvSpPr txBox="1"/>
          <p:nvPr/>
        </p:nvSpPr>
        <p:spPr>
          <a:xfrm>
            <a:off x="10439400" y="7518341"/>
            <a:ext cx="70583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B59B5CF-AB41-384F-9CE0-B4503C1DCDB1}"/>
              </a:ext>
            </a:extLst>
          </p:cNvPr>
          <p:cNvSpPr/>
          <p:nvPr/>
        </p:nvSpPr>
        <p:spPr>
          <a:xfrm>
            <a:off x="7777731" y="4468092"/>
            <a:ext cx="1905000" cy="4701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9567A8-FEB5-FD49-1695-14F88E90F1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242" y="2699661"/>
            <a:ext cx="7367692" cy="4818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06800" y="7620000"/>
            <a:ext cx="3962550" cy="3962550"/>
            <a:chOff x="0" y="0"/>
            <a:chExt cx="5283400" cy="5283400"/>
          </a:xfrm>
        </p:grpSpPr>
        <p:sp>
          <p:nvSpPr>
            <p:cNvPr id="3" name="Freeform 3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81200" y="7620000"/>
            <a:ext cx="3962550" cy="3962550"/>
            <a:chOff x="0" y="0"/>
            <a:chExt cx="5283400" cy="5283400"/>
          </a:xfrm>
        </p:grpSpPr>
        <p:sp>
          <p:nvSpPr>
            <p:cNvPr id="5" name="Freeform 5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62800" y="-1365570"/>
            <a:ext cx="3962550" cy="3962550"/>
            <a:chOff x="0" y="0"/>
            <a:chExt cx="5283400" cy="5283400"/>
          </a:xfrm>
        </p:grpSpPr>
        <p:sp>
          <p:nvSpPr>
            <p:cNvPr id="7" name="Freeform 7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6AC0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51118" y="4879209"/>
            <a:ext cx="7941281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spc="-1" dirty="0">
                <a:solidFill>
                  <a:srgbClr val="EE0033"/>
                </a:solidFill>
                <a:latin typeface="Sarabun"/>
                <a:ea typeface="Sarabun"/>
                <a:cs typeface="Sarabun"/>
                <a:sym typeface="Sarabun"/>
              </a:rPr>
              <a:t>ĐÁNH GIÁ KẾT QUẢ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10034" y="4109609"/>
            <a:ext cx="2648361" cy="2653627"/>
            <a:chOff x="0" y="0"/>
            <a:chExt cx="3531148" cy="3538169"/>
          </a:xfrm>
        </p:grpSpPr>
        <p:sp>
          <p:nvSpPr>
            <p:cNvPr id="10" name="Freeform 10"/>
            <p:cNvSpPr/>
            <p:nvPr/>
          </p:nvSpPr>
          <p:spPr>
            <a:xfrm>
              <a:off x="25400" y="30237"/>
              <a:ext cx="3480308" cy="3477757"/>
            </a:xfrm>
            <a:custGeom>
              <a:avLst/>
              <a:gdLst/>
              <a:ahLst/>
              <a:cxnLst/>
              <a:rect l="l" t="t" r="r" b="b"/>
              <a:pathLst>
                <a:path w="3480308" h="3477757">
                  <a:moveTo>
                    <a:pt x="0" y="0"/>
                  </a:moveTo>
                  <a:lnTo>
                    <a:pt x="3480308" y="0"/>
                  </a:lnTo>
                  <a:lnTo>
                    <a:pt x="3480308" y="3477758"/>
                  </a:lnTo>
                  <a:lnTo>
                    <a:pt x="0" y="3477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3531108" cy="3538222"/>
            </a:xfrm>
            <a:custGeom>
              <a:avLst/>
              <a:gdLst/>
              <a:ahLst/>
              <a:cxnLst/>
              <a:rect l="l" t="t" r="r" b="b"/>
              <a:pathLst>
                <a:path w="3531108" h="3538222">
                  <a:moveTo>
                    <a:pt x="25400" y="0"/>
                  </a:moveTo>
                  <a:lnTo>
                    <a:pt x="3505708" y="0"/>
                  </a:lnTo>
                  <a:cubicBezTo>
                    <a:pt x="3519678" y="0"/>
                    <a:pt x="3531108" y="13607"/>
                    <a:pt x="3531108" y="30237"/>
                  </a:cubicBezTo>
                  <a:lnTo>
                    <a:pt x="3531108" y="3507995"/>
                  </a:lnTo>
                  <a:cubicBezTo>
                    <a:pt x="3531108" y="3524626"/>
                    <a:pt x="3519678" y="3538222"/>
                    <a:pt x="3505708" y="3538222"/>
                  </a:cubicBezTo>
                  <a:lnTo>
                    <a:pt x="25400" y="3538222"/>
                  </a:lnTo>
                  <a:cubicBezTo>
                    <a:pt x="11430" y="3538222"/>
                    <a:pt x="0" y="3524626"/>
                    <a:pt x="0" y="3507995"/>
                  </a:cubicBezTo>
                  <a:lnTo>
                    <a:pt x="0" y="30237"/>
                  </a:lnTo>
                  <a:cubicBezTo>
                    <a:pt x="0" y="13607"/>
                    <a:pt x="11430" y="0"/>
                    <a:pt x="25400" y="0"/>
                  </a:cubicBezTo>
                  <a:moveTo>
                    <a:pt x="25400" y="60475"/>
                  </a:moveTo>
                  <a:lnTo>
                    <a:pt x="25400" y="30237"/>
                  </a:lnTo>
                  <a:lnTo>
                    <a:pt x="50800" y="30237"/>
                  </a:lnTo>
                  <a:lnTo>
                    <a:pt x="50800" y="3507995"/>
                  </a:lnTo>
                  <a:lnTo>
                    <a:pt x="25400" y="3507995"/>
                  </a:lnTo>
                  <a:lnTo>
                    <a:pt x="25400" y="3477757"/>
                  </a:lnTo>
                  <a:lnTo>
                    <a:pt x="3505708" y="3477757"/>
                  </a:lnTo>
                  <a:lnTo>
                    <a:pt x="3505708" y="3507995"/>
                  </a:lnTo>
                  <a:lnTo>
                    <a:pt x="3480308" y="3507995"/>
                  </a:lnTo>
                  <a:lnTo>
                    <a:pt x="3480308" y="30237"/>
                  </a:lnTo>
                  <a:lnTo>
                    <a:pt x="3505708" y="30237"/>
                  </a:lnTo>
                  <a:lnTo>
                    <a:pt x="3505708" y="60475"/>
                  </a:lnTo>
                  <a:lnTo>
                    <a:pt x="25400" y="60475"/>
                  </a:lnTo>
                  <a:close/>
                </a:path>
              </a:pathLst>
            </a:custGeom>
            <a:solidFill>
              <a:srgbClr val="EF003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531148" cy="3538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880"/>
                </a:lnSpc>
              </a:pPr>
              <a:r>
                <a:rPr lang="en-US" sz="9900" b="1">
                  <a:solidFill>
                    <a:srgbClr val="EF0032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ĐÁNH GIÁ KẾT QUẢ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4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-27039" y="2455584"/>
            <a:ext cx="18135600" cy="6710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2678" lvl="1" indent="-457200" algn="l">
              <a:lnSpc>
                <a:spcPts val="5285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vượt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codebase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mattermost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Lưu “skipped message keys”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out-of-order messages.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load message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đảm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bảo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quá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nặng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tốc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đảm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bảo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nghiệm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&amp;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thiết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thiết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phép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cũ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lai 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đồng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tệp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kèm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ảnh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video, file,…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1894C-0333-B584-09C0-8D8D11E0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B41E147-90E7-FCAB-7053-F2DBB71649F7}"/>
              </a:ext>
            </a:extLst>
          </p:cNvPr>
          <p:cNvGrpSpPr>
            <a:grpSpLocks noChangeAspect="1"/>
          </p:cNvGrpSpPr>
          <p:nvPr/>
        </p:nvGrpSpPr>
        <p:grpSpPr>
          <a:xfrm>
            <a:off x="16134352" y="9635640"/>
            <a:ext cx="1875781" cy="398603"/>
            <a:chOff x="0" y="0"/>
            <a:chExt cx="2501042" cy="5314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C8D0670-7678-C710-CE41-C803B8D49065}"/>
                </a:ext>
              </a:extLst>
            </p:cNvPr>
            <p:cNvSpPr/>
            <p:nvPr/>
          </p:nvSpPr>
          <p:spPr>
            <a:xfrm>
              <a:off x="0" y="0"/>
              <a:ext cx="2501011" cy="531495"/>
            </a:xfrm>
            <a:custGeom>
              <a:avLst/>
              <a:gdLst/>
              <a:ahLst/>
              <a:cxnLst/>
              <a:rect l="l" t="t" r="r" b="b"/>
              <a:pathLst>
                <a:path w="2501011" h="531495">
                  <a:moveTo>
                    <a:pt x="0" y="0"/>
                  </a:moveTo>
                  <a:lnTo>
                    <a:pt x="2501011" y="0"/>
                  </a:lnTo>
                  <a:lnTo>
                    <a:pt x="2501011" y="531495"/>
                  </a:lnTo>
                  <a:lnTo>
                    <a:pt x="0" y="53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8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CF19C433-9F80-CAFC-043C-DBBC6E0EB518}"/>
              </a:ext>
            </a:extLst>
          </p:cNvPr>
          <p:cNvSpPr txBox="1"/>
          <p:nvPr/>
        </p:nvSpPr>
        <p:spPr>
          <a:xfrm>
            <a:off x="2958660" y="194295"/>
            <a:ext cx="1301320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3F3F3F"/>
                </a:solidFill>
                <a:latin typeface="Sarabun Bold"/>
                <a:ea typeface="Sarabun Bold"/>
                <a:cs typeface="Sarabun Bold"/>
                <a:sym typeface="Sarabun Bold"/>
              </a:rPr>
              <a:t>ĐÁNH GIÁ KẾT QUẢ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9D6023C-0F9A-AB51-1B78-E58D3B290CA1}"/>
              </a:ext>
            </a:extLst>
          </p:cNvPr>
          <p:cNvGrpSpPr/>
          <p:nvPr/>
        </p:nvGrpSpPr>
        <p:grpSpPr>
          <a:xfrm>
            <a:off x="3051520" y="1080183"/>
            <a:ext cx="1623526" cy="68578"/>
            <a:chOff x="0" y="0"/>
            <a:chExt cx="2164702" cy="91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3631782-74F6-BDDB-C77A-B230F63F1EC6}"/>
                </a:ext>
              </a:extLst>
            </p:cNvPr>
            <p:cNvSpPr/>
            <p:nvPr/>
          </p:nvSpPr>
          <p:spPr>
            <a:xfrm>
              <a:off x="0" y="0"/>
              <a:ext cx="2164715" cy="91440"/>
            </a:xfrm>
            <a:custGeom>
              <a:avLst/>
              <a:gdLst/>
              <a:ahLst/>
              <a:cxnLst/>
              <a:rect l="l" t="t" r="r" b="b"/>
              <a:pathLst>
                <a:path w="2164715" h="91440">
                  <a:moveTo>
                    <a:pt x="0" y="0"/>
                  </a:moveTo>
                  <a:lnTo>
                    <a:pt x="2164715" y="0"/>
                  </a:lnTo>
                  <a:lnTo>
                    <a:pt x="2164715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696431E3-260F-97BA-68D8-947030B4D5E7}"/>
              </a:ext>
            </a:extLst>
          </p:cNvPr>
          <p:cNvGrpSpPr/>
          <p:nvPr/>
        </p:nvGrpSpPr>
        <p:grpSpPr>
          <a:xfrm rot="-5423405">
            <a:off x="1334539" y="-336141"/>
            <a:ext cx="680669" cy="1871190"/>
            <a:chOff x="0" y="0"/>
            <a:chExt cx="907558" cy="2494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9906D1-4C09-1A8D-3D8C-CD3D1483057F}"/>
                </a:ext>
              </a:extLst>
            </p:cNvPr>
            <p:cNvSpPr/>
            <p:nvPr/>
          </p:nvSpPr>
          <p:spPr>
            <a:xfrm>
              <a:off x="0" y="0"/>
              <a:ext cx="907542" cy="2494915"/>
            </a:xfrm>
            <a:custGeom>
              <a:avLst/>
              <a:gdLst/>
              <a:ahLst/>
              <a:cxnLst/>
              <a:rect l="l" t="t" r="r" b="b"/>
              <a:pathLst>
                <a:path w="907542" h="2494915">
                  <a:moveTo>
                    <a:pt x="0" y="0"/>
                  </a:moveTo>
                  <a:lnTo>
                    <a:pt x="907542" y="0"/>
                  </a:lnTo>
                  <a:lnTo>
                    <a:pt x="907542" y="2494915"/>
                  </a:lnTo>
                  <a:lnTo>
                    <a:pt x="0" y="2494915"/>
                  </a:lnTo>
                </a:path>
              </a:pathLst>
            </a:custGeom>
            <a:gradFill rotWithShape="1">
              <a:gsLst>
                <a:gs pos="0">
                  <a:srgbClr val="E63946">
                    <a:alpha val="49803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16223405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20D68ED-2842-F0FE-B4DD-CA209E2A3EF0}"/>
              </a:ext>
            </a:extLst>
          </p:cNvPr>
          <p:cNvGrpSpPr/>
          <p:nvPr/>
        </p:nvGrpSpPr>
        <p:grpSpPr>
          <a:xfrm rot="-23405">
            <a:off x="571804" y="433637"/>
            <a:ext cx="1867610" cy="1009117"/>
            <a:chOff x="0" y="0"/>
            <a:chExt cx="2490146" cy="134548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07A70BD-B810-0D56-BADC-722E8A5EA29F}"/>
                </a:ext>
              </a:extLst>
            </p:cNvPr>
            <p:cNvSpPr/>
            <p:nvPr/>
          </p:nvSpPr>
          <p:spPr>
            <a:xfrm>
              <a:off x="0" y="0"/>
              <a:ext cx="2490089" cy="1345484"/>
            </a:xfrm>
            <a:custGeom>
              <a:avLst/>
              <a:gdLst/>
              <a:ahLst/>
              <a:cxnLst/>
              <a:rect l="l" t="t" r="r" b="b"/>
              <a:pathLst>
                <a:path w="2490089" h="1345484">
                  <a:moveTo>
                    <a:pt x="0" y="0"/>
                  </a:moveTo>
                  <a:lnTo>
                    <a:pt x="2490089" y="0"/>
                  </a:lnTo>
                  <a:lnTo>
                    <a:pt x="2490089" y="1345484"/>
                  </a:lnTo>
                  <a:lnTo>
                    <a:pt x="0" y="1345484"/>
                  </a:lnTo>
                </a:path>
              </a:pathLst>
            </a:custGeom>
            <a:gradFill rotWithShape="1">
              <a:gsLst>
                <a:gs pos="0">
                  <a:srgbClr val="E83846">
                    <a:alpha val="100000"/>
                  </a:srgbClr>
                </a:gs>
                <a:gs pos="100000">
                  <a:srgbClr val="EE0033">
                    <a:alpha val="100000"/>
                  </a:srgbClr>
                </a:gs>
              </a:gsLst>
              <a:lin ang="10823405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6E30381-1BC1-3F2B-C1B0-54D0285C50AC}"/>
                </a:ext>
              </a:extLst>
            </p:cNvPr>
            <p:cNvSpPr txBox="1"/>
            <p:nvPr/>
          </p:nvSpPr>
          <p:spPr>
            <a:xfrm>
              <a:off x="0" y="0"/>
              <a:ext cx="2490146" cy="1345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Sarabun Bold"/>
                  <a:ea typeface="Sarabun Bold"/>
                  <a:cs typeface="Sarabun Bold"/>
                  <a:sym typeface="Sarabun Bold"/>
                </a:rPr>
                <a:t>4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B90CAD1-4AA1-DD4E-D0C0-C3A8310EC22D}"/>
              </a:ext>
            </a:extLst>
          </p:cNvPr>
          <p:cNvSpPr txBox="1"/>
          <p:nvPr/>
        </p:nvSpPr>
        <p:spPr>
          <a:xfrm>
            <a:off x="-27039" y="2455584"/>
            <a:ext cx="18135600" cy="4671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2678" lvl="1" indent="-457200" algn="l">
              <a:lnSpc>
                <a:spcPts val="5285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Nhìn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đầu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cuối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triển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mattermost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đảm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bảo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đúng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tốc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ổn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Tuy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nhiên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thêm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</a:p>
          <a:p>
            <a:pPr marL="475478" lvl="1" algn="l">
              <a:lnSpc>
                <a:spcPts val="5285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phía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server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mọi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tránh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xét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marL="475478" lvl="1" algn="l">
              <a:lnSpc>
                <a:spcPts val="5285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 Lưu tin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nhắn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indexedDB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dưới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dụng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thuật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toán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hóa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rồi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đánh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tìm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kiếm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marL="932678" lvl="1" indent="-457200" algn="l">
              <a:lnSpc>
                <a:spcPts val="5285"/>
              </a:lnSpc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048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06800" y="7620000"/>
            <a:ext cx="3962550" cy="3962550"/>
            <a:chOff x="0" y="0"/>
            <a:chExt cx="5283400" cy="5283400"/>
          </a:xfrm>
        </p:grpSpPr>
        <p:sp>
          <p:nvSpPr>
            <p:cNvPr id="3" name="Freeform 3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81200" y="7620000"/>
            <a:ext cx="3962550" cy="3962550"/>
            <a:chOff x="0" y="0"/>
            <a:chExt cx="5283400" cy="5283400"/>
          </a:xfrm>
        </p:grpSpPr>
        <p:sp>
          <p:nvSpPr>
            <p:cNvPr id="5" name="Freeform 5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F77F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62800" y="-1365570"/>
            <a:ext cx="3962550" cy="3962550"/>
            <a:chOff x="0" y="0"/>
            <a:chExt cx="5283400" cy="5283400"/>
          </a:xfrm>
        </p:grpSpPr>
        <p:sp>
          <p:nvSpPr>
            <p:cNvPr id="7" name="Freeform 7"/>
            <p:cNvSpPr/>
            <p:nvPr/>
          </p:nvSpPr>
          <p:spPr>
            <a:xfrm>
              <a:off x="-2413" y="-2413"/>
              <a:ext cx="5288280" cy="5288280"/>
            </a:xfrm>
            <a:custGeom>
              <a:avLst/>
              <a:gdLst/>
              <a:ahLst/>
              <a:cxnLst/>
              <a:rect l="l" t="t" r="r" b="b"/>
              <a:pathLst>
                <a:path w="5288280" h="5288280">
                  <a:moveTo>
                    <a:pt x="9906" y="2626106"/>
                  </a:moveTo>
                  <a:lnTo>
                    <a:pt x="2626106" y="9906"/>
                  </a:lnTo>
                  <a:cubicBezTo>
                    <a:pt x="2636012" y="0"/>
                    <a:pt x="2652141" y="0"/>
                    <a:pt x="2662047" y="9906"/>
                  </a:cubicBezTo>
                  <a:lnTo>
                    <a:pt x="5278374" y="2626106"/>
                  </a:lnTo>
                  <a:cubicBezTo>
                    <a:pt x="5288280" y="2636012"/>
                    <a:pt x="5288280" y="2652141"/>
                    <a:pt x="5278374" y="2662047"/>
                  </a:cubicBezTo>
                  <a:lnTo>
                    <a:pt x="2662047" y="5278374"/>
                  </a:lnTo>
                  <a:cubicBezTo>
                    <a:pt x="2652141" y="5288280"/>
                    <a:pt x="2636012" y="5288280"/>
                    <a:pt x="2626106" y="5278374"/>
                  </a:cubicBezTo>
                  <a:lnTo>
                    <a:pt x="9906" y="2662047"/>
                  </a:lnTo>
                  <a:cubicBezTo>
                    <a:pt x="0" y="2652141"/>
                    <a:pt x="0" y="2636012"/>
                    <a:pt x="9906" y="2626106"/>
                  </a:cubicBezTo>
                  <a:moveTo>
                    <a:pt x="45847" y="2662047"/>
                  </a:moveTo>
                  <a:lnTo>
                    <a:pt x="27813" y="2644140"/>
                  </a:lnTo>
                  <a:lnTo>
                    <a:pt x="45720" y="2626233"/>
                  </a:lnTo>
                  <a:lnTo>
                    <a:pt x="2662047" y="5242433"/>
                  </a:lnTo>
                  <a:lnTo>
                    <a:pt x="2644140" y="5260340"/>
                  </a:lnTo>
                  <a:lnTo>
                    <a:pt x="2626233" y="5242433"/>
                  </a:lnTo>
                  <a:lnTo>
                    <a:pt x="5242433" y="2626106"/>
                  </a:lnTo>
                  <a:lnTo>
                    <a:pt x="5260340" y="2644013"/>
                  </a:lnTo>
                  <a:lnTo>
                    <a:pt x="5242433" y="2661920"/>
                  </a:lnTo>
                  <a:lnTo>
                    <a:pt x="2626106" y="45720"/>
                  </a:lnTo>
                  <a:lnTo>
                    <a:pt x="2644140" y="27813"/>
                  </a:lnTo>
                  <a:lnTo>
                    <a:pt x="2662047" y="45720"/>
                  </a:lnTo>
                  <a:lnTo>
                    <a:pt x="45720" y="2662047"/>
                  </a:lnTo>
                  <a:close/>
                </a:path>
              </a:pathLst>
            </a:custGeom>
            <a:solidFill>
              <a:srgbClr val="6AC0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3083655" y="2501730"/>
            <a:ext cx="6060420" cy="5655420"/>
            <a:chOff x="0" y="0"/>
            <a:chExt cx="8080560" cy="7540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80502" cy="7540498"/>
            </a:xfrm>
            <a:custGeom>
              <a:avLst/>
              <a:gdLst/>
              <a:ahLst/>
              <a:cxnLst/>
              <a:rect l="l" t="t" r="r" b="b"/>
              <a:pathLst>
                <a:path w="8080502" h="7540498">
                  <a:moveTo>
                    <a:pt x="0" y="0"/>
                  </a:moveTo>
                  <a:lnTo>
                    <a:pt x="8080502" y="0"/>
                  </a:lnTo>
                  <a:lnTo>
                    <a:pt x="8080502" y="7540498"/>
                  </a:lnTo>
                  <a:lnTo>
                    <a:pt x="0" y="7540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7" b="-10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034415" y="3839145"/>
            <a:ext cx="4243140" cy="1348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spc="-1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TỔNG CÔNG TY MẠNG LƯỚI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34075" y="5068737"/>
            <a:ext cx="5880420" cy="70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spc="-1">
                <a:solidFill>
                  <a:srgbClr val="EE0033"/>
                </a:solidFill>
                <a:latin typeface="Sarabun"/>
                <a:ea typeface="Sarabun"/>
                <a:cs typeface="Sarabun"/>
                <a:sym typeface="Sarabun"/>
              </a:rPr>
              <a:t>TRÂN TRỌNG CẢM ƠN!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1915</Words>
  <Application>Microsoft Office PowerPoint</Application>
  <PresentationFormat>Custom</PresentationFormat>
  <Paragraphs>197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Sarabun Thin</vt:lpstr>
      <vt:lpstr>Times New Roman</vt:lpstr>
      <vt:lpstr>Calibri</vt:lpstr>
      <vt:lpstr>Sarabun</vt:lpstr>
      <vt:lpstr>Arial</vt:lpstr>
      <vt:lpstr>Sarabun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đề tài.pptx</dc:title>
  <cp:lastModifiedBy>Chu Tuan Nghia 20225056</cp:lastModifiedBy>
  <cp:revision>15</cp:revision>
  <dcterms:created xsi:type="dcterms:W3CDTF">2006-08-16T00:00:00Z</dcterms:created>
  <dcterms:modified xsi:type="dcterms:W3CDTF">2025-09-30T19:08:52Z</dcterms:modified>
  <dc:identifier>DAGwCRMnVjQ</dc:identifier>
</cp:coreProperties>
</file>