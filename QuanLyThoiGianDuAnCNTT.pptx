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Tự soạn (slide bìa).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(Project time plan / Schedule planning pipeline).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(Time plan / Integration with overall plan).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(Define Activities; link WBS → activities; outputs incl. activity list/attributes/milestones).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(Sequence Activities: inputs/tools/outputs).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(PDM and dependency types FS/FF/SS/SF).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(Dependency determination: mandatory, discretionary/lead-lag, external).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(Critical path definition; ES/EF/LS/LF; float=0; critical path may shift).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(Critical path calculation using ES/EF/LS/LF/Float).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(Critical chain; use of project buffer and task/feeding buffers).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(Estimation flow: workload → productivity → hours → time; time = hours /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(Productivity definition; recommendation to use historical data for estimation).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(Estimation framework stages and accuracy ranges).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(Outputs across Define/Sequence/Develop schedule; master schedule).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slides: PM.Part03.Planning (Time planning pipeline; critical path/critical chain; estimation concepts).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2024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THỜI GIAN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ÁN CNTT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môn Quản trị dự án CNTT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Nhóm: …  |  Lớp: …  |  GV: …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phạm vi báo cáo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trung: lập kế hoạch thời gian (schedule planning)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869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5394960" cy="104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bày quy trình lập kế hoạch thời gian dự án CNTT.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thích các kỹ thuật nền tảng: phụ thuộc, đường găng, chuỗi găng, ước lượng.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bộ tài liệu (artifacts) cần có để triển khai và theo dõi tiến độ.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886968"/>
            <a:ext cx="5242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(pipeline)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435608"/>
            <a:ext cx="1005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44184" y="1508760"/>
            <a:ext cx="89611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95160" y="1728216"/>
            <a:ext cx="164592" cy="27432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9752" y="1435608"/>
            <a:ext cx="1005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14616" y="1508760"/>
            <a:ext cx="89611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65592" y="1728216"/>
            <a:ext cx="164592" cy="27432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435608"/>
            <a:ext cx="1005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5048" y="1508760"/>
            <a:ext cx="89611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36024" y="1728216"/>
            <a:ext cx="164592" cy="27432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0616" y="1435608"/>
            <a:ext cx="1005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55480" y="1508760"/>
            <a:ext cx="89611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06456" y="1728216"/>
            <a:ext cx="164592" cy="27432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71048" y="1435608"/>
            <a:ext cx="10058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25912" y="1508760"/>
            <a:ext cx="89611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87368"/>
            <a:ext cx="11094415" cy="10972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251960"/>
            <a:ext cx="10637215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tắc: lập lịch dựa trên WBS/Activities, mô hình phụ thuộc, và ước lượng có cơ sở (dữ liệu/kinh nghiệm).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 Plan / Schedule là gì?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trong Project Management Plan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94415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34440"/>
            <a:ext cx="10637215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 Plan (Schedule) mô tả cách dự án được triển khai theo thời gian: hoạt động nào làm trước/sau, mất bao lâu, dùng nguồn lực nào, và các mốc (milestones) cần đạt.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quan trọng?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6400800" cy="104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cơ sở để theo dõi tiến độ, phát hiện trễ và điều chỉnh kịp thời.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Giúp phối hợp liên nhóm (dev/test/ops) thông qua mốc và phụ thuộc rõ ràng.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trực tiếp tới phạm vi (WBS) và nguồn lực để đảm bảo tính khả thi.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2715768"/>
            <a:ext cx="4236415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898648"/>
            <a:ext cx="3916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 mong đợi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3218688"/>
            <a:ext cx="3916375" cy="1104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hoạt động &amp; milestones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phụ thuộc (network/PDM)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schedule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 cập nhật &amp; kiểm soát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— Define Activities (Xác định hoạt động)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WBS chuyển thành danh sách công việc có thể thực thi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784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chính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44168"/>
            <a:ext cx="5669280" cy="104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từ WBS (phạm vi đã phân rã) để xác định các hoạt động cần làm.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phải đủ nhỏ để ước lượng (thời lượng/nguồn lực) và theo dõi.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“đối chiếu ngược” với WBS để tránh bỏ sót hoặc phát sinh ngoài phạm vi.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069848"/>
            <a:ext cx="50593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1252728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hoạ: WBS →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755648"/>
            <a:ext cx="219456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8196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(Deliverables)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81160" y="1911096"/>
            <a:ext cx="502920" cy="22860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21240" y="1755648"/>
            <a:ext cx="1401775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04120" y="1938528"/>
            <a:ext cx="1036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(ví dụ)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04120" y="2212848"/>
            <a:ext cx="10360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Phân tích yêu cầu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Thiết kế UI/API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Lập trình module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Kiểm thử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Triển khai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641848"/>
            <a:ext cx="11094415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806440"/>
            <a:ext cx="10637215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ra: Activity list + Activity attributes + Milestones (nếu có).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 — Sequence Activities (Sắp xếp tuần tự)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quan hệ phụ thuộc và xây dựng sơ đồ 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784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40080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tài liệu quan hệ giữa các hoạt động để tạo “network logic” cho schedule.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lead/lag và phụ thuộc bên ngoài nếu có.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3698138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68296"/>
            <a:ext cx="369813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46778" y="2258568"/>
            <a:ext cx="3698138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46778" y="2368296"/>
            <a:ext cx="369813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Tools/Techniques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44917" y="2258568"/>
            <a:ext cx="3698138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4917" y="2368296"/>
            <a:ext cx="369813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36981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6778" y="2761488"/>
            <a:ext cx="36981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44917" y="2761488"/>
            <a:ext cx="36981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44368"/>
            <a:ext cx="333237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Activity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Activity attributes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Milestone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 statement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 process assets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9658" y="2944368"/>
            <a:ext cx="333237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Precedence diagramming (PDM)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Dependency determination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Applying leads &amp; lags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network templates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797" y="2944368"/>
            <a:ext cx="333237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network diagram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document updates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458968"/>
            <a:ext cx="11094415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5623560"/>
            <a:ext cx="10637215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quan trọng: “network logic” rõ ràng để bước Develop Schedule có thể tính đường găng và tối ưu lịch.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PDM — 4 kiểu phụ thuộc giữa hoạt động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Finish-to-Start (FS), Finish-to-Finish (FF), Start-to-Start (SS), Start-to-Finish (SF)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14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27048"/>
            <a:ext cx="6858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91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40155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Finish-to-Start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84248"/>
            <a:ext cx="4015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chỉ bắt đầu khi A kết thúc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310128"/>
            <a:ext cx="47013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70048"/>
            <a:ext cx="2585763" cy="25603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4443" y="3099816"/>
            <a:ext cx="2115624" cy="25603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986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1588" y="1207008"/>
            <a:ext cx="53414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75908" y="1527048"/>
            <a:ext cx="68580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5908" y="1591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53148" y="1554480"/>
            <a:ext cx="40155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Finish-to-Finish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53148" y="1984248"/>
            <a:ext cx="4015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chỉ kết thúc khi A kết thúc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1628" y="3310128"/>
            <a:ext cx="47013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1628" y="2670048"/>
            <a:ext cx="2585763" cy="25603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1628" y="24597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26836" y="3099816"/>
            <a:ext cx="2115624" cy="25603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1628" y="28986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53414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361688"/>
            <a:ext cx="68580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2569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4389120"/>
            <a:ext cx="40155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Start-to-Start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4818888"/>
            <a:ext cx="4015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chỉ bắt đầu khi A bắt đầu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6144768"/>
            <a:ext cx="47013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504688"/>
            <a:ext cx="2585763" cy="25603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943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" y="5934456"/>
            <a:ext cx="2115624" cy="25603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7332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1588" y="4041648"/>
            <a:ext cx="53414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75908" y="4361688"/>
            <a:ext cx="68580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5908" y="442569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53148" y="4389120"/>
            <a:ext cx="40155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Start-to-Finish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53148" y="4818888"/>
            <a:ext cx="4015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chỉ kết thúc khi A bắt đầu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21628" y="6144768"/>
            <a:ext cx="47013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1628" y="5504688"/>
            <a:ext cx="2585763" cy="25603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1628" y="52943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96975" y="5934456"/>
            <a:ext cx="2115624" cy="25603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1628" y="57332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phụ thuộc &amp; Lead/Lag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· Discretionary (lead/lag) · External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1109441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52728"/>
            <a:ext cx="201168" cy="1508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3560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(bắt buộc)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do bản chất công việc/quy trình kỹ thuật.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Build xong mới có thể Deploy.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109441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127248"/>
            <a:ext cx="201168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1012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Discretionary (lỏng lẻo)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theo lựa chọn quản lý; có thể áp dụng lead/lag để chồng lấp.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Test bắt đầu sau khi Dev hoàn thành 30% (lead).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01768"/>
            <a:ext cx="1109441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001768"/>
            <a:ext cx="201168" cy="1508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8464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(bên ngoài)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5321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vào nhà cung cấp/khách hàng/hệ thống khác.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9436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Chờ API đối tác mở sandbox.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Schedule — Critical Path (Đường găng)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chuỗi hoạt động quyết định thời gian dự án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5074920" cy="104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ES/EF (forward pass) và LS/LF (backward pass) dựa trên thời lượng.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găng là đường có tổng thời lượng lớn nhất xuyên suốt dự án.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(độ dự trữ) của hoạt động trên đường găng bằng 0; cần giám sát vì đường găng có thể thay đổi.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15000" y="1527048"/>
            <a:ext cx="914400" cy="5486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5000" y="16642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60920" y="1161288"/>
            <a:ext cx="914400" cy="5486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60920" y="12984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2395728"/>
            <a:ext cx="914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60920" y="2532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006840" y="1527048"/>
            <a:ext cx="914400" cy="5486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06840" y="16642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52760" y="1527048"/>
            <a:ext cx="914400" cy="5486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52760" y="16642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1801368"/>
            <a:ext cx="731520" cy="-36576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1801368"/>
            <a:ext cx="731520" cy="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75320" y="1435608"/>
            <a:ext cx="731520" cy="36576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75320" y="2670048"/>
            <a:ext cx="731520" cy="-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21240" y="1801368"/>
            <a:ext cx="73152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715000" y="3904488"/>
            <a:ext cx="59280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găng (ví dụ): A → B → D → 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58968"/>
            <a:ext cx="11094415" cy="868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623560"/>
            <a:ext cx="10637215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tốt: luôn theo dõi các hoạt động đường găng; bất kỳ trễ nào ở đây thường kéo theo trễ toàn dự án.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hoạ: Bảng ES/EF/LS/LF/Float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để xác định đường găng và độ dự trữ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mẫu (minh hoạ)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9144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1572768"/>
            <a:ext cx="9144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1572768"/>
            <a:ext cx="9144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9144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572768"/>
            <a:ext cx="9144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1572768"/>
            <a:ext cx="9144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572768"/>
            <a:ext cx="100584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572768"/>
            <a:ext cx="4602175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664208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chú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1984248"/>
            <a:ext cx="9144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63040" y="19842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77440" y="19842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19842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06240" y="19842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19842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1984248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0" y="1984248"/>
            <a:ext cx="460217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10312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2441448"/>
            <a:ext cx="9144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24414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377440" y="24414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91840" y="24414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06240" y="24414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120640" y="24414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035040" y="2441448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40880" y="2441448"/>
            <a:ext cx="460217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256032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28986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463040" y="28986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0876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377440" y="28986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2316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91840" y="28986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206240" y="28986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5196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120640" y="28986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035040" y="2898648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8076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040880" y="2898648"/>
            <a:ext cx="460217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301752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Non-critical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3355848"/>
            <a:ext cx="9144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463040" y="33558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087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377440" y="33558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231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291840" y="33558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375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206240" y="33558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519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5120640" y="33558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663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035040" y="3355848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8076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040880" y="3355848"/>
            <a:ext cx="460217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86600" y="347472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48640" y="3813048"/>
            <a:ext cx="9144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436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463040" y="38130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50876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2377440" y="38130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2316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291840" y="38130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3756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206240" y="38130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5196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5120640" y="381304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6636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6035040" y="3813048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08076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040880" y="3813048"/>
            <a:ext cx="460217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086600" y="393192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48640" y="4773168"/>
            <a:ext cx="11094415" cy="9601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77240" y="4937760"/>
            <a:ext cx="10637215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trình bày khi báo cáo: (1) mô tả cách tính forward/backward pass, (2) chỉ ra float, (3) kết luận đường găng.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Chain (Chuỗi găng) &amp; Buffer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duy quản lý rủi ro tiến độ bằng “đệm”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5943600" cy="104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Chain bổ sung yếu tố ràng buộc nguồn lực (khác với chỉ phụ thuộc logic).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buffer: buffer cho nhiệm vụ (feeding buffer) và buffer toàn dự án (project buffer).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tiêu: hấp thụ biến động, giảm xác suất trễ do ước lượng lạc quan.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664208"/>
            <a:ext cx="5059375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12280" y="1847088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hoạ buffer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12280" y="2258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Chuỗi găng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12280" y="2578608"/>
            <a:ext cx="3136813" cy="32004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533" y="2258568"/>
            <a:ext cx="7686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buffer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949093" y="2578608"/>
            <a:ext cx="860094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3355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Chuỗi phụ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3675888"/>
            <a:ext cx="1725247" cy="3200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28967" y="3355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buffer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37527" y="3675888"/>
            <a:ext cx="607125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2576" y="3995928"/>
            <a:ext cx="256032" cy="502920"/>
          </a:xfrm>
          <a:prstGeom prst="up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779008"/>
            <a:ext cx="11094415" cy="7315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943600"/>
            <a:ext cx="10637215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điệp: không “độn” từng task một cách tuỳ tiện; gom rủi ro vào buffer để kiểm soát và ra quyết định dựa trên mức tiêu thụ buffer.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lượng phục vụ lập lịch: luồng cơ bản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lượng → Năng suất → Giờ làm → Thời gian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5806440" cy="104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lượng thời lượng phụ thuộc trực tiếp vào khối lượng công việc và năng suất.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có số nhân sự tham gia, thời gian thực hiện thay đổi theo tổng giờ làm / số người.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tách “effort” (giờ công) và “duration” (thời lượng lịch) để tránh nhầm lẫn.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29400" y="2395728"/>
            <a:ext cx="810707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47688" y="2532888"/>
            <a:ext cx="7741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phạm vi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40107" y="2761488"/>
            <a:ext cx="137160" cy="2286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31547" y="2395728"/>
            <a:ext cx="810707" cy="9601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9835" y="2532888"/>
            <a:ext cx="7741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lượng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(Workload)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42254" y="2761488"/>
            <a:ext cx="137160" cy="2286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3694" y="2395728"/>
            <a:ext cx="810707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1982" y="2532888"/>
            <a:ext cx="7741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Năng suất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(Productivity)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44401" y="2761488"/>
            <a:ext cx="137160" cy="2286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35841" y="2395728"/>
            <a:ext cx="810707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54129" y="2532888"/>
            <a:ext cx="7741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Giờ làm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(Effort)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146548" y="2761488"/>
            <a:ext cx="137160" cy="2286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37988" y="2395728"/>
            <a:ext cx="810707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56276" y="2532888"/>
            <a:ext cx="7741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(Duration)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458968"/>
            <a:ext cx="11094415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623560"/>
            <a:ext cx="10637215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tốt: chuẩn hoá cách đo khối lượng (user story points, function points, tickets, …) và đo năng suất theo cùng đơn vị.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lượng năng suất: dựa trên dữ liệu quá khứ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độ tin cậy của ước lượng và giảm sai số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94415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34440"/>
            <a:ext cx="10637215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Năng suất (productivity) là lượng việc hoàn thành trên một đơn vị thời gian. Để ước lượng tốt, nên dùng dữ liệu lịch sử của team/dự án tương tự.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triển khai trong dự án CNTT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6400800" cy="1250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dữ liệu: số lượng hạng mục hoàn thành / sprint hoặc / tuần.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theo loại công việc (dev/test/bugfix) để tránh “trộn” năng suất.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năng suất theo thời gian (đội ngũ thay đổi, công nghệ thay đổi).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dải ước lượng thay vì một con số duy nhất khi độ bất định cao.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807208"/>
            <a:ext cx="43278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2990088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tin cậy ước lượng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43800" y="3584448"/>
            <a:ext cx="387065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3584448"/>
            <a:ext cx="2515926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4041648"/>
            <a:ext cx="3870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khi có dữ liệu lịch sử + chuẩn hoá cách đo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Framework theo giai đoạn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Order-of-magnitude · Preliminary · Definitive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94415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34440"/>
            <a:ext cx="10637215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của ước lượng phụ thuộc vào mức độ rõ ràng của yêu cầu và thông tin sẵn có tại từng giai đoạn dự án.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2926080" cy="457200"/>
          </a:xfrm>
          <a:prstGeom prst="rect">
            <a:avLst/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ước lượng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258568"/>
            <a:ext cx="3840480" cy="457200"/>
          </a:xfrm>
          <a:prstGeom prst="rect">
            <a:avLst/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điểm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2258568"/>
            <a:ext cx="4327855" cy="457200"/>
          </a:xfrm>
          <a:prstGeom prst="rect">
            <a:avLst/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395728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(tham khảo)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2926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Order-of-magnitude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2715768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rất sớm / ý tưởng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2715768"/>
            <a:ext cx="43278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880360"/>
            <a:ext cx="4053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lớn (dùng để quyết định go/no-go)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01568"/>
            <a:ext cx="29260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3401568"/>
            <a:ext cx="38404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566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có yêu cầu sơ bộ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3401568"/>
            <a:ext cx="432785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566160"/>
            <a:ext cx="4053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trung bình (dùng để lập kế hoạch cấp cao)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2926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51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4087368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251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phân tích chi tiết/thiết kế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4087368"/>
            <a:ext cx="43278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4251960"/>
            <a:ext cx="4053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thấp hơn (dùng để commit lịch)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10328"/>
            <a:ext cx="11094415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074920"/>
            <a:ext cx="10637215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dùng trong báo cáo: nêu rõ dự án đang ở giai đoạn nào và chọn mức ước lượng phù hợp.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tài liệu (Artifacts) của quản trị thời gian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“đầu ra” cần có để triển khai và kiểm soát tiến độ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186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07008"/>
            <a:ext cx="5318608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Danh sách hoạt động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4678528" cy="988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list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attributes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list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207008"/>
            <a:ext cx="53186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4448" y="1207008"/>
            <a:ext cx="5318608" cy="16459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68" y="1527048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Sơ đồ phụ thuộc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4488" y="2029968"/>
            <a:ext cx="4678528" cy="798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network diagram (PDM)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Leads/Lags &amp; external deps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53186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33088"/>
            <a:ext cx="5318608" cy="16459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53128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Bảng tính đường găng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956048"/>
            <a:ext cx="4678528" cy="798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ES/EF/LS/LF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&amp; critical path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4448" y="4133088"/>
            <a:ext cx="53186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4448" y="4133088"/>
            <a:ext cx="531860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8768" y="4453128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Master schedule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4488" y="4956048"/>
            <a:ext cx="4678528" cy="798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tổng thể (mốc + timeline)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cập nhật &amp; kiểm soát thay đổi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4415" cy="2743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thông điệp chính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0116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thời gian hiệu quả = quy trình + dữ liệu + kỷ luật theo dõi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7315200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hoá pipeline: Activities → Network → Estimation → Schedule.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 đường găng (critical path) và quản lý biến động bằng buffer (critical chain).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lượng theo giai đoạn; cải thiện bằng dữ liệu năng suất lịch sử.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trì kỷ luật cập nhật lịch và kiểm soát thay đổi để tránh “trễ âm thầm”.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458968"/>
            <a:ext cx="11094415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5623560"/>
            <a:ext cx="10637215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khi thuyết trình: chọn 1 ví dụ dự án CNTT (web/app) và “chạy” qua pipeline để minh hoạ việc lập lịch từ WBS đến đường găng.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dự án CNTT · Chủ đề: Quản lý thời gian dự án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611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2025-12-16T15:14:28Z</dcterms:created>
  <dcterms:modified xsi:type="dcterms:W3CDTF">2025-12-16T15:14:28Z</dcterms:modified>
</cp:coreProperties>
</file>